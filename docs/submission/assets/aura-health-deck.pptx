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Ready for the appointment — 2:35–3:05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What the clinician sees — the agent at work — 3:05–4:10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Something changes — 4:10–4:50</a:t>
            </a:r>
          </a:p>
          <a:p/>
          <a:p>
            <a:r>
              <a:t>[Screen: guided story step 9 → simulated flu → the patient home with the new summary and a small idea for today.]</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finish card → Show the safety example → the note box opens with A worrying message (masked on screen) → Send to AURA → safety panel → the card explains, with Reset the demo.]</a:t>
            </a:r>
          </a:p>
          <a:p/>
          <a:p>
            <a:r>
              <a:t>"Anything a patient types is safety-checked first. If there's a concern, fixed safety resources take over the screen and the AI steps back. Those messages are never AI-written, and the patient can't dismiss them. The clinician sees the same safety state when they open the record. This prototype doesn't send alerts: who is told, and how fast, is for the care team to decide.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a:p>
            <a:r>
              <a:t>Architecture audit 2026-10-14: implementation 90e31ea. See docs/submission/ARCHITECTURE_REVIEW.md. The 90-s budget is checked between calls; resource rendering has no model, but patient-input assessment may use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p:cNvSpPr txBox="1"/>
          <p:nvPr/>
        </p:nvSpPr>
        <p:spPr>
          <a:xfrm>
            <a:off x="939800" y="4225230"/>
            <a:ext cx="1332992"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826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3 statements; all 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4406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4406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163312" cy="85338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 They are never AI-written.</a:t>
            </a:r>
          </a:p>
        </p:txBody>
      </p:sp>
      <p:sp>
        <p:nvSpPr>
          <p:cNvPr id="7" name="Text: The patient can't dismiss them. The clin"/>
          <p:cNvSpPr txBox="1"/>
          <p:nvPr/>
        </p:nvSpPr>
        <p:spPr>
          <a:xfrm>
            <a:off x="876300" y="3530500"/>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The patient can't dismiss them. The clinician sees the same safety state when they open the record.</a:t>
            </a:r>
          </a:p>
        </p:txBody>
      </p:sp>
      <p:sp>
        <p:nvSpPr>
          <p:cNvPr id="8" name="Text: No alerts are sent in this prototype: wh"/>
          <p:cNvSpPr txBox="1"/>
          <p:nvPr/>
        </p:nvSpPr>
        <p:spPr>
          <a:xfrm>
            <a:off x="876300" y="426452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No alerts are sent in this prototype: who is told, and how fast, is for the care team to decide.</a:t>
            </a:r>
          </a:p>
        </p:txBody>
      </p:sp>
      <p:sp>
        <p:nvSpPr>
          <p:cNvPr id="9" name="Text: Asking to double a dose goes to safety, "/>
          <p:cNvSpPr txBox="1"/>
          <p:nvPr/>
        </p:nvSpPr>
        <p:spPr>
          <a:xfrm>
            <a:off x="876300" y="499854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10" name="Text: The example, masked"/>
          <p:cNvSpPr txBox="1"/>
          <p:nvPr/>
        </p:nvSpPr>
        <p:spPr>
          <a:xfrm>
            <a:off x="6343650" y="5392539"/>
            <a:ext cx="1834896" cy="248920"/>
          </a:xfrm>
          <a:prstGeom prst="rect">
            <a:avLst/>
          </a:prstGeom>
          <a:noFill/>
        </p:spPr>
        <p:txBody>
          <a:bodyPr wrap="square" anchor="t" lIns="0" rIns="0" tIns="0" bIns="0"/>
          <a:lstStyle/>
          <a:p>
            <a:pPr algn="l">
              <a:lnSpc>
                <a:spcPts val="1960"/>
              </a:lnSpc>
            </a:pPr>
            <a:r>
              <a:rPr sz="1400" b="0">
                <a:solidFill>
                  <a:srgbClr val="4A413B"/>
                </a:solidFill>
                <a:latin typeface="Nunito"/>
              </a:rPr>
              <a:t>The example, masked</a:t>
            </a:r>
          </a:p>
        </p:txBody>
      </p:sp>
      <p:sp>
        <p:nvSpPr>
          <p:cNvPr id="11" name="Text: Safety takes over"/>
          <p:cNvSpPr txBox="1"/>
          <p:nvPr/>
        </p:nvSpPr>
        <p:spPr>
          <a:xfrm>
            <a:off x="8966200" y="5392539"/>
            <a:ext cx="1451864" cy="248920"/>
          </a:xfrm>
          <a:prstGeom prst="rect">
            <a:avLst/>
          </a:prstGeom>
          <a:noFill/>
        </p:spPr>
        <p:txBody>
          <a:bodyPr wrap="square" anchor="t" lIns="0" rIns="0" tIns="0" bIns="0"/>
          <a:lstStyle/>
          <a:p>
            <a:pPr algn="l">
              <a:lnSpc>
                <a:spcPts val="1960"/>
              </a:lnSpc>
            </a:pPr>
            <a:r>
              <a:rPr sz="1400" b="0">
                <a:solidFill>
                  <a:srgbClr val="4A413B"/>
                </a:solidFill>
                <a:latin typeface="Nunito"/>
              </a:rPr>
              <a:t>Safety takes over</a:t>
            </a:r>
          </a:p>
        </p:txBody>
      </p:sp>
      <p:sp>
        <p:nvSpPr>
          <p:cNvPr id="12"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3"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 Health · system architecture"/>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 Health · system architecture</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Web experience"/>
          <p:cNvSpPr/>
          <p:nvPr/>
        </p:nvSpPr>
        <p:spPr>
          <a:xfrm>
            <a:off x="508000" y="1206500"/>
            <a:ext cx="2286000" cy="3175000"/>
          </a:xfrm>
          <a:prstGeom prst="roundRect">
            <a:avLst>
              <a:gd name="adj" fmla="val 6111"/>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Web experience</a:t>
            </a:r>
          </a:p>
        </p:txBody>
      </p:sp>
      <p:sp>
        <p:nvSpPr>
          <p:cNvPr id="5" name="Box: Python app · owns the state"/>
          <p:cNvSpPr/>
          <p:nvPr/>
        </p:nvSpPr>
        <p:spPr>
          <a:xfrm>
            <a:off x="3302000" y="1206500"/>
            <a:ext cx="3810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Python app · owns the state</a:t>
            </a:r>
          </a:p>
        </p:txBody>
      </p:sp>
      <p:sp>
        <p:nvSpPr>
          <p:cNvPr id="6" name="Box: Bounded AI · read-only"/>
          <p:cNvSpPr/>
          <p:nvPr/>
        </p:nvSpPr>
        <p:spPr>
          <a:xfrm>
            <a:off x="7620000" y="1206500"/>
            <a:ext cx="4064000" cy="3175000"/>
          </a:xfrm>
          <a:prstGeom prst="roundRect">
            <a:avLst>
              <a:gd name="adj" fmla="val 4400"/>
            </a:avLst>
          </a:prstGeom>
          <a:solidFill>
            <a:srgbClr val="FFFFFF"/>
          </a:solidFill>
          <a:ln w="15875">
            <a:solidFill>
              <a:srgbClr val="CFC8BD"/>
            </a:solidFill>
            <a:prstDash val="lgDash"/>
          </a:ln>
        </p:spPr>
        <p:txBody>
          <a:bodyPr rtlCol="0" anchor="t" wrap="square" lIns="152400" rIns="152400" tIns="152400" bIns="152400"/>
          <a:lstStyle/>
          <a:p>
            <a:pPr algn="l">
              <a:spcAft>
                <a:spcPts val="630"/>
              </a:spcAft>
            </a:pPr>
            <a:r>
              <a:rPr sz="1400" b="1">
                <a:solidFill>
                  <a:srgbClr val="2A2320"/>
                </a:solidFill>
                <a:latin typeface="Nunito"/>
              </a:rPr>
              <a:t>Bounded AI · read-only</a:t>
            </a:r>
          </a:p>
        </p:txBody>
      </p:sp>
      <p:sp>
        <p:nvSpPr>
          <p:cNvPr id="7" name="Box: Patient companion"/>
          <p:cNvSpPr/>
          <p:nvPr/>
        </p:nvSpPr>
        <p:spPr>
          <a:xfrm>
            <a:off x="660400" y="1625600"/>
            <a:ext cx="198120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Patient companion</a:t>
            </a:r>
          </a:p>
          <a:p>
            <a:pPr algn="l">
              <a:spcAft>
                <a:spcPts val="250"/>
              </a:spcAft>
            </a:pPr>
            <a:r>
              <a:rPr sz="1000" b="0">
                <a:solidFill>
                  <a:srgbClr val="2A2320"/>
                </a:solidFill>
                <a:latin typeface="Nunito"/>
              </a:rPr>
              <a:t>Recap, dose + reasons</a:t>
            </a:r>
          </a:p>
          <a:p>
            <a:pPr algn="l">
              <a:spcAft>
                <a:spcPts val="250"/>
              </a:spcAft>
            </a:pPr>
            <a:r>
              <a:rPr sz="1000" b="0">
                <a:solidFill>
                  <a:srgbClr val="2A2320"/>
                </a:solidFill>
                <a:latin typeface="Nunito"/>
              </a:rPr>
              <a:t>Medication, dates</a:t>
            </a:r>
          </a:p>
          <a:p>
            <a:pPr algn="l">
              <a:spcAft>
                <a:spcPts val="250"/>
              </a:spcAft>
            </a:pPr>
            <a:r>
              <a:rPr sz="1000" b="0">
                <a:solidFill>
                  <a:srgbClr val="2A2320"/>
                </a:solidFill>
                <a:latin typeface="Nunito"/>
              </a:rPr>
              <a:t>Optional small ideas</a:t>
            </a:r>
          </a:p>
        </p:txBody>
      </p:sp>
      <p:sp>
        <p:nvSpPr>
          <p:cNvPr id="8" name="Box: Clinician view"/>
          <p:cNvSpPr/>
          <p:nvPr/>
        </p:nvSpPr>
        <p:spPr>
          <a:xfrm>
            <a:off x="660400" y="2997200"/>
            <a:ext cx="1981200" cy="952500"/>
          </a:xfrm>
          <a:prstGeom prst="roundRect">
            <a:avLst>
              <a:gd name="adj" fmla="val 14666"/>
            </a:avLst>
          </a:prstGeom>
          <a:solidFill>
            <a:srgbClr val="F3F0EA"/>
          </a:solidFill>
          <a:ln>
            <a:noFill/>
          </a:ln>
        </p:spPr>
        <p:txBody>
          <a:bodyPr rtlCol="0" anchor="t" wrap="square" lIns="152400" rIns="152400" tIns="152400" bIns="152400"/>
          <a:lstStyle/>
          <a:p>
            <a:pPr algn="l">
              <a:spcAft>
                <a:spcPts val="562"/>
              </a:spcAft>
            </a:pPr>
            <a:r>
              <a:rPr sz="1250" b="1">
                <a:solidFill>
                  <a:srgbClr val="2A2320"/>
                </a:solidFill>
                <a:latin typeface="Nunito"/>
              </a:rPr>
              <a:t>Clinician view</a:t>
            </a:r>
          </a:p>
          <a:p>
            <a:pPr algn="l">
              <a:spcAft>
                <a:spcPts val="250"/>
              </a:spcAft>
            </a:pPr>
            <a:r>
              <a:rPr sz="1000" b="0">
                <a:solidFill>
                  <a:srgbClr val="2A2320"/>
                </a:solidFill>
                <a:latin typeface="Nunito"/>
              </a:rPr>
              <a:t>Findings with sources</a:t>
            </a:r>
          </a:p>
          <a:p>
            <a:pPr algn="l">
              <a:spcAft>
                <a:spcPts val="250"/>
              </a:spcAft>
            </a:pPr>
            <a:r>
              <a:rPr sz="1000" b="0">
                <a:solidFill>
                  <a:srgbClr val="2A2320"/>
                </a:solidFill>
                <a:latin typeface="Nunito"/>
              </a:rPr>
              <a:t>Ask about the record</a:t>
            </a:r>
          </a:p>
        </p:txBody>
      </p:sp>
      <p:sp>
        <p:nvSpPr>
          <p:cNvPr id="9" name="Text: Presentation, not policy"/>
          <p:cNvSpPr txBox="1"/>
          <p:nvPr/>
        </p:nvSpPr>
        <p:spPr>
          <a:xfrm>
            <a:off x="660400" y="4064000"/>
            <a:ext cx="1981200" cy="254000"/>
          </a:xfrm>
          <a:prstGeom prst="rect">
            <a:avLst/>
          </a:prstGeom>
          <a:noFill/>
        </p:spPr>
        <p:txBody>
          <a:bodyPr wrap="square" anchor="t" lIns="0" rIns="0" tIns="0" bIns="0"/>
          <a:lstStyle/>
          <a:p>
            <a:pPr algn="l">
              <a:spcAft>
                <a:spcPts val="472"/>
              </a:spcAft>
            </a:pPr>
            <a:r>
              <a:rPr sz="1050" b="0">
                <a:solidFill>
                  <a:srgbClr val="6B6258"/>
                </a:solidFill>
                <a:latin typeface="Nunito"/>
              </a:rPr>
              <a:t>Presentation, not policy</a:t>
            </a:r>
          </a:p>
        </p:txBody>
      </p:sp>
      <p:sp>
        <p:nvSpPr>
          <p:cNvPr id="10" name="Box: FastAPI application services"/>
          <p:cNvSpPr/>
          <p:nvPr/>
        </p:nvSpPr>
        <p:spPr>
          <a:xfrm>
            <a:off x="3454400" y="16256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FastAPI application services</a:t>
            </a:r>
          </a:p>
          <a:p>
            <a:pPr algn="l">
              <a:spcAft>
                <a:spcPts val="262"/>
              </a:spcAft>
            </a:pPr>
            <a:r>
              <a:rPr sz="1050" b="0">
                <a:solidFill>
                  <a:srgbClr val="2A2320"/>
                </a:solidFill>
                <a:latin typeface="Nunito"/>
              </a:rPr>
              <a:t>Atomic + idempotent events · SQLite + audit</a:t>
            </a:r>
          </a:p>
        </p:txBody>
      </p:sp>
      <p:sp>
        <p:nvSpPr>
          <p:cNvPr id="11" name="Box: Curated medication content"/>
          <p:cNvSpPr/>
          <p:nvPr/>
        </p:nvSpPr>
        <p:spPr>
          <a:xfrm>
            <a:off x="3454400" y="2438400"/>
            <a:ext cx="3505200" cy="711200"/>
          </a:xfrm>
          <a:prstGeom prst="roundRect">
            <a:avLst>
              <a:gd name="adj" fmla="val 19642"/>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Curated medication content</a:t>
            </a:r>
          </a:p>
          <a:p>
            <a:pPr algn="l">
              <a:spcAft>
                <a:spcPts val="262"/>
              </a:spcAft>
            </a:pPr>
            <a:r>
              <a:rPr sz="1050" b="0">
                <a:solidFill>
                  <a:srgbClr val="2A2320"/>
                </a:solidFill>
                <a:latin typeface="Nunito"/>
              </a:rPr>
              <a:t>Typed questions: safety first, fixed answers</a:t>
            </a:r>
          </a:p>
        </p:txBody>
      </p:sp>
      <p:sp>
        <p:nvSpPr>
          <p:cNvPr id="12" name="Box: Safety engine"/>
          <p:cNvSpPr/>
          <p:nvPr/>
        </p:nvSpPr>
        <p:spPr>
          <a:xfrm>
            <a:off x="3454400" y="3251200"/>
            <a:ext cx="1701800" cy="952500"/>
          </a:xfrm>
          <a:prstGeom prst="roundRect">
            <a:avLst>
              <a:gd name="adj" fmla="val 14666"/>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Safety engine</a:t>
            </a:r>
          </a:p>
          <a:p>
            <a:pPr algn="l">
              <a:spcAft>
                <a:spcPts val="262"/>
              </a:spcAft>
            </a:pPr>
            <a:r>
              <a:rPr sz="1050" b="0">
                <a:solidFill>
                  <a:srgbClr val="2A2320"/>
                </a:solidFill>
                <a:latin typeface="Nunito"/>
              </a:rPr>
              <a:t>T0–T4, fails closed</a:t>
            </a:r>
          </a:p>
        </p:txBody>
      </p:sp>
      <p:sp>
        <p:nvSpPr>
          <p:cNvPr id="13" name="Box: Longitudinal"/>
          <p:cNvSpPr/>
          <p:nvPr/>
        </p:nvSpPr>
        <p:spPr>
          <a:xfrm>
            <a:off x="5257800" y="3251200"/>
            <a:ext cx="1701800" cy="952500"/>
          </a:xfrm>
          <a:prstGeom prst="roundRect">
            <a:avLst>
              <a:gd name="adj" fmla="val 14666"/>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a:t>
            </a:r>
          </a:p>
          <a:p>
            <a:pPr algn="l">
              <a:spcAft>
                <a:spcPts val="262"/>
              </a:spcAft>
            </a:pPr>
            <a:r>
              <a:rPr sz="1050" b="0">
                <a:solidFill>
                  <a:srgbClr val="2A2320"/>
                </a:solidFill>
                <a:latin typeface="Nunito"/>
              </a:rPr>
              <a:t>Personal + recent baselines</a:t>
            </a:r>
          </a:p>
        </p:txBody>
      </p:sp>
      <p:sp>
        <p:nvSpPr>
          <p:cNvPr id="14" name="Box: Aura-Agent + patient-scoped tools"/>
          <p:cNvSpPr/>
          <p:nvPr/>
        </p:nvSpPr>
        <p:spPr>
          <a:xfrm>
            <a:off x="7772400" y="16256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Aura-Agent + patient-scoped tools</a:t>
            </a:r>
          </a:p>
          <a:p>
            <a:pPr algn="l">
              <a:spcAft>
                <a:spcPts val="262"/>
              </a:spcAft>
            </a:pPr>
            <a:r>
              <a:rPr sz="1050" b="0">
                <a:solidFill>
                  <a:srgbClr val="2A2320"/>
                </a:solidFill>
                <a:latin typeface="Nunito"/>
              </a:rPr>
              <a:t>The model chooses tools, dates and comparisons</a:t>
            </a:r>
          </a:p>
        </p:txBody>
      </p:sp>
      <p:sp>
        <p:nvSpPr>
          <p:cNvPr id="15" name="Box: Ground · verify · recheck"/>
          <p:cNvSpPr/>
          <p:nvPr/>
        </p:nvSpPr>
        <p:spPr>
          <a:xfrm>
            <a:off x="7772400" y="2832100"/>
            <a:ext cx="3759200" cy="825500"/>
          </a:xfrm>
          <a:prstGeom prst="roundRect">
            <a:avLst>
              <a:gd name="adj" fmla="val 16923"/>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Ground · verify · recheck</a:t>
            </a:r>
          </a:p>
          <a:p>
            <a:pPr algn="l">
              <a:spcAft>
                <a:spcPts val="262"/>
              </a:spcAft>
            </a:pPr>
            <a:r>
              <a:rPr sz="1050" b="0">
                <a:solidFill>
                  <a:srgbClr val="2A2320"/>
                </a:solidFill>
                <a:latin typeface="Nunito"/>
              </a:rPr>
              <a:t>Cited answer, or a labelled fallback + trace</a:t>
            </a:r>
          </a:p>
        </p:txBody>
      </p:sp>
      <p:sp>
        <p:nvSpPr>
          <p:cNvPr id="16" name="Text: Model gateway: provider configurable"/>
          <p:cNvSpPr txBox="1"/>
          <p:nvPr/>
        </p:nvSpPr>
        <p:spPr>
          <a:xfrm>
            <a:off x="7772400" y="3746500"/>
            <a:ext cx="3759200" cy="635000"/>
          </a:xfrm>
          <a:prstGeom prst="rect">
            <a:avLst/>
          </a:prstGeom>
          <a:noFill/>
        </p:spPr>
        <p:txBody>
          <a:bodyPr wrap="square" anchor="t" lIns="0" rIns="0" tIns="0" bIns="0"/>
          <a:lstStyle/>
          <a:p>
            <a:pPr algn="l">
              <a:spcAft>
                <a:spcPts val="495"/>
              </a:spcAft>
            </a:pPr>
            <a:r>
              <a:rPr sz="1100" b="1">
                <a:solidFill>
                  <a:srgbClr val="2A2320"/>
                </a:solidFill>
                <a:latin typeface="Nunito"/>
              </a:rPr>
              <a:t>Model gateway: provider configurable</a:t>
            </a:r>
          </a:p>
          <a:p>
            <a:pPr algn="l">
              <a:spcAft>
                <a:spcPts val="262"/>
              </a:spcAft>
            </a:pPr>
            <a:r>
              <a:rPr sz="1050" b="0">
                <a:solidFill>
                  <a:srgbClr val="6B6258"/>
                </a:solidFill>
                <a:latin typeface="Nunito"/>
              </a:rPr>
              <a:t>Operator picks model + reasoning level</a:t>
            </a:r>
          </a:p>
          <a:p>
            <a:pPr algn="l">
              <a:spcAft>
                <a:spcPts val="262"/>
              </a:spcAft>
            </a:pPr>
            <a:r>
              <a:rPr sz="1050" b="0">
                <a:solidFill>
                  <a:srgbClr val="6B6258"/>
                </a:solidFill>
                <a:latin typeface="Nunito"/>
              </a:rPr>
              <a:t>Synthetic data only</a:t>
            </a:r>
          </a:p>
        </p:txBody>
      </p:sp>
      <p:sp>
        <p:nvSpPr>
          <p:cNvPr id="17" name="Box: Independent safety display"/>
          <p:cNvSpPr/>
          <p:nvPr/>
        </p:nvSpPr>
        <p:spPr>
          <a:xfrm>
            <a:off x="3162300" y="4826000"/>
            <a:ext cx="228600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Independent safety display</a:t>
            </a:r>
          </a:p>
          <a:p>
            <a:pPr algn="l">
              <a:spcAft>
                <a:spcPts val="250"/>
              </a:spcAft>
            </a:pPr>
            <a:r>
              <a:rPr sz="1000" b="0">
                <a:solidFill>
                  <a:srgbClr val="2A2320"/>
                </a:solidFill>
                <a:latin typeface="Nunito"/>
              </a:rPr>
              <a:t>Pinned resources + fallback</a:t>
            </a:r>
          </a:p>
          <a:p>
            <a:pPr algn="l">
              <a:spcAft>
                <a:spcPts val="250"/>
              </a:spcAft>
            </a:pPr>
            <a:r>
              <a:rPr sz="1000" b="0">
                <a:solidFill>
                  <a:srgbClr val="2A2320"/>
                </a:solidFill>
                <a:latin typeface="Nunito"/>
              </a:rPr>
              <a:t>Never AI-written</a:t>
            </a:r>
          </a:p>
        </p:txBody>
      </p:sp>
      <p:sp>
        <p:nvSpPr>
          <p:cNvPr id="18" name="Box: Separate simulation plane"/>
          <p:cNvSpPr/>
          <p:nvPr/>
        </p:nvSpPr>
        <p:spPr>
          <a:xfrm>
            <a:off x="5715000" y="4826000"/>
            <a:ext cx="2667000" cy="1270000"/>
          </a:xfrm>
          <a:prstGeom prst="roundRect">
            <a:avLst>
              <a:gd name="adj" fmla="val 11000"/>
            </a:avLst>
          </a:prstGeom>
          <a:solidFill>
            <a:srgbClr val="FFF0D0"/>
          </a:solidFill>
          <a:ln>
            <a:noFill/>
          </a:ln>
        </p:spPr>
        <p:txBody>
          <a:bodyPr rtlCol="0" anchor="t" wrap="square" lIns="152400" rIns="152400" tIns="152400" bIns="152400"/>
          <a:lstStyle/>
          <a:p>
            <a:pPr algn="l">
              <a:spcAft>
                <a:spcPts val="562"/>
              </a:spcAft>
            </a:pPr>
            <a:r>
              <a:rPr sz="1250" b="1">
                <a:solidFill>
                  <a:srgbClr val="2A2320"/>
                </a:solidFill>
                <a:latin typeface="Nunito"/>
              </a:rPr>
              <a:t>Separate simulation plane</a:t>
            </a:r>
          </a:p>
          <a:p>
            <a:pPr algn="l">
              <a:spcAft>
                <a:spcPts val="250"/>
              </a:spcAft>
            </a:pPr>
            <a:r>
              <a:rPr sz="1000" b="0">
                <a:solidFill>
                  <a:srgbClr val="2A2320"/>
                </a:solidFill>
                <a:latin typeface="Nunito"/>
              </a:rPr>
              <a:t>Plans + seeded synthetic data</a:t>
            </a:r>
          </a:p>
          <a:p>
            <a:pPr algn="l">
              <a:spcAft>
                <a:spcPts val="250"/>
              </a:spcAft>
            </a:pPr>
            <a:r>
              <a:rPr sz="1000" b="0">
                <a:solidFill>
                  <a:srgbClr val="2A2320"/>
                </a:solidFill>
                <a:latin typeface="Nunito"/>
              </a:rPr>
              <a:t>Only observable events enter</a:t>
            </a:r>
          </a:p>
        </p:txBody>
      </p:sp>
      <p:cxnSp>
        <p:nvCxnSpPr>
          <p:cNvPr id="19" name="Arrow: Web experience → Python app · owns th"/>
          <p:cNvCxnSpPr>
            <a:stCxn id="4" idx="3"/>
            <a:endCxn id="5" idx="1"/>
          </p:cNvCxnSpPr>
          <p:nvPr/>
        </p:nvCxnSpPr>
        <p:spPr>
          <a:xfrm>
            <a:off x="2794000" y="2794000"/>
            <a:ext cx="508000" cy="1"/>
          </a:xfrm>
          <a:prstGeom prst="line">
            <a:avLst/>
          </a:prstGeom>
          <a:ln w="25400">
            <a:solidFill>
              <a:srgbClr val="6B6258"/>
            </a:solidFill>
            <a:headEnd type="triangle" w="med" len="med"/>
            <a:tailEnd type="triangle" w="med" len="med"/>
          </a:ln>
        </p:spPr>
      </p:cxnSp>
      <p:cxnSp>
        <p:nvCxnSpPr>
          <p:cNvPr id="20" name="Arrow: Python app · owns th → Bounded AI · read-on"/>
          <p:cNvCxnSpPr>
            <a:stCxn id="5" idx="3"/>
            <a:endCxn id="6" idx="1"/>
          </p:cNvCxnSpPr>
          <p:nvPr/>
        </p:nvCxnSpPr>
        <p:spPr>
          <a:xfrm>
            <a:off x="7112000" y="2794000"/>
            <a:ext cx="508000" cy="1"/>
          </a:xfrm>
          <a:prstGeom prst="line">
            <a:avLst/>
          </a:prstGeom>
          <a:ln w="25400">
            <a:solidFill>
              <a:srgbClr val="6B6258"/>
            </a:solidFill>
            <a:headEnd type="triangle" w="med" len="med"/>
            <a:tailEnd type="triangle" w="med" len="med"/>
          </a:ln>
        </p:spPr>
      </p:cxnSp>
      <p:cxnSp>
        <p:nvCxnSpPr>
          <p:cNvPr id="21" name="Arrow: Aura-Agent + patient → Ground · verify · re"/>
          <p:cNvCxnSpPr>
            <a:stCxn id="14" idx="2"/>
            <a:endCxn id="15" idx="0"/>
          </p:cNvCxnSpPr>
          <p:nvPr/>
        </p:nvCxnSpPr>
        <p:spPr>
          <a:xfrm>
            <a:off x="9652000" y="2451100"/>
            <a:ext cx="1" cy="381000"/>
          </a:xfrm>
          <a:prstGeom prst="line">
            <a:avLst/>
          </a:prstGeom>
          <a:ln w="25400">
            <a:solidFill>
              <a:srgbClr val="6B6258"/>
            </a:solidFill>
            <a:tailEnd type="triangle" w="med" len="med"/>
          </a:ln>
        </p:spPr>
      </p:cxnSp>
      <p:cxnSp>
        <p:nvCxnSpPr>
          <p:cNvPr id="22" name="Arrow: Safety engine → Independent safety d"/>
          <p:cNvCxnSpPr>
            <a:stCxn id="12" idx="2"/>
            <a:endCxn id="17" idx="0"/>
          </p:cNvCxnSpPr>
          <p:nvPr/>
        </p:nvCxnSpPr>
        <p:spPr>
          <a:xfrm>
            <a:off x="4305300" y="4203700"/>
            <a:ext cx="1" cy="622300"/>
          </a:xfrm>
          <a:prstGeom prst="line">
            <a:avLst/>
          </a:prstGeom>
          <a:ln w="25400">
            <a:solidFill>
              <a:srgbClr val="6B6258"/>
            </a:solidFill>
            <a:tailEnd type="triangle" w="med" len="med"/>
          </a:ln>
        </p:spPr>
      </p:cxnSp>
      <p:cxnSp>
        <p:nvCxnSpPr>
          <p:cNvPr id="23" name="Arrow: Separate simulation  → Python app · owns th"/>
          <p:cNvCxnSpPr>
            <a:stCxn id="18" idx="0"/>
            <a:endCxn id="5" idx="2"/>
          </p:cNvCxnSpPr>
          <p:nvPr/>
        </p:nvCxnSpPr>
        <p:spPr>
          <a:xfrm rot="5400000" flipH="1">
            <a:off x="5905500" y="3683000"/>
            <a:ext cx="444500" cy="1841500"/>
          </a:xfrm>
          <a:prstGeom prst="bentConnector3">
            <a:avLst>
              <a:gd name="adj1" fmla="val 50000"/>
            </a:avLst>
          </a:prstGeom>
          <a:ln w="25400">
            <a:solidFill>
              <a:srgbClr val="6B6258"/>
            </a:solidFill>
            <a:tailEnd type="triangle" w="med" len="med"/>
          </a:ln>
        </p:spPr>
      </p:cxnSp>
      <p:sp>
        <p:nvSpPr>
          <p:cNvPr id="24" name="Text: inputs"/>
          <p:cNvSpPr txBox="1"/>
          <p:nvPr/>
        </p:nvSpPr>
        <p:spPr>
          <a:xfrm>
            <a:off x="2806700" y="2476500"/>
            <a:ext cx="482600" cy="368300"/>
          </a:xfrm>
          <a:prstGeom prst="rect">
            <a:avLst/>
          </a:prstGeom>
          <a:noFill/>
        </p:spPr>
        <p:txBody>
          <a:bodyPr wrap="square" anchor="t" lIns="0" rIns="0" tIns="0" bIns="0"/>
          <a:lstStyle/>
          <a:p>
            <a:pPr algn="ctr">
              <a:spcAft>
                <a:spcPts val="360"/>
              </a:spcAft>
            </a:pPr>
            <a:r>
              <a:rPr sz="800" b="0">
                <a:solidFill>
                  <a:srgbClr val="6B6258"/>
                </a:solidFill>
                <a:latin typeface="Nunito"/>
              </a:rPr>
              <a:t>inputs</a:t>
            </a:r>
          </a:p>
          <a:p>
            <a:pPr algn="ctr">
              <a:spcAft>
                <a:spcPts val="200"/>
              </a:spcAft>
            </a:pPr>
            <a:r>
              <a:rPr sz="800" b="0">
                <a:solidFill>
                  <a:srgbClr val="6B6258"/>
                </a:solidFill>
                <a:latin typeface="Nunito"/>
              </a:rPr>
              <a:t>views</a:t>
            </a:r>
          </a:p>
        </p:txBody>
      </p:sp>
      <p:sp>
        <p:nvSpPr>
          <p:cNvPr id="25" name="Text: request"/>
          <p:cNvSpPr txBox="1"/>
          <p:nvPr/>
        </p:nvSpPr>
        <p:spPr>
          <a:xfrm>
            <a:off x="7124700" y="2463800"/>
            <a:ext cx="482600" cy="406400"/>
          </a:xfrm>
          <a:prstGeom prst="rect">
            <a:avLst/>
          </a:prstGeom>
          <a:noFill/>
        </p:spPr>
        <p:txBody>
          <a:bodyPr wrap="square" anchor="t" lIns="0" rIns="0" tIns="0" bIns="0"/>
          <a:lstStyle/>
          <a:p>
            <a:pPr algn="ctr">
              <a:spcAft>
                <a:spcPts val="360"/>
              </a:spcAft>
            </a:pPr>
            <a:r>
              <a:rPr sz="800" b="0">
                <a:solidFill>
                  <a:srgbClr val="6B6258"/>
                </a:solidFill>
                <a:latin typeface="Nunito"/>
              </a:rPr>
              <a:t>request</a:t>
            </a:r>
          </a:p>
          <a:p>
            <a:pPr algn="ctr">
              <a:spcAft>
                <a:spcPts val="200"/>
              </a:spcAft>
            </a:pPr>
            <a:r>
              <a:rPr sz="800" b="0">
                <a:solidFill>
                  <a:srgbClr val="6B6258"/>
                </a:solidFill>
                <a:latin typeface="Nunito"/>
              </a:rPr>
              <a:t>result</a:t>
            </a:r>
          </a:p>
        </p:txBody>
      </p:sp>
      <p:sp>
        <p:nvSpPr>
          <p:cNvPr id="26" name="Text: Observable events"/>
          <p:cNvSpPr txBox="1"/>
          <p:nvPr/>
        </p:nvSpPr>
        <p:spPr>
          <a:xfrm>
            <a:off x="7137400" y="4445000"/>
            <a:ext cx="1460500" cy="368300"/>
          </a:xfrm>
          <a:prstGeom prst="rect">
            <a:avLst/>
          </a:prstGeom>
          <a:noFill/>
        </p:spPr>
        <p:txBody>
          <a:bodyPr wrap="square" anchor="t" lIns="0" rIns="0" tIns="0" bIns="0"/>
          <a:lstStyle/>
          <a:p>
            <a:pPr algn="l">
              <a:spcAft>
                <a:spcPts val="405"/>
              </a:spcAft>
            </a:pPr>
            <a:r>
              <a:rPr sz="900" b="0">
                <a:solidFill>
                  <a:srgbClr val="6B6258"/>
                </a:solidFill>
                <a:latin typeface="Nunito"/>
              </a:rPr>
              <a:t>Observable events</a:t>
            </a:r>
          </a:p>
          <a:p>
            <a:pPr algn="l">
              <a:spcAft>
                <a:spcPts val="225"/>
              </a:spcAft>
            </a:pPr>
            <a:r>
              <a:rPr sz="900" b="0">
                <a:solidFill>
                  <a:srgbClr val="6B6258"/>
                </a:solidFill>
                <a:latin typeface="Nunito"/>
              </a:rPr>
              <a:t>via app ingestion</a:t>
            </a:r>
          </a:p>
        </p:txBody>
      </p:sp>
      <p:sp>
        <p:nvSpPr>
          <p:cNvPr id="27" name="Text: Signals propose. Rules decide. AI words "/>
          <p:cNvSpPr txBox="1"/>
          <p:nvPr/>
        </p:nvSpPr>
        <p:spPr>
          <a:xfrm>
            <a:off x="508000" y="4826000"/>
            <a:ext cx="2413000" cy="1143000"/>
          </a:xfrm>
          <a:prstGeom prst="rect">
            <a:avLst/>
          </a:prstGeom>
          <a:noFill/>
        </p:spPr>
        <p:txBody>
          <a:bodyPr wrap="square" anchor="t" lIns="0" rIns="0" tIns="0" bIns="0"/>
          <a:lstStyle/>
          <a:p>
            <a:pPr algn="l">
              <a:spcAft>
                <a:spcPts val="675"/>
              </a:spcAft>
            </a:pPr>
            <a:r>
              <a:rPr sz="1500" b="1">
                <a:solidFill>
                  <a:srgbClr val="2A2320"/>
                </a:solidFill>
                <a:latin typeface="Nunito"/>
              </a:rPr>
              <a:t>Signals propose. Rules decide. AI words it.</a:t>
            </a:r>
          </a:p>
        </p:txBody>
      </p:sp>
      <p:sp>
        <p:nvSpPr>
          <p:cNvPr id="28" name="Text: One application · synthetic workspaces ·"/>
          <p:cNvSpPr txBox="1"/>
          <p:nvPr/>
        </p:nvSpPr>
        <p:spPr>
          <a:xfrm>
            <a:off x="8636000" y="4826000"/>
            <a:ext cx="3048000" cy="1587500"/>
          </a:xfrm>
          <a:prstGeom prst="rect">
            <a:avLst/>
          </a:prstGeom>
          <a:noFill/>
        </p:spPr>
        <p:txBody>
          <a:bodyPr wrap="square" anchor="t" lIns="0" rIns="0" tIns="0" bIns="0"/>
          <a:lstStyle/>
          <a:p>
            <a:pPr algn="l">
              <a:spcAft>
                <a:spcPts val="472"/>
              </a:spcAft>
            </a:pPr>
            <a:r>
              <a:rPr sz="1050" b="0">
                <a:solidFill>
                  <a:srgbClr val="6B6258"/>
                </a:solidFill>
                <a:latin typeface="Nunito"/>
              </a:rPr>
              <a:t>One application · synthetic workspaces · development storage</a:t>
            </a:r>
          </a:p>
          <a:p>
            <a:pPr algn="l">
              <a:spcAft>
                <a:spcPts val="262"/>
              </a:spcAft>
            </a:pPr>
            <a:r>
              <a:rPr sz="1050" b="0">
                <a:solidFill>
                  <a:srgbClr val="6B6258"/>
                </a:solidFill>
                <a:latin typeface="Nunito"/>
              </a:rPr>
              <a:t>Demo roles, no clinical authentication. Visit preview: Not sent.</a:t>
            </a:r>
          </a:p>
          <a:p>
            <a:pPr algn="l">
              <a:spcAft>
                <a:spcPts val="262"/>
              </a:spcAft>
            </a:pPr>
            <a:r>
              <a:rPr sz="1050" b="0">
                <a:solidFill>
                  <a:srgbClr val="6B6258"/>
                </a:solidFill>
                <a:latin typeface="Nunito"/>
              </a:rPr>
              <a:t>Institutional hosting is future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Aura-Agent · investigate, cite, check"/>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Aura-Agent · investigate, cite, check</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1 · Guard the request"/>
          <p:cNvSpPr/>
          <p:nvPr/>
        </p:nvSpPr>
        <p:spPr>
          <a:xfrm>
            <a:off x="508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1 · Guard the request</a:t>
            </a:r>
          </a:p>
          <a:p>
            <a:pPr algn="l">
              <a:spcAft>
                <a:spcPts val="275"/>
              </a:spcAft>
            </a:pPr>
            <a:r>
              <a:rPr sz="1100" b="0">
                <a:solidFill>
                  <a:srgbClr val="2A2320"/>
                </a:solidFill>
                <a:latin typeface="Nunito"/>
              </a:rPr>
              <a:t>Skill, selected patient, current safety</a:t>
            </a:r>
          </a:p>
          <a:p>
            <a:pPr algn="l">
              <a:spcAft>
                <a:spcPts val="275"/>
              </a:spcAft>
            </a:pPr>
            <a:r>
              <a:rPr sz="1100" b="0">
                <a:solidFill>
                  <a:srgbClr val="2A2320"/>
                </a:solidFill>
                <a:latin typeface="Nunito"/>
              </a:rPr>
              <a:t>Read-only record + permitted window</a:t>
            </a:r>
          </a:p>
        </p:txBody>
      </p:sp>
      <p:sp>
        <p:nvSpPr>
          <p:cNvPr id="5" name="Box: 2 · Model chooses a step"/>
          <p:cNvSpPr/>
          <p:nvPr/>
        </p:nvSpPr>
        <p:spPr>
          <a:xfrm>
            <a:off x="4572000" y="12700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2 · Model chooses a step</a:t>
            </a:r>
          </a:p>
          <a:p>
            <a:pPr algn="l">
              <a:spcAft>
                <a:spcPts val="275"/>
              </a:spcAft>
            </a:pPr>
            <a:r>
              <a:rPr sz="1100" b="0">
                <a:solidFill>
                  <a:srgbClr val="2A2320"/>
                </a:solidFill>
                <a:latin typeface="Nunito"/>
              </a:rPr>
              <a:t>Which tool? Which dates? Which signal?</a:t>
            </a:r>
          </a:p>
          <a:p>
            <a:pPr algn="l">
              <a:spcAft>
                <a:spcPts val="275"/>
              </a:spcAft>
            </a:pPr>
            <a:r>
              <a:rPr sz="1100" b="0">
                <a:solidFill>
                  <a:srgbClr val="2A2320"/>
                </a:solidFill>
                <a:latin typeface="Nunito"/>
              </a:rPr>
              <a:t>Read more, or draft a cited answer</a:t>
            </a:r>
          </a:p>
        </p:txBody>
      </p:sp>
      <p:sp>
        <p:nvSpPr>
          <p:cNvPr id="6" name="Box: 3 · Execute scoped tools"/>
          <p:cNvSpPr/>
          <p:nvPr/>
        </p:nvSpPr>
        <p:spPr>
          <a:xfrm>
            <a:off x="8636000" y="12700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3 · Execute scoped tools</a:t>
            </a:r>
          </a:p>
          <a:p>
            <a:pPr algn="l">
              <a:spcAft>
                <a:spcPts val="275"/>
              </a:spcAft>
            </a:pPr>
            <a:r>
              <a:rPr sz="1100" b="0">
                <a:solidFill>
                  <a:srgbClr val="2A2320"/>
                </a:solidFill>
                <a:latin typeface="Nunito"/>
              </a:rPr>
              <a:t>Series, context, gaps, routine records</a:t>
            </a:r>
          </a:p>
          <a:p>
            <a:pPr algn="l">
              <a:spcAft>
                <a:spcPts val="275"/>
              </a:spcAft>
            </a:pPr>
            <a:r>
              <a:rPr sz="1100" b="0">
                <a:solidFill>
                  <a:srgbClr val="2A2320"/>
                </a:solidFill>
                <a:latin typeface="Nunito"/>
              </a:rPr>
              <a:t>Return facts, sources and calculations</a:t>
            </a:r>
          </a:p>
        </p:txBody>
      </p:sp>
      <p:sp>
        <p:nvSpPr>
          <p:cNvPr id="7" name="Box: “When did sleep timing change, and was a"/>
          <p:cNvSpPr/>
          <p:nvPr/>
        </p:nvSpPr>
        <p:spPr>
          <a:xfrm>
            <a:off x="508000" y="29845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540"/>
              </a:spcAft>
            </a:pPr>
            <a:r>
              <a:rPr sz="1200" b="1">
                <a:solidFill>
                  <a:srgbClr val="2A2320"/>
                </a:solidFill>
                <a:latin typeface="Nunito"/>
              </a:rPr>
              <a:t>“When did sleep timing change, and was anything reported around then?”</a:t>
            </a:r>
          </a:p>
          <a:p>
            <a:pPr algn="l">
              <a:spcAft>
                <a:spcPts val="250"/>
              </a:spcAft>
            </a:pPr>
            <a:r>
              <a:rPr sz="1000" b="0">
                <a:solidFill>
                  <a:srgbClr val="2A2320"/>
                </a:solidFill>
                <a:latin typeface="Nunito"/>
              </a:rPr>
              <a:t>A clinician's question. Patient-typed text is safety-checked first.</a:t>
            </a:r>
          </a:p>
        </p:txBody>
      </p:sp>
      <p:sp>
        <p:nvSpPr>
          <p:cNvPr id="8" name="Box: 4 · Ground and verify"/>
          <p:cNvSpPr/>
          <p:nvPr/>
        </p:nvSpPr>
        <p:spPr>
          <a:xfrm>
            <a:off x="4572000" y="2984500"/>
            <a:ext cx="3048000" cy="1206500"/>
          </a:xfrm>
          <a:prstGeom prst="roundRect">
            <a:avLst>
              <a:gd name="adj" fmla="val 11578"/>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4 · Ground and verify</a:t>
            </a:r>
          </a:p>
          <a:p>
            <a:pPr algn="l">
              <a:spcAft>
                <a:spcPts val="275"/>
              </a:spcAft>
            </a:pPr>
            <a:r>
              <a:rPr sz="1100" b="0">
                <a:solidFill>
                  <a:srgbClr val="2A2320"/>
                </a:solidFill>
                <a:latin typeface="Nunito"/>
              </a:rPr>
              <a:t>Exact facts, citations, allowed claims</a:t>
            </a:r>
          </a:p>
          <a:p>
            <a:pPr algn="l">
              <a:spcAft>
                <a:spcPts val="275"/>
              </a:spcAft>
            </a:pPr>
            <a:r>
              <a:rPr sz="1100" b="0">
                <a:solidFill>
                  <a:srgbClr val="2A2320"/>
                </a:solidFill>
                <a:latin typeface="Nunito"/>
              </a:rPr>
              <a:t>Live drafts: separate verification call</a:t>
            </a:r>
          </a:p>
        </p:txBody>
      </p:sp>
      <p:sp>
        <p:nvSpPr>
          <p:cNvPr id="9" name="Box: 5 · Recheck current state"/>
          <p:cNvSpPr/>
          <p:nvPr/>
        </p:nvSpPr>
        <p:spPr>
          <a:xfrm>
            <a:off x="8636000" y="2984500"/>
            <a:ext cx="3048000" cy="1206500"/>
          </a:xfrm>
          <a:prstGeom prst="roundRect">
            <a:avLst>
              <a:gd name="adj" fmla="val 11578"/>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5 · Recheck current state</a:t>
            </a:r>
          </a:p>
          <a:p>
            <a:pPr algn="l">
              <a:spcAft>
                <a:spcPts val="275"/>
              </a:spcAft>
            </a:pPr>
            <a:r>
              <a:rPr sz="1100" b="0">
                <a:solidFill>
                  <a:srgbClr val="2A2320"/>
                </a:solidFill>
                <a:latin typeface="Nunito"/>
              </a:rPr>
              <a:t>Record, safety + provider revision</a:t>
            </a:r>
          </a:p>
          <a:p>
            <a:pPr algn="l">
              <a:spcAft>
                <a:spcPts val="275"/>
              </a:spcAft>
            </a:pPr>
            <a:r>
              <a:rPr sz="1100" b="0">
                <a:solidFill>
                  <a:srgbClr val="2A2320"/>
                </a:solidFill>
                <a:latin typeface="Nunito"/>
              </a:rPr>
              <a:t>Unsafe or stale results are withheld</a:t>
            </a:r>
          </a:p>
        </p:txBody>
      </p:sp>
      <p:sp>
        <p:nvSpPr>
          <p:cNvPr id="10" name="Box: 6 · Persist and display"/>
          <p:cNvSpPr/>
          <p:nvPr/>
        </p:nvSpPr>
        <p:spPr>
          <a:xfrm>
            <a:off x="8636000" y="4699000"/>
            <a:ext cx="3048000" cy="1206500"/>
          </a:xfrm>
          <a:prstGeom prst="roundRect">
            <a:avLst>
              <a:gd name="adj" fmla="val 11578"/>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6 · Persist and display</a:t>
            </a:r>
          </a:p>
          <a:p>
            <a:pPr algn="l">
              <a:spcAft>
                <a:spcPts val="275"/>
              </a:spcAft>
            </a:pPr>
            <a:r>
              <a:rPr sz="1100" b="0">
                <a:solidFill>
                  <a:srgbClr val="2A2320"/>
                </a:solidFill>
                <a:latin typeface="Nunito"/>
              </a:rPr>
              <a:t>Answer, sources, How AURA looked</a:t>
            </a:r>
          </a:p>
          <a:p>
            <a:pPr algn="l">
              <a:spcAft>
                <a:spcPts val="275"/>
              </a:spcAft>
            </a:pPr>
            <a:r>
              <a:rPr sz="1100" b="0">
                <a:solidFill>
                  <a:srgbClr val="2A2320"/>
                </a:solidFill>
                <a:latin typeface="Nunito"/>
              </a:rPr>
              <a:t>No care-action or treatment-write tools</a:t>
            </a:r>
          </a:p>
        </p:txBody>
      </p:sp>
      <p:cxnSp>
        <p:nvCxnSpPr>
          <p:cNvPr id="11" name="Arrow: “When did sleep timi → 1 · Guard the reques"/>
          <p:cNvCxnSpPr>
            <a:stCxn id="7" idx="0"/>
            <a:endCxn id="4" idx="2"/>
          </p:cNvCxnSpPr>
          <p:nvPr/>
        </p:nvCxnSpPr>
        <p:spPr>
          <a:xfrm flipV="1">
            <a:off x="2032000" y="2476500"/>
            <a:ext cx="1" cy="508000"/>
          </a:xfrm>
          <a:prstGeom prst="line">
            <a:avLst/>
          </a:prstGeom>
          <a:ln w="25400">
            <a:solidFill>
              <a:srgbClr val="6B6258"/>
            </a:solidFill>
            <a:tailEnd type="triangle" w="med" len="med"/>
          </a:ln>
        </p:spPr>
      </p:cxnSp>
      <p:cxnSp>
        <p:nvCxnSpPr>
          <p:cNvPr id="12" name="Arrow: 1 · Guard the reques → 2 · Model chooses a "/>
          <p:cNvCxnSpPr>
            <a:stCxn id="4" idx="3"/>
            <a:endCxn id="5" idx="1"/>
          </p:cNvCxnSpPr>
          <p:nvPr/>
        </p:nvCxnSpPr>
        <p:spPr>
          <a:xfrm>
            <a:off x="3556000" y="1873250"/>
            <a:ext cx="1016000" cy="1"/>
          </a:xfrm>
          <a:prstGeom prst="line">
            <a:avLst/>
          </a:prstGeom>
          <a:ln w="25400">
            <a:solidFill>
              <a:srgbClr val="6B6258"/>
            </a:solidFill>
            <a:tailEnd type="triangle" w="med" len="med"/>
          </a:ln>
        </p:spPr>
      </p:cxnSp>
      <p:cxnSp>
        <p:nvCxnSpPr>
          <p:cNvPr id="13" name="Arrow: 2 · Model chooses a  → 3 · Execute scoped t"/>
          <p:cNvCxnSpPr>
            <a:stCxn id="5" idx="3"/>
            <a:endCxn id="6" idx="1"/>
          </p:cNvCxnSpPr>
          <p:nvPr/>
        </p:nvCxnSpPr>
        <p:spPr>
          <a:xfrm>
            <a:off x="7620000" y="1873250"/>
            <a:ext cx="1016000" cy="1"/>
          </a:xfrm>
          <a:prstGeom prst="line">
            <a:avLst/>
          </a:prstGeom>
          <a:ln w="25400">
            <a:solidFill>
              <a:srgbClr val="6B6258"/>
            </a:solidFill>
            <a:headEnd type="triangle" w="med" len="med"/>
            <a:tailEnd type="triangle" w="med" len="med"/>
          </a:ln>
        </p:spPr>
      </p:cxnSp>
      <p:cxnSp>
        <p:nvCxnSpPr>
          <p:cNvPr id="14" name="Arrow: 2 · Model chooses a  → 4 · Ground and verif"/>
          <p:cNvCxnSpPr>
            <a:stCxn id="5" idx="2"/>
            <a:endCxn id="8" idx="0"/>
          </p:cNvCxnSpPr>
          <p:nvPr/>
        </p:nvCxnSpPr>
        <p:spPr>
          <a:xfrm>
            <a:off x="6096000" y="2476500"/>
            <a:ext cx="1" cy="508000"/>
          </a:xfrm>
          <a:prstGeom prst="line">
            <a:avLst/>
          </a:prstGeom>
          <a:ln w="25400">
            <a:solidFill>
              <a:srgbClr val="6B6258"/>
            </a:solidFill>
            <a:tailEnd type="triangle" w="med" len="med"/>
          </a:ln>
        </p:spPr>
      </p:cxnSp>
      <p:cxnSp>
        <p:nvCxnSpPr>
          <p:cNvPr id="15" name="Arrow: 4 · Ground and verif → 5 · Recheck current "/>
          <p:cNvCxnSpPr>
            <a:stCxn id="8" idx="3"/>
            <a:endCxn id="9" idx="1"/>
          </p:cNvCxnSpPr>
          <p:nvPr/>
        </p:nvCxnSpPr>
        <p:spPr>
          <a:xfrm>
            <a:off x="7620000" y="3587750"/>
            <a:ext cx="1016000" cy="1"/>
          </a:xfrm>
          <a:prstGeom prst="line">
            <a:avLst/>
          </a:prstGeom>
          <a:ln w="25400">
            <a:solidFill>
              <a:srgbClr val="6B6258"/>
            </a:solidFill>
            <a:tailEnd type="triangle" w="med" len="med"/>
          </a:ln>
        </p:spPr>
      </p:cxnSp>
      <p:cxnSp>
        <p:nvCxnSpPr>
          <p:cNvPr id="16" name="Arrow: 5 · Recheck current  → 6 · Persist and disp"/>
          <p:cNvCxnSpPr>
            <a:stCxn id="9" idx="2"/>
            <a:endCxn id="10" idx="0"/>
          </p:cNvCxnSpPr>
          <p:nvPr/>
        </p:nvCxnSpPr>
        <p:spPr>
          <a:xfrm>
            <a:off x="10160000" y="4191000"/>
            <a:ext cx="1" cy="508000"/>
          </a:xfrm>
          <a:prstGeom prst="line">
            <a:avLst/>
          </a:prstGeom>
          <a:ln w="25400">
            <a:solidFill>
              <a:srgbClr val="6B6258"/>
            </a:solidFill>
            <a:tailEnd type="triangle" w="med" len="med"/>
          </a:ln>
        </p:spPr>
      </p:cxnSp>
      <p:sp>
        <p:nvSpPr>
          <p:cNvPr id="17" name="Text: tool calls,"/>
          <p:cNvSpPr txBox="1"/>
          <p:nvPr/>
        </p:nvSpPr>
        <p:spPr>
          <a:xfrm>
            <a:off x="7620000" y="1244600"/>
            <a:ext cx="1016000" cy="381000"/>
          </a:xfrm>
          <a:prstGeom prst="rect">
            <a:avLst/>
          </a:prstGeom>
          <a:noFill/>
        </p:spPr>
        <p:txBody>
          <a:bodyPr wrap="square" anchor="t" lIns="0" rIns="0" tIns="0" bIns="0"/>
          <a:lstStyle/>
          <a:p>
            <a:pPr algn="ctr">
              <a:spcAft>
                <a:spcPts val="405"/>
              </a:spcAft>
            </a:pPr>
            <a:r>
              <a:rPr sz="900" b="0">
                <a:solidFill>
                  <a:srgbClr val="6B6258"/>
                </a:solidFill>
                <a:latin typeface="Nunito"/>
              </a:rPr>
              <a:t>tool calls,</a:t>
            </a:r>
          </a:p>
          <a:p>
            <a:pPr algn="ctr">
              <a:spcAft>
                <a:spcPts val="225"/>
              </a:spcAft>
            </a:pPr>
            <a:r>
              <a:rPr sz="900" b="0">
                <a:solidFill>
                  <a:srgbClr val="6B6258"/>
                </a:solidFill>
                <a:latin typeface="Nunito"/>
              </a:rPr>
              <a:t>facts back</a:t>
            </a:r>
          </a:p>
        </p:txBody>
      </p:sp>
      <p:sp>
        <p:nvSpPr>
          <p:cNvPr id="18" name="Text: cited draft"/>
          <p:cNvSpPr txBox="1"/>
          <p:nvPr/>
        </p:nvSpPr>
        <p:spPr>
          <a:xfrm>
            <a:off x="6134100" y="2540000"/>
            <a:ext cx="1651000" cy="381000"/>
          </a:xfrm>
          <a:prstGeom prst="rect">
            <a:avLst/>
          </a:prstGeom>
          <a:noFill/>
        </p:spPr>
        <p:txBody>
          <a:bodyPr wrap="square" anchor="t" lIns="0" rIns="0" tIns="0" bIns="0"/>
          <a:lstStyle/>
          <a:p>
            <a:pPr algn="l">
              <a:spcAft>
                <a:spcPts val="405"/>
              </a:spcAft>
            </a:pPr>
            <a:r>
              <a:rPr sz="900" b="0">
                <a:solidFill>
                  <a:srgbClr val="6B6258"/>
                </a:solidFill>
                <a:latin typeface="Nunito"/>
              </a:rPr>
              <a:t>cited draft</a:t>
            </a:r>
          </a:p>
          <a:p>
            <a:pPr algn="l">
              <a:spcAft>
                <a:spcPts val="225"/>
              </a:spcAft>
            </a:pPr>
            <a:r>
              <a:rPr sz="900" b="0">
                <a:solidFill>
                  <a:srgbClr val="6B6258"/>
                </a:solidFill>
                <a:latin typeface="Nunito"/>
              </a:rPr>
              <a:t>when ready</a:t>
            </a:r>
          </a:p>
        </p:txBody>
      </p:sp>
      <p:sp>
        <p:nvSpPr>
          <p:cNvPr id="19" name="Text: Loop budgets: 8 model steps · 24 tool ca"/>
          <p:cNvSpPr txBox="1"/>
          <p:nvPr/>
        </p:nvSpPr>
        <p:spPr>
          <a:xfrm>
            <a:off x="508000" y="4762500"/>
            <a:ext cx="7493000" cy="381000"/>
          </a:xfrm>
          <a:prstGeom prst="rect">
            <a:avLst/>
          </a:prstGeom>
          <a:noFill/>
        </p:spPr>
        <p:txBody>
          <a:bodyPr wrap="square" anchor="t" lIns="0" rIns="0" tIns="0" bIns="0"/>
          <a:lstStyle/>
          <a:p>
            <a:pPr algn="l">
              <a:spcAft>
                <a:spcPts val="630"/>
              </a:spcAft>
            </a:pPr>
            <a:r>
              <a:rPr sz="1400" b="1">
                <a:solidFill>
                  <a:srgbClr val="2A2320"/>
                </a:solidFill>
                <a:latin typeface="Nunito"/>
              </a:rPr>
              <a:t>Loop budgets: 8 model steps · 24 tool calls · 90 seconds</a:t>
            </a:r>
          </a:p>
        </p:txBody>
      </p:sp>
      <p:sp>
        <p:nvSpPr>
          <p:cNvPr id="20" name="Text: Time checked between calls; provider tim"/>
          <p:cNvSpPr txBox="1"/>
          <p:nvPr/>
        </p:nvSpPr>
        <p:spPr>
          <a:xfrm>
            <a:off x="508000" y="5156200"/>
            <a:ext cx="7493000" cy="1270000"/>
          </a:xfrm>
          <a:prstGeom prst="rect">
            <a:avLst/>
          </a:prstGeom>
          <a:noFill/>
        </p:spPr>
        <p:txBody>
          <a:bodyPr wrap="square" anchor="t" lIns="0" rIns="0" tIns="0" bIns="0"/>
          <a:lstStyle/>
          <a:p>
            <a:pPr algn="l">
              <a:spcAft>
                <a:spcPts val="495"/>
              </a:spcAft>
            </a:pPr>
            <a:r>
              <a:rPr sz="1100" b="0">
                <a:solidFill>
                  <a:srgbClr val="6B6258"/>
                </a:solidFill>
                <a:latin typeface="Nunito"/>
              </a:rPr>
              <a:t>Time checked between calls; provider timeout 30 s. Verifier is separate.</a:t>
            </a:r>
          </a:p>
          <a:p>
            <a:pPr algn="l">
              <a:spcAft>
                <a:spcPts val="275"/>
              </a:spcAft>
            </a:pPr>
            <a:r>
              <a:rPr sz="1100" b="0">
                <a:solidFill>
                  <a:srgbClr val="6B6258"/>
                </a:solidFill>
                <a:latin typeface="Nunito"/>
              </a:rPr>
              <a:t>Failed drafts use related facts when available; blocked/stale requests show no answer.</a:t>
            </a:r>
          </a:p>
          <a:p>
            <a:pPr algn="l">
              <a:spcAft>
                <a:spcPts val="275"/>
              </a:spcAft>
            </a:pPr>
            <a:r>
              <a:rPr sz="1100" b="0">
                <a:solidFill>
                  <a:srgbClr val="6B6258"/>
                </a:solidFill>
                <a:latin typeface="Nunito"/>
              </a:rPr>
              <a:t>The trail shows actions, not hidden reasoning. Verification is not clinical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Text: Safety policy has the final say"/>
          <p:cNvSpPr txBox="1"/>
          <p:nvPr/>
        </p:nvSpPr>
        <p:spPr>
          <a:xfrm>
            <a:off x="508000" y="292100"/>
            <a:ext cx="11176000" cy="444500"/>
          </a:xfrm>
          <a:prstGeom prst="rect">
            <a:avLst/>
          </a:prstGeom>
          <a:noFill/>
        </p:spPr>
        <p:txBody>
          <a:bodyPr wrap="square" anchor="t" lIns="0" rIns="0" tIns="0" bIns="0"/>
          <a:lstStyle/>
          <a:p>
            <a:pPr algn="l">
              <a:spcAft>
                <a:spcPts val="1215"/>
              </a:spcAft>
            </a:pPr>
            <a:r>
              <a:rPr sz="2700" b="1">
                <a:solidFill>
                  <a:srgbClr val="2A2320"/>
                </a:solidFill>
                <a:latin typeface="Nunito"/>
              </a:rPr>
              <a:t>Safety policy has the final say</a:t>
            </a:r>
          </a:p>
        </p:txBody>
      </p:sp>
      <p:sp>
        <p:nvSpPr>
          <p:cNvPr id="3" name="Text: Challenge 2 · Scenario 1: mental health "/>
          <p:cNvSpPr txBox="1"/>
          <p:nvPr/>
        </p:nvSpPr>
        <p:spPr>
          <a:xfrm>
            <a:off x="508000" y="774700"/>
            <a:ext cx="11176000" cy="254000"/>
          </a:xfrm>
          <a:prstGeom prst="rect">
            <a:avLst/>
          </a:prstGeom>
          <a:noFill/>
        </p:spPr>
        <p:txBody>
          <a:bodyPr wrap="square" anchor="t" lIns="0" rIns="0" tIns="0" bIns="0"/>
          <a:lstStyle/>
          <a:p>
            <a:pPr algn="l">
              <a:spcAft>
                <a:spcPts val="585"/>
              </a:spcAft>
            </a:pPr>
            <a:r>
              <a:rPr sz="1300" b="0">
                <a:solidFill>
                  <a:srgbClr val="6B6258"/>
                </a:solidFill>
                <a:latin typeface="Nunito"/>
              </a:rPr>
              <a:t>Challenge 2 · Scenario 1: mental health maintenance for working adults on antidepressants</a:t>
            </a:r>
          </a:p>
        </p:txBody>
      </p:sp>
      <p:sp>
        <p:nvSpPr>
          <p:cNvPr id="4" name="Box: Patient input"/>
          <p:cNvSpPr/>
          <p:nvPr/>
        </p:nvSpPr>
        <p:spPr>
          <a:xfrm>
            <a:off x="508000" y="1270000"/>
            <a:ext cx="2660650" cy="1270000"/>
          </a:xfrm>
          <a:prstGeom prst="roundRect">
            <a:avLst>
              <a:gd name="adj" fmla="val 11000"/>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Patient input</a:t>
            </a:r>
          </a:p>
          <a:p>
            <a:pPr algn="l">
              <a:spcAft>
                <a:spcPts val="275"/>
              </a:spcAft>
            </a:pPr>
            <a:r>
              <a:rPr sz="1100" b="0">
                <a:solidFill>
                  <a:srgbClr val="2A2320"/>
                </a:solidFill>
                <a:latin typeface="Nunito"/>
              </a:rPr>
              <a:t>Typed notes and medication questions</a:t>
            </a:r>
          </a:p>
          <a:p>
            <a:pPr algn="l">
              <a:spcAft>
                <a:spcPts val="275"/>
              </a:spcAft>
            </a:pPr>
            <a:r>
              <a:rPr sz="1100" b="0">
                <a:solidFill>
                  <a:srgbClr val="2A2320"/>
                </a:solidFill>
                <a:latin typeface="Nunito"/>
              </a:rPr>
              <a:t>Safety-relevant path first</a:t>
            </a:r>
          </a:p>
        </p:txBody>
      </p:sp>
      <p:sp>
        <p:nvSpPr>
          <p:cNvPr id="5" name="Box: Safety gate + proposals"/>
          <p:cNvSpPr/>
          <p:nvPr/>
        </p:nvSpPr>
        <p:spPr>
          <a:xfrm>
            <a:off x="3346450" y="1270000"/>
            <a:ext cx="2660650" cy="1270000"/>
          </a:xfrm>
          <a:prstGeom prst="roundRect">
            <a:avLst>
              <a:gd name="adj" fmla="val 11000"/>
            </a:avLst>
          </a:prstGeom>
          <a:solidFill>
            <a:srgbClr val="E8E1F3"/>
          </a:solidFill>
          <a:ln>
            <a:noFill/>
          </a:ln>
        </p:spPr>
        <p:txBody>
          <a:bodyPr rtlCol="0" anchor="t" wrap="square" lIns="152400" rIns="152400" tIns="152400" bIns="152400"/>
          <a:lstStyle/>
          <a:p>
            <a:pPr algn="l">
              <a:spcAft>
                <a:spcPts val="607"/>
              </a:spcAft>
            </a:pPr>
            <a:r>
              <a:rPr sz="1350" b="1">
                <a:solidFill>
                  <a:srgbClr val="2A2320"/>
                </a:solidFill>
                <a:latin typeface="Nunito"/>
              </a:rPr>
              <a:t>Safety gate + proposals</a:t>
            </a:r>
          </a:p>
          <a:p>
            <a:pPr algn="l">
              <a:spcAft>
                <a:spcPts val="275"/>
              </a:spcAft>
            </a:pPr>
            <a:r>
              <a:rPr sz="1100" b="0">
                <a:solidFill>
                  <a:srgbClr val="2A2320"/>
                </a:solidFill>
                <a:latin typeface="Nunito"/>
              </a:rPr>
              <a:t>Demo fixtures or rules + model</a:t>
            </a:r>
          </a:p>
          <a:p>
            <a:pPr algn="l">
              <a:spcAft>
                <a:spcPts val="275"/>
              </a:spcAft>
            </a:pPr>
            <a:r>
              <a:rPr sz="1100" b="0">
                <a:solidFill>
                  <a:srgbClr val="2A2320"/>
                </a:solidFill>
                <a:latin typeface="Nunito"/>
              </a:rPr>
              <a:t>Raise-only detector proposals</a:t>
            </a:r>
          </a:p>
        </p:txBody>
      </p:sp>
      <p:sp>
        <p:nvSpPr>
          <p:cNvPr id="6" name="Box: Deterministic safety controller"/>
          <p:cNvSpPr/>
          <p:nvPr/>
        </p:nvSpPr>
        <p:spPr>
          <a:xfrm>
            <a:off x="618490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Deterministic safety controller</a:t>
            </a:r>
          </a:p>
          <a:p>
            <a:pPr algn="l">
              <a:spcAft>
                <a:spcPts val="275"/>
              </a:spcAft>
            </a:pPr>
            <a:r>
              <a:rPr sz="1100" b="0">
                <a:solidFill>
                  <a:srgbClr val="2A2320"/>
                </a:solidFill>
                <a:latin typeface="Nunito"/>
              </a:rPr>
              <a:t>T0–T4 transitions and actions</a:t>
            </a:r>
          </a:p>
          <a:p>
            <a:pPr algn="l">
              <a:spcAft>
                <a:spcPts val="275"/>
              </a:spcAft>
            </a:pPr>
            <a:r>
              <a:rPr sz="1100" b="0">
                <a:solidFill>
                  <a:srgbClr val="2A2320"/>
                </a:solidFill>
                <a:latin typeface="Nunito"/>
              </a:rPr>
              <a:t>Fail closed when degraded</a:t>
            </a:r>
          </a:p>
        </p:txBody>
      </p:sp>
      <p:sp>
        <p:nvSpPr>
          <p:cNvPr id="7" name="Box: Registry + built-in bundle"/>
          <p:cNvSpPr/>
          <p:nvPr/>
        </p:nvSpPr>
        <p:spPr>
          <a:xfrm>
            <a:off x="9023350" y="1270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Registry + built-in bundle</a:t>
            </a:r>
          </a:p>
          <a:p>
            <a:pPr algn="l">
              <a:spcAft>
                <a:spcPts val="275"/>
              </a:spcAft>
            </a:pPr>
            <a:r>
              <a:rPr sz="1100" b="0">
                <a:solidFill>
                  <a:srgbClr val="2A2320"/>
                </a:solidFill>
                <a:latin typeface="Nunito"/>
              </a:rPr>
              <a:t>Lookup failure: built-in fallback</a:t>
            </a:r>
          </a:p>
          <a:p>
            <a:pPr algn="l">
              <a:spcAft>
                <a:spcPts val="275"/>
              </a:spcAft>
            </a:pPr>
            <a:r>
              <a:rPr sz="1100" b="0">
                <a:solidFill>
                  <a:srgbClr val="2A2320"/>
                </a:solidFill>
                <a:latin typeface="Nunito"/>
              </a:rPr>
              <a:t>Stale/unverified: visible + notice</a:t>
            </a:r>
          </a:p>
        </p:txBody>
      </p:sp>
      <p:sp>
        <p:nvSpPr>
          <p:cNvPr id="8" name="Box: Longitudinal communication"/>
          <p:cNvSpPr/>
          <p:nvPr/>
        </p:nvSpPr>
        <p:spPr>
          <a:xfrm>
            <a:off x="3346450" y="3048000"/>
            <a:ext cx="2660650" cy="1270000"/>
          </a:xfrm>
          <a:prstGeom prst="roundRect">
            <a:avLst>
              <a:gd name="adj" fmla="val 11000"/>
            </a:avLst>
          </a:prstGeom>
          <a:solidFill>
            <a:srgbClr val="DCEEF7"/>
          </a:solidFill>
          <a:ln>
            <a:noFill/>
          </a:ln>
        </p:spPr>
        <p:txBody>
          <a:bodyPr rtlCol="0" anchor="t" wrap="square" lIns="152400" rIns="152400" tIns="152400" bIns="152400"/>
          <a:lstStyle/>
          <a:p>
            <a:pPr algn="l">
              <a:spcAft>
                <a:spcPts val="607"/>
              </a:spcAft>
            </a:pPr>
            <a:r>
              <a:rPr sz="1350" b="1">
                <a:solidFill>
                  <a:srgbClr val="2A2320"/>
                </a:solidFill>
                <a:latin typeface="Nunito"/>
              </a:rPr>
              <a:t>Longitudinal communication</a:t>
            </a:r>
          </a:p>
          <a:p>
            <a:pPr algn="l">
              <a:spcAft>
                <a:spcPts val="275"/>
              </a:spcAft>
            </a:pPr>
            <a:r>
              <a:rPr sz="1100" b="0">
                <a:solidFill>
                  <a:srgbClr val="2A2320"/>
                </a:solidFill>
                <a:latin typeface="Nunito"/>
              </a:rPr>
              <a:t>Stay quiet / check in / clarify</a:t>
            </a:r>
          </a:p>
          <a:p>
            <a:pPr algn="l">
              <a:spcAft>
                <a:spcPts val="275"/>
              </a:spcAft>
            </a:pPr>
            <a:r>
              <a:rPr sz="1100" b="0">
                <a:solidFill>
                  <a:srgbClr val="2A2320"/>
                </a:solidFill>
                <a:latin typeface="Nunito"/>
              </a:rPr>
              <a:t>Describes personal changes</a:t>
            </a:r>
          </a:p>
        </p:txBody>
      </p:sp>
      <p:sp>
        <p:nvSpPr>
          <p:cNvPr id="9" name="Box: Safety overrides ordinary messages"/>
          <p:cNvSpPr/>
          <p:nvPr/>
        </p:nvSpPr>
        <p:spPr>
          <a:xfrm>
            <a:off x="618490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562"/>
              </a:spcAft>
            </a:pPr>
            <a:r>
              <a:rPr sz="1250" b="1">
                <a:solidFill>
                  <a:srgbClr val="2A2320"/>
                </a:solidFill>
                <a:latin typeface="Nunito"/>
              </a:rPr>
              <a:t>Safety overrides ordinary messages</a:t>
            </a:r>
          </a:p>
          <a:p>
            <a:pPr algn="l">
              <a:spcAft>
                <a:spcPts val="275"/>
              </a:spcAft>
            </a:pPr>
            <a:r>
              <a:rPr sz="1100" b="0">
                <a:solidFill>
                  <a:srgbClr val="2A2320"/>
                </a:solidFill>
                <a:latin typeface="Nunito"/>
              </a:rPr>
              <a:t>Applies the authoritative state</a:t>
            </a:r>
          </a:p>
          <a:p>
            <a:pPr algn="l">
              <a:spcAft>
                <a:spcPts val="275"/>
              </a:spcAft>
            </a:pPr>
            <a:r>
              <a:rPr sz="1100" b="0">
                <a:solidFill>
                  <a:srgbClr val="2A2320"/>
                </a:solidFill>
                <a:latin typeface="Nunito"/>
              </a:rPr>
              <a:t>The app does not assign tiers</a:t>
            </a:r>
          </a:p>
        </p:txBody>
      </p:sp>
      <p:sp>
        <p:nvSpPr>
          <p:cNvPr id="10" name="Box: Pinned safety resources"/>
          <p:cNvSpPr/>
          <p:nvPr/>
        </p:nvSpPr>
        <p:spPr>
          <a:xfrm>
            <a:off x="9023350" y="3048000"/>
            <a:ext cx="2660650" cy="1270000"/>
          </a:xfrm>
          <a:prstGeom prst="roundRect">
            <a:avLst>
              <a:gd name="adj" fmla="val 11000"/>
            </a:avLst>
          </a:prstGeom>
          <a:solidFill>
            <a:srgbClr val="FDE3DF"/>
          </a:solidFill>
          <a:ln>
            <a:noFill/>
          </a:ln>
        </p:spPr>
        <p:txBody>
          <a:bodyPr rtlCol="0" anchor="t" wrap="square" lIns="152400" rIns="152400" tIns="152400" bIns="152400"/>
          <a:lstStyle/>
          <a:p>
            <a:pPr algn="l">
              <a:spcAft>
                <a:spcPts val="607"/>
              </a:spcAft>
            </a:pPr>
            <a:r>
              <a:rPr sz="1350" b="1">
                <a:solidFill>
                  <a:srgbClr val="2A2320"/>
                </a:solidFill>
                <a:latin typeface="Nunito"/>
              </a:rPr>
              <a:t>Pinned safety resources</a:t>
            </a:r>
          </a:p>
          <a:p>
            <a:pPr algn="l">
              <a:spcAft>
                <a:spcPts val="275"/>
              </a:spcAft>
            </a:pPr>
            <a:r>
              <a:rPr sz="1100" b="0">
                <a:solidFill>
                  <a:srgbClr val="2A2320"/>
                </a:solidFill>
                <a:latin typeface="Nunito"/>
              </a:rPr>
              <a:t>Shown outside generated text</a:t>
            </a:r>
          </a:p>
          <a:p>
            <a:pPr algn="l">
              <a:spcAft>
                <a:spcPts val="275"/>
              </a:spcAft>
            </a:pPr>
            <a:r>
              <a:rPr sz="1100" b="0">
                <a:solidFill>
                  <a:srgbClr val="2A2320"/>
                </a:solidFill>
                <a:latin typeface="Nunito"/>
              </a:rPr>
              <a:t>Resource rendering uses no model</a:t>
            </a:r>
          </a:p>
        </p:txBody>
      </p:sp>
      <p:sp>
        <p:nvSpPr>
          <p:cNvPr id="11" name="Box: Render the allowed interaction"/>
          <p:cNvSpPr/>
          <p:nvPr/>
        </p:nvSpPr>
        <p:spPr>
          <a:xfrm>
            <a:off x="6184900" y="4826000"/>
            <a:ext cx="2660650" cy="1333500"/>
          </a:xfrm>
          <a:prstGeom prst="roundRect">
            <a:avLst>
              <a:gd name="adj" fmla="val 10476"/>
            </a:avLst>
          </a:prstGeom>
          <a:solidFill>
            <a:srgbClr val="F3F0EA"/>
          </a:solidFill>
          <a:ln>
            <a:noFill/>
          </a:ln>
        </p:spPr>
        <p:txBody>
          <a:bodyPr rtlCol="0" anchor="t" wrap="square" lIns="152400" rIns="152400" tIns="152400" bIns="152400"/>
          <a:lstStyle/>
          <a:p>
            <a:pPr algn="l">
              <a:spcAft>
                <a:spcPts val="607"/>
              </a:spcAft>
            </a:pPr>
            <a:r>
              <a:rPr sz="1350" b="1">
                <a:solidFill>
                  <a:srgbClr val="2A2320"/>
                </a:solidFill>
                <a:latin typeface="Nunito"/>
              </a:rPr>
              <a:t>Render the allowed interaction</a:t>
            </a:r>
          </a:p>
          <a:p>
            <a:pPr algn="l">
              <a:spcAft>
                <a:spcPts val="262"/>
              </a:spcAft>
            </a:pPr>
            <a:r>
              <a:rPr sz="1050" b="0">
                <a:solidFill>
                  <a:srgbClr val="2A2320"/>
                </a:solidFill>
                <a:latin typeface="Nunito"/>
              </a:rPr>
              <a:t>Approved wording + checks</a:t>
            </a:r>
          </a:p>
          <a:p>
            <a:pPr algn="l">
              <a:spcAft>
                <a:spcPts val="262"/>
              </a:spcAft>
            </a:pPr>
            <a:r>
              <a:rPr sz="1050" b="0">
                <a:solidFill>
                  <a:srgbClr val="2A2320"/>
                </a:solidFill>
                <a:latin typeface="Nunito"/>
              </a:rPr>
              <a:t>T4 / offline / degraded:</a:t>
            </a:r>
          </a:p>
          <a:p>
            <a:pPr algn="l">
              <a:spcAft>
                <a:spcPts val="262"/>
              </a:spcAft>
            </a:pPr>
            <a:r>
              <a:rPr sz="1050" b="0">
                <a:solidFill>
                  <a:srgbClr val="2A2320"/>
                </a:solidFill>
                <a:latin typeface="Nunito"/>
              </a:rPr>
              <a:t>fixed wording</a:t>
            </a:r>
          </a:p>
        </p:txBody>
      </p:sp>
      <p:cxnSp>
        <p:nvCxnSpPr>
          <p:cNvPr id="12" name="Arrow: Patient input → Safety gate + propos"/>
          <p:cNvCxnSpPr>
            <a:stCxn id="4" idx="3"/>
            <a:endCxn id="5" idx="1"/>
          </p:cNvCxnSpPr>
          <p:nvPr/>
        </p:nvCxnSpPr>
        <p:spPr>
          <a:xfrm>
            <a:off x="3168650" y="1905000"/>
            <a:ext cx="177800" cy="1"/>
          </a:xfrm>
          <a:prstGeom prst="line">
            <a:avLst/>
          </a:prstGeom>
          <a:ln w="25400">
            <a:solidFill>
              <a:srgbClr val="6B6258"/>
            </a:solidFill>
            <a:tailEnd type="triangle" w="med" len="med"/>
          </a:ln>
        </p:spPr>
      </p:cxnSp>
      <p:cxnSp>
        <p:nvCxnSpPr>
          <p:cNvPr id="13" name="Arrow: Safety gate + propos → Deterministic safety"/>
          <p:cNvCxnSpPr>
            <a:stCxn id="5" idx="3"/>
            <a:endCxn id="6" idx="1"/>
          </p:cNvCxnSpPr>
          <p:nvPr/>
        </p:nvCxnSpPr>
        <p:spPr>
          <a:xfrm>
            <a:off x="6007100" y="1905000"/>
            <a:ext cx="177800" cy="1"/>
          </a:xfrm>
          <a:prstGeom prst="line">
            <a:avLst/>
          </a:prstGeom>
          <a:ln w="25400">
            <a:solidFill>
              <a:srgbClr val="6B6258"/>
            </a:solidFill>
            <a:tailEnd type="triangle" w="med" len="med"/>
          </a:ln>
        </p:spPr>
      </p:cxnSp>
      <p:cxnSp>
        <p:nvCxnSpPr>
          <p:cNvPr id="14" name="Arrow: Deterministic safety → Registry + built-in "/>
          <p:cNvCxnSpPr>
            <a:stCxn id="6" idx="3"/>
            <a:endCxn id="7" idx="1"/>
          </p:cNvCxnSpPr>
          <p:nvPr/>
        </p:nvCxnSpPr>
        <p:spPr>
          <a:xfrm>
            <a:off x="8845550" y="1905000"/>
            <a:ext cx="177800" cy="1"/>
          </a:xfrm>
          <a:prstGeom prst="line">
            <a:avLst/>
          </a:prstGeom>
          <a:ln w="25400">
            <a:solidFill>
              <a:srgbClr val="6B6258"/>
            </a:solidFill>
            <a:tailEnd type="triangle" w="med" len="med"/>
          </a:ln>
        </p:spPr>
      </p:cxnSp>
      <p:cxnSp>
        <p:nvCxnSpPr>
          <p:cNvPr id="15" name="Arrow: Deterministic safety → Safety overrides ord"/>
          <p:cNvCxnSpPr>
            <a:stCxn id="6" idx="2"/>
            <a:endCxn id="9" idx="0"/>
          </p:cNvCxnSpPr>
          <p:nvPr/>
        </p:nvCxnSpPr>
        <p:spPr>
          <a:xfrm>
            <a:off x="7515225" y="2540000"/>
            <a:ext cx="1" cy="508000"/>
          </a:xfrm>
          <a:prstGeom prst="line">
            <a:avLst/>
          </a:prstGeom>
          <a:ln w="25400">
            <a:solidFill>
              <a:srgbClr val="6B6258"/>
            </a:solidFill>
            <a:tailEnd type="triangle" w="med" len="med"/>
          </a:ln>
        </p:spPr>
      </p:cxnSp>
      <p:cxnSp>
        <p:nvCxnSpPr>
          <p:cNvPr id="16" name="Arrow: Longitudinal communi → Safety overrides ord"/>
          <p:cNvCxnSpPr>
            <a:stCxn id="8" idx="3"/>
            <a:endCxn id="9" idx="1"/>
          </p:cNvCxnSpPr>
          <p:nvPr/>
        </p:nvCxnSpPr>
        <p:spPr>
          <a:xfrm>
            <a:off x="6007100" y="3683000"/>
            <a:ext cx="177800" cy="1"/>
          </a:xfrm>
          <a:prstGeom prst="line">
            <a:avLst/>
          </a:prstGeom>
          <a:ln w="25400">
            <a:solidFill>
              <a:srgbClr val="6B6258"/>
            </a:solidFill>
            <a:tailEnd type="triangle" w="med" len="med"/>
          </a:ln>
        </p:spPr>
      </p:cxnSp>
      <p:cxnSp>
        <p:nvCxnSpPr>
          <p:cNvPr id="17" name="Arrow: Registry + built-in  → Pinned safety resour"/>
          <p:cNvCxnSpPr>
            <a:stCxn id="7" idx="2"/>
            <a:endCxn id="10" idx="0"/>
          </p:cNvCxnSpPr>
          <p:nvPr/>
        </p:nvCxnSpPr>
        <p:spPr>
          <a:xfrm>
            <a:off x="10353675" y="2540000"/>
            <a:ext cx="1" cy="508000"/>
          </a:xfrm>
          <a:prstGeom prst="line">
            <a:avLst/>
          </a:prstGeom>
          <a:ln w="25400">
            <a:solidFill>
              <a:srgbClr val="6B6258"/>
            </a:solidFill>
            <a:tailEnd type="triangle" w="med" len="med"/>
          </a:ln>
        </p:spPr>
      </p:cxnSp>
      <p:cxnSp>
        <p:nvCxnSpPr>
          <p:cNvPr id="18" name="Arrow: Safety overrides ord → Render the allowed i"/>
          <p:cNvCxnSpPr>
            <a:stCxn id="9" idx="2"/>
            <a:endCxn id="11" idx="0"/>
          </p:cNvCxnSpPr>
          <p:nvPr/>
        </p:nvCxnSpPr>
        <p:spPr>
          <a:xfrm>
            <a:off x="7515225" y="4318000"/>
            <a:ext cx="1" cy="508000"/>
          </a:xfrm>
          <a:prstGeom prst="line">
            <a:avLst/>
          </a:prstGeom>
          <a:ln w="25400">
            <a:solidFill>
              <a:srgbClr val="6B6258"/>
            </a:solidFill>
            <a:tailEnd type="triangle" w="med" len="med"/>
          </a:ln>
        </p:spPr>
      </p:cxnSp>
      <p:sp>
        <p:nvSpPr>
          <p:cNvPr id="19" name="Text: The patient can't dismiss safety content"/>
          <p:cNvSpPr txBox="1"/>
          <p:nvPr/>
        </p:nvSpPr>
        <p:spPr>
          <a:xfrm>
            <a:off x="508000" y="4826000"/>
            <a:ext cx="5334000" cy="1206500"/>
          </a:xfrm>
          <a:prstGeom prst="rect">
            <a:avLst/>
          </a:prstGeom>
          <a:noFill/>
        </p:spPr>
        <p:txBody>
          <a:bodyPr wrap="square" anchor="t" lIns="0" rIns="0" tIns="0" bIns="0"/>
          <a:lstStyle/>
          <a:p>
            <a:pPr algn="l">
              <a:spcAft>
                <a:spcPts val="540"/>
              </a:spcAft>
            </a:pPr>
            <a:r>
              <a:rPr sz="1200" b="0">
                <a:solidFill>
                  <a:srgbClr val="2A2320"/>
                </a:solidFill>
                <a:latin typeface="Nunito"/>
              </a:rPr>
              <a:t>The patient can't dismiss safety content. The clinician sees the same state when they open the record. No alerts are sent in this prototype.</a:t>
            </a:r>
          </a:p>
          <a:p>
            <a:pPr algn="l">
              <a:spcAft>
                <a:spcPts val="262"/>
              </a:spcAft>
            </a:pPr>
            <a:r>
              <a:rPr sz="1050" b="0">
                <a:solidFill>
                  <a:srgbClr val="6B6258"/>
                </a:solidFill>
                <a:latin typeface="Nunito"/>
              </a:rPr>
              <a:t>Assessment may call a model; failure holds input and restricts ordinary output.</a:t>
            </a:r>
          </a:p>
          <a:p>
            <a:pPr algn="l">
              <a:spcAft>
                <a:spcPts val="262"/>
              </a:spcAft>
            </a:pPr>
            <a:r>
              <a:rPr sz="1050" b="0">
                <a:solidFill>
                  <a:srgbClr val="6B6258"/>
                </a:solidFill>
                <a:latin typeface="Nunito"/>
              </a:rPr>
              <a:t>Resources need review · no emergency monitoring or suicide-risk determination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
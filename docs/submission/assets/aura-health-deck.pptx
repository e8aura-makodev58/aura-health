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a:t>
            </a:r>
          </a:p>
          <a:p/>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2 · The problem — 0:25–0:55</a:t>
            </a:r>
          </a:p>
          <a:p/>
          <a:p>
            <a:r>
              <a:t>[Slide: three short lines.]</a:t>
            </a:r>
          </a:p>
          <a:p/>
          <a:p>
            <a:r>
              <a:t>"Staying well on an antidepressant happens mostly between appointments. A dose gets missed, sleep drifts later, a flu knocks you out for a few days. Most apps ask you to log your mood every evening, which is hard when you're tired or low. And when the appointment comes, it's all pieced together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3.)</a:t>
            </a:r>
          </a:p>
          <a:p/>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4 · My medication, my day — 1:35–2:35</a:t>
            </a:r>
          </a:p>
          <a:p/>
          <a:p>
            <a:r>
              <a:t>[Screen: Today's dose → tap Skipped → "What got in the way?" → Side effects.]</a:t>
            </a:r>
          </a:p>
          <a:p/>
          <a:p>
            <a:r>
              <a:t>"Every morning there's one tap: taken, not yet, or skipped. If it's skipped, AURA asks what got in the way, because that's what's worth bringing to a doctor. My medication explains the person's own prescription in plain words: what it's for, how it's usually taken, what patient leaflets say about a missed dose. These answers come from approved information, not made up by AI, and they always point back to the pharmacist."</a:t>
            </a:r>
          </a:p>
          <a:p/>
          <a:p>
            <a:r>
              <a:t>[Then type in Ask a question: "Can I take ibuprofen with it?"]</a:t>
            </a:r>
          </a:p>
          <a:p/>
          <a:p>
            <a:r>
              <a:t>"And when AURA can't answer, it says so: I'm not able to identify that medication, please check with your pharmacist. Exactly what the challenge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5 · Ready for the appointment — 2:35–3:05</a:t>
            </a:r>
          </a:p>
          <a:p/>
          <a:p>
            <a:r>
              <a:t>[Screen: Prepare for my appointment → missed doses → Not sent.]</a:t>
            </a:r>
          </a:p>
          <a:p/>
          <a:p>
            <a:r>
              <a:t>"Before the visit, everything is in one place: what changed, when, and the missed dose with its reason, ready to discuss with the doctor or pharmacist. Nothing is sent automatically. It stays Not sent until the patient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6 · What the clinician sees — the agent at work — 3:05–4:10</a:t>
            </a:r>
          </a:p>
          <a:p/>
          <a:p>
            <a:r>
              <a:t>[Screen: Clinician → assessment cards → Ask about this record:]</a:t>
            </a:r>
          </a:p>
          <a:p/>
          <a:p>
            <a:r>
              <a:t>"If the patient shares, their clinician sees what changed and when, with exact values and sources. And the clinician can ask. Here AURA works as an agent: it decides which signals, tools and dates to look at, reads the record, and drafts an answer where every statement cites its source. A second, independent check then reviews each statement and removes anything unsupported. How AURA looked shows exactly what it did. It can only read; it never changes the record or the treatment."</a:t>
            </a:r>
          </a:p>
          <a:p/>
          <a:p>
            <a:r>
              <a:t>[If it falls back:]</a:t>
            </a:r>
          </a:p>
          <a:p/>
          <a:p>
            <a:r>
              <a:t>"This time the draft didn't pass the checks, so AURA shows the related facts and says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7 · Something changes — 4:10–4:50</a:t>
            </a:r>
          </a:p>
          <a:p/>
          <a:p>
            <a:r>
              <a:t>[Screen: guided story step 9 → simulated flu → the patient home with the new summary and a small idea for today.]</a:t>
            </a:r>
          </a:p>
          <a:p/>
          <a:p>
            <a:r>
              <a:t>"Now a flu, simulated over three days. AURA notices resting heart rate is higher than in the person's recent records, and says exactly that: a recent change, not a change from their usual. And when a change shows up, it offers a small idea for today: a short walk, a message to someone you trust, or planning a session. Optional, never about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8 · Safety first — 4:50–5:15</a:t>
            </a:r>
          </a:p>
          <a:p/>
          <a:p>
            <a:r>
              <a:t>[Screen: finish card → Show the safety example → the note box opens with A worrying message (masked on screen) → Send to AURA → safety panel → the card explains, with Reset the demo.]</a:t>
            </a:r>
          </a:p>
          <a:p/>
          <a:p>
            <a:r>
              <a:t>"Anything a patient types is safety-checked first. If there's a concern, fixed safety resources take over the screen and the AI steps back. Those messages are never AI-written, and the patient can't dismiss them. The clinician sees the same safety state when they open the record. This prototype doesn't send alerts: who is told, and how fast, is for the care team to decide. The same applies to medication questions: asking to double a dose goes to safety, not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10 · Fit with the challenge — 6:00–6:25</a:t>
            </a:r>
          </a:p>
          <a:p/>
          <a:p>
            <a:r>
              <a:t>[Slide: six features: built / partial / next (from `../submission/CHALLENGE_MAPPING.md`).]</a:t>
            </a:r>
          </a:p>
          <a:p/>
          <a:p>
            <a:r>
              <a:t>"Against the challenge: medication understanding, adherence with barriers, health tracking, follow-up dates for refills and medication reviews, and appointment preparation are in the demo. Push reminders, screenings and pharmacist-reviewed content come next. One choice is deliberate: AURA describes changes; it doesn't predict relapse or give medication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11 · How we built it — 6:25–6:45</a:t>
            </a:r>
          </a:p>
          <a:p/>
          <a:p>
            <a:r>
              <a:t>[Slide: how we built it (core first, AI development tools, reviews and tests).]</a:t>
            </a:r>
          </a:p>
          <a:p/>
          <a:p>
            <a:r>
              <a:t>"We built the safety and personal-baseline core first, then the agent, then the experience, using AI development tools including Tencent's CodeBuddy and Miora, working from written specs, with every change reviewed and tested. Our tip: write down what must never change before asking an AI to build anything."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12.)</a:t>
            </a:r>
          </a:p>
          <a:p/>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762000" y="2425700"/>
            <a:ext cx="5262372" cy="822960"/>
          </a:xfrm>
          <a:prstGeom prst="rect">
            <a:avLst/>
          </a:prstGeom>
          <a:noFill/>
        </p:spPr>
        <p:txBody>
          <a:bodyPr wrap="square" anchor="t" lIns="0" rIns="0" tIns="0" bIns="0"/>
          <a:lstStyle/>
          <a:p>
            <a:pPr algn="l">
              <a:lnSpc>
                <a:spcPts val="6480"/>
              </a:lnSpc>
            </a:pPr>
            <a:r>
              <a:rPr sz="6000" b="1" spc="-120">
                <a:solidFill>
                  <a:srgbClr val="2A2320"/>
                </a:solidFill>
                <a:latin typeface="Nunito"/>
              </a:rPr>
              <a:t>AURA Health</a:t>
            </a:r>
          </a:p>
        </p:txBody>
      </p:sp>
      <p:sp>
        <p:nvSpPr>
          <p:cNvPr id="4" name="Text: A calm companion between doctor visits"/>
          <p:cNvSpPr txBox="1"/>
          <p:nvPr/>
        </p:nvSpPr>
        <p:spPr>
          <a:xfrm>
            <a:off x="762000" y="3388320"/>
            <a:ext cx="5262372" cy="405130"/>
          </a:xfrm>
          <a:prstGeom prst="rect">
            <a:avLst/>
          </a:prstGeom>
          <a:noFill/>
        </p:spPr>
        <p:txBody>
          <a:bodyPr wrap="square" anchor="t" lIns="0" rIns="0" tIns="0" bIns="0"/>
          <a:lstStyle/>
          <a:p>
            <a:pPr algn="l">
              <a:lnSpc>
                <a:spcPts val="3190"/>
              </a:lnSpc>
            </a:pPr>
            <a:r>
              <a:rPr sz="2200" b="0">
                <a:solidFill>
                  <a:srgbClr val="2A2320"/>
                </a:solidFill>
                <a:latin typeface="Nunito"/>
              </a:rPr>
              <a:t>A calm companion between doctor visits</a:t>
            </a:r>
          </a:p>
        </p:txBody>
      </p:sp>
      <p:sp>
        <p:nvSpPr>
          <p:cNvPr id="5" name="Text: Healthcare track · Challenge Statement 2"/>
          <p:cNvSpPr txBox="1"/>
          <p:nvPr/>
        </p:nvSpPr>
        <p:spPr>
          <a:xfrm>
            <a:off x="939800" y="4225230"/>
            <a:ext cx="4265168" cy="222250"/>
          </a:xfrm>
          <a:prstGeom prst="rect">
            <a:avLst/>
          </a:prstGeom>
          <a:noFill/>
        </p:spPr>
        <p:txBody>
          <a:bodyPr wrap="square" anchor="t" lIns="0" rIns="0" tIns="0" bIns="0"/>
          <a:lstStyle/>
          <a:p>
            <a:pPr algn="l">
              <a:lnSpc>
                <a:spcPts val="1560"/>
              </a:lnSpc>
            </a:pPr>
            <a:r>
              <a:rPr sz="1300" b="1">
                <a:solidFill>
                  <a:srgbClr val="2A2320"/>
                </a:solidFill>
                <a:latin typeface="Nunito"/>
              </a:rPr>
              <a:t>Healthcare track · Challenge Statement 2 · Scenario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OUR CHOSEN CASE STUD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OUR CHOSEN CASE STUDY</a:t>
            </a:r>
          </a:p>
        </p:txBody>
      </p:sp>
      <p:sp>
        <p:nvSpPr>
          <p:cNvPr id="5" name="Text: Challenge Statement 2 · AI Healthier Eve"/>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Challenge Statement 2 · AI Healthier Every Day</a:t>
            </a:r>
          </a:p>
        </p:txBody>
      </p:sp>
      <p:sp>
        <p:nvSpPr>
          <p:cNvPr id="6" name="Text: Scenario 1 · Mental health maintenance f"/>
          <p:cNvSpPr txBox="1"/>
          <p:nvPr/>
        </p:nvSpPr>
        <p:spPr>
          <a:xfrm>
            <a:off x="609600" y="1764010"/>
            <a:ext cx="11252200" cy="331470"/>
          </a:xfrm>
          <a:prstGeom prst="rect">
            <a:avLst/>
          </a:prstGeom>
          <a:noFill/>
        </p:spPr>
        <p:txBody>
          <a:bodyPr wrap="square" anchor="t" lIns="0" rIns="0" tIns="0" bIns="0"/>
          <a:lstStyle/>
          <a:p>
            <a:pPr algn="l">
              <a:lnSpc>
                <a:spcPts val="2610"/>
              </a:lnSpc>
            </a:pPr>
            <a:r>
              <a:rPr sz="1800" b="0">
                <a:solidFill>
                  <a:srgbClr val="4A413B"/>
                </a:solidFill>
                <a:latin typeface="Nunito"/>
              </a:rPr>
              <a:t>Scenario 1 · Mental health maintenance for working adults on antidepressants</a:t>
            </a:r>
          </a:p>
        </p:txBody>
      </p:sp>
      <p:sp>
        <p:nvSpPr>
          <p:cNvPr id="7" name="Text: “How might we build an AI-powered health"/>
          <p:cNvSpPr txBox="1"/>
          <p:nvPr/>
        </p:nvSpPr>
        <p:spPr>
          <a:xfrm>
            <a:off x="952500" y="2514500"/>
            <a:ext cx="9931400" cy="1131391"/>
          </a:xfrm>
          <a:prstGeom prst="rect">
            <a:avLst/>
          </a:prstGeom>
          <a:noFill/>
        </p:spPr>
        <p:txBody>
          <a:bodyPr wrap="square" anchor="t" lIns="0" rIns="0" tIns="0" bIns="0"/>
          <a:lstStyle/>
          <a:p>
            <a:pPr algn="l">
              <a:lnSpc>
                <a:spcPts val="2970"/>
              </a:lnSpc>
            </a:pPr>
            <a:r>
              <a:rPr sz="2200" b="1">
                <a:solidFill>
                  <a:srgbClr val="2A2320"/>
                </a:solidFill>
                <a:latin typeface="Nunito"/>
              </a:rPr>
              <a:t>“How might we build an AI-powered health companion that helps people understand and manage their medications, stay on track with their care, and take greater ownership of their long-term health?”</a:t>
            </a:r>
          </a:p>
        </p:txBody>
      </p:sp>
      <p:sp>
        <p:nvSpPr>
          <p:cNvPr id="8" name="Text: Problem statement · Healthcare track, NT"/>
          <p:cNvSpPr txBox="1"/>
          <p:nvPr/>
        </p:nvSpPr>
        <p:spPr>
          <a:xfrm>
            <a:off x="952500" y="3810992"/>
            <a:ext cx="11080496" cy="248920"/>
          </a:xfrm>
          <a:prstGeom prst="rect">
            <a:avLst/>
          </a:prstGeom>
          <a:noFill/>
        </p:spPr>
        <p:txBody>
          <a:bodyPr wrap="square" anchor="t" lIns="0" rIns="0" tIns="0" bIns="0"/>
          <a:lstStyle/>
          <a:p>
            <a:pPr algn="l">
              <a:lnSpc>
                <a:spcPts val="1960"/>
              </a:lnSpc>
            </a:pPr>
            <a:r>
              <a:rPr sz="1400" b="0">
                <a:solidFill>
                  <a:srgbClr val="4A413B"/>
                </a:solidFill>
                <a:latin typeface="Nunito"/>
              </a:rPr>
              <a:t>Problem statement · Healthcare track, NTU Lee Kong Chian School of Medicine</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THE PROBLEM"/>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THE PROBLEM</a:t>
            </a:r>
          </a:p>
        </p:txBody>
      </p:sp>
      <p:sp>
        <p:nvSpPr>
          <p:cNvPr id="5" name="Text: Staying well happens between appointment"/>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Staying well happens between appointments</a:t>
            </a:r>
          </a:p>
        </p:txBody>
      </p:sp>
      <p:sp>
        <p:nvSpPr>
          <p:cNvPr id="6" name="Text: A dose gets missed, sleep drifts later, "/>
          <p:cNvSpPr txBox="1"/>
          <p:nvPr/>
        </p:nvSpPr>
        <p:spPr>
          <a:xfrm>
            <a:off x="876300" y="1967210"/>
            <a:ext cx="6893560" cy="284480"/>
          </a:xfrm>
          <a:prstGeom prst="rect">
            <a:avLst/>
          </a:prstGeom>
          <a:noFill/>
        </p:spPr>
        <p:txBody>
          <a:bodyPr wrap="square" anchor="t" lIns="0" rIns="0" tIns="0" bIns="0"/>
          <a:lstStyle/>
          <a:p>
            <a:pPr algn="l">
              <a:lnSpc>
                <a:spcPts val="2240"/>
              </a:lnSpc>
            </a:pPr>
            <a:r>
              <a:rPr sz="1600" b="0">
                <a:solidFill>
                  <a:srgbClr val="2A2320"/>
                </a:solidFill>
                <a:latin typeface="Nunito"/>
              </a:rPr>
              <a:t>A dose gets missed, sleep drifts later, a flu knocks you out for a few days.</a:t>
            </a:r>
          </a:p>
        </p:txBody>
      </p:sp>
      <p:sp>
        <p:nvSpPr>
          <p:cNvPr id="7" name="Text: Most apps ask you to log your mood every"/>
          <p:cNvSpPr txBox="1"/>
          <p:nvPr/>
        </p:nvSpPr>
        <p:spPr>
          <a:xfrm>
            <a:off x="876300" y="2416770"/>
            <a:ext cx="8333232" cy="568920"/>
          </a:xfrm>
          <a:prstGeom prst="rect">
            <a:avLst/>
          </a:prstGeom>
          <a:noFill/>
        </p:spPr>
        <p:txBody>
          <a:bodyPr wrap="square" anchor="t" lIns="0" rIns="0" tIns="0" bIns="0"/>
          <a:lstStyle/>
          <a:p>
            <a:pPr algn="l">
              <a:lnSpc>
                <a:spcPts val="2240"/>
              </a:lnSpc>
            </a:pPr>
            <a:r>
              <a:rPr sz="1600" b="0">
                <a:solidFill>
                  <a:srgbClr val="2A2320"/>
                </a:solidFill>
                <a:latin typeface="Nunito"/>
              </a:rPr>
              <a:t>Most apps ask you to log your mood every evening, which is hard when you are tired or low.</a:t>
            </a:r>
          </a:p>
        </p:txBody>
      </p:sp>
      <p:sp>
        <p:nvSpPr>
          <p:cNvPr id="8" name="Text: When the appointment comes, it is all pi"/>
          <p:cNvSpPr txBox="1"/>
          <p:nvPr/>
        </p:nvSpPr>
        <p:spPr>
          <a:xfrm>
            <a:off x="876300" y="3150790"/>
            <a:ext cx="6470904" cy="284480"/>
          </a:xfrm>
          <a:prstGeom prst="rect">
            <a:avLst/>
          </a:prstGeom>
          <a:noFill/>
        </p:spPr>
        <p:txBody>
          <a:bodyPr wrap="square" anchor="t" lIns="0" rIns="0" tIns="0" bIns="0"/>
          <a:lstStyle/>
          <a:p>
            <a:pPr algn="l">
              <a:lnSpc>
                <a:spcPts val="2240"/>
              </a:lnSpc>
            </a:pPr>
            <a:r>
              <a:rPr sz="1600" b="0">
                <a:solidFill>
                  <a:srgbClr val="2A2320"/>
                </a:solidFill>
                <a:latin typeface="Nunito"/>
              </a:rPr>
              <a:t>When the appointment comes, it is all pieced together from memory.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AURA DOES"/>
          <p:cNvSpPr txBox="1"/>
          <p:nvPr/>
        </p:nvSpPr>
        <p:spPr>
          <a:xfrm>
            <a:off x="609600" y="952500"/>
            <a:ext cx="4199128"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AURA DOES</a:t>
            </a:r>
          </a:p>
        </p:txBody>
      </p:sp>
      <p:sp>
        <p:nvSpPr>
          <p:cNvPr id="5" name="Text: A calm companion between doctor visits"/>
          <p:cNvSpPr txBox="1"/>
          <p:nvPr/>
        </p:nvSpPr>
        <p:spPr>
          <a:xfrm>
            <a:off x="609600" y="1384300"/>
            <a:ext cx="4199128"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calm companion between doctor visits</a:t>
            </a:r>
          </a:p>
        </p:txBody>
      </p:sp>
      <p:sp>
        <p:nvSpPr>
          <p:cNvPr id="6" name="Text: Reads everyday wearable data quietly"/>
          <p:cNvSpPr txBox="1"/>
          <p:nvPr/>
        </p:nvSpPr>
        <p:spPr>
          <a:xfrm>
            <a:off x="876300" y="2512020"/>
            <a:ext cx="3631184" cy="284480"/>
          </a:xfrm>
          <a:prstGeom prst="rect">
            <a:avLst/>
          </a:prstGeom>
          <a:noFill/>
        </p:spPr>
        <p:txBody>
          <a:bodyPr wrap="square" anchor="t" lIns="0" rIns="0" tIns="0" bIns="0"/>
          <a:lstStyle/>
          <a:p>
            <a:pPr algn="l">
              <a:lnSpc>
                <a:spcPts val="2240"/>
              </a:lnSpc>
            </a:pPr>
            <a:r>
              <a:rPr sz="1600" b="0">
                <a:solidFill>
                  <a:srgbClr val="2A2320"/>
                </a:solidFill>
                <a:latin typeface="Nunito"/>
              </a:rPr>
              <a:t>Reads everyday wearable data quietly</a:t>
            </a:r>
          </a:p>
        </p:txBody>
      </p:sp>
      <p:sp>
        <p:nvSpPr>
          <p:cNvPr id="7" name="Text: Compares it with this person's own usual"/>
          <p:cNvSpPr txBox="1"/>
          <p:nvPr/>
        </p:nvSpPr>
        <p:spPr>
          <a:xfrm>
            <a:off x="876300" y="2961580"/>
            <a:ext cx="3921760" cy="568920"/>
          </a:xfrm>
          <a:prstGeom prst="rect">
            <a:avLst/>
          </a:prstGeom>
          <a:noFill/>
        </p:spPr>
        <p:txBody>
          <a:bodyPr wrap="square" anchor="t" lIns="0" rIns="0" tIns="0" bIns="0"/>
          <a:lstStyle/>
          <a:p>
            <a:pPr algn="l">
              <a:lnSpc>
                <a:spcPts val="2240"/>
              </a:lnSpc>
            </a:pPr>
            <a:r>
              <a:rPr sz="1600" b="0">
                <a:solidFill>
                  <a:srgbClr val="2A2320"/>
                </a:solidFill>
                <a:latin typeface="Nunito"/>
              </a:rPr>
              <a:t>Compares it with </a:t>
            </a:r>
            <a:r>
              <a:rPr sz="1600" b="1">
                <a:solidFill>
                  <a:srgbClr val="2A2320"/>
                </a:solidFill>
                <a:latin typeface="Nunito"/>
              </a:rPr>
              <a:t>this person's own usual</a:t>
            </a:r>
            <a:r>
              <a:rPr sz="1600" b="0">
                <a:solidFill>
                  <a:srgbClr val="2A2320"/>
                </a:solidFill>
                <a:latin typeface="Nunito"/>
              </a:rPr>
              <a:t>, not a population average</a:t>
            </a:r>
          </a:p>
        </p:txBody>
      </p:sp>
      <p:sp>
        <p:nvSpPr>
          <p:cNvPr id="8" name="Text: A calm view for the patient; a clear “wh"/>
          <p:cNvSpPr txBox="1"/>
          <p:nvPr/>
        </p:nvSpPr>
        <p:spPr>
          <a:xfrm>
            <a:off x="876300" y="3695600"/>
            <a:ext cx="3921760" cy="853380"/>
          </a:xfrm>
          <a:prstGeom prst="rect">
            <a:avLst/>
          </a:prstGeom>
          <a:noFill/>
        </p:spPr>
        <p:txBody>
          <a:bodyPr wrap="square" anchor="t" lIns="0" rIns="0" tIns="0" bIns="0"/>
          <a:lstStyle/>
          <a:p>
            <a:pPr algn="l">
              <a:lnSpc>
                <a:spcPts val="2240"/>
              </a:lnSpc>
            </a:pPr>
            <a:r>
              <a:rPr sz="1600" b="0">
                <a:solidFill>
                  <a:srgbClr val="2A2320"/>
                </a:solidFill>
                <a:latin typeface="Nunito"/>
              </a:rPr>
              <a:t>A calm view for the patient; a clear “what changed and when” for the clinician they share with</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A CALM START"/>
          <p:cNvSpPr txBox="1"/>
          <p:nvPr/>
        </p:nvSpPr>
        <p:spPr>
          <a:xfrm>
            <a:off x="609600" y="952500"/>
            <a:ext cx="372364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A CALM START</a:t>
            </a:r>
          </a:p>
        </p:txBody>
      </p:sp>
      <p:sp>
        <p:nvSpPr>
          <p:cNvPr id="5" name="Text: A breath, not a dashboard"/>
          <p:cNvSpPr txBox="1"/>
          <p:nvPr/>
        </p:nvSpPr>
        <p:spPr>
          <a:xfrm>
            <a:off x="609600" y="1384300"/>
            <a:ext cx="372364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breath, not a dashboard</a:t>
            </a:r>
          </a:p>
        </p:txBody>
      </p:sp>
      <p:sp>
        <p:nvSpPr>
          <p:cNvPr id="6" name="Text: Then one short summary, written by AI fr"/>
          <p:cNvSpPr txBox="1"/>
          <p:nvPr/>
        </p:nvSpPr>
        <p:spPr>
          <a:xfrm>
            <a:off x="609600" y="2448520"/>
            <a:ext cx="3723640" cy="995362"/>
          </a:xfrm>
          <a:prstGeom prst="rect">
            <a:avLst/>
          </a:prstGeom>
          <a:noFill/>
        </p:spPr>
        <p:txBody>
          <a:bodyPr wrap="square" anchor="t" lIns="0" rIns="0" tIns="0" bIns="0"/>
          <a:lstStyle/>
          <a:p>
            <a:pPr algn="l">
              <a:lnSpc>
                <a:spcPts val="1960"/>
              </a:lnSpc>
            </a:pPr>
            <a:r>
              <a:rPr sz="1400" b="0">
                <a:solidFill>
                  <a:srgbClr val="4A413B"/>
                </a:solidFill>
                <a:latin typeface="Nunito"/>
              </a:rPr>
              <a:t>Then one short summary, </a:t>
            </a:r>
            <a:r>
              <a:rPr sz="1400" b="1">
                <a:solidFill>
                  <a:srgbClr val="2A2320"/>
                </a:solidFill>
                <a:latin typeface="Nunito"/>
              </a:rPr>
              <a:t>written by AI from facts the system has checked</a:t>
            </a:r>
            <a:r>
              <a:rPr sz="1400" b="0">
                <a:solidFill>
                  <a:srgbClr val="4A413B"/>
                </a:solidFill>
                <a:latin typeface="Nunito"/>
              </a:rPr>
              <a:t>: sleep time later than usual since late February, and how the person has been checking in.</a:t>
            </a:r>
          </a:p>
        </p:txBody>
      </p:sp>
      <p:sp>
        <p:nvSpPr>
          <p:cNvPr id="7" name="Text: Take a breath"/>
          <p:cNvSpPr txBox="1"/>
          <p:nvPr/>
        </p:nvSpPr>
        <p:spPr>
          <a:xfrm>
            <a:off x="4946650" y="5392539"/>
            <a:ext cx="1148080" cy="248920"/>
          </a:xfrm>
          <a:prstGeom prst="rect">
            <a:avLst/>
          </a:prstGeom>
          <a:noFill/>
        </p:spPr>
        <p:txBody>
          <a:bodyPr wrap="square" anchor="t" lIns="0" rIns="0" tIns="0" bIns="0"/>
          <a:lstStyle/>
          <a:p>
            <a:pPr algn="l">
              <a:lnSpc>
                <a:spcPts val="1960"/>
              </a:lnSpc>
            </a:pPr>
            <a:r>
              <a:rPr sz="1400" b="0">
                <a:solidFill>
                  <a:srgbClr val="4A413B"/>
                </a:solidFill>
                <a:latin typeface="Nunito"/>
              </a:rPr>
              <a:t>Take a breath</a:t>
            </a:r>
          </a:p>
        </p:txBody>
      </p:sp>
      <p:sp>
        <p:nvSpPr>
          <p:cNvPr id="8" name="Text: One short summary"/>
          <p:cNvSpPr txBox="1"/>
          <p:nvPr/>
        </p:nvSpPr>
        <p:spPr>
          <a:xfrm>
            <a:off x="7058025" y="5392539"/>
            <a:ext cx="1669796" cy="248920"/>
          </a:xfrm>
          <a:prstGeom prst="rect">
            <a:avLst/>
          </a:prstGeom>
          <a:noFill/>
        </p:spPr>
        <p:txBody>
          <a:bodyPr wrap="square" anchor="t" lIns="0" rIns="0" tIns="0" bIns="0"/>
          <a:lstStyle/>
          <a:p>
            <a:pPr algn="l">
              <a:lnSpc>
                <a:spcPts val="1960"/>
              </a:lnSpc>
            </a:pPr>
            <a:r>
              <a:rPr sz="1400" b="0">
                <a:solidFill>
                  <a:srgbClr val="4A413B"/>
                </a:solidFill>
                <a:latin typeface="Nunito"/>
              </a:rPr>
              <a:t>One short summary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MY MEDICATION, MY DA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MY MEDICATION, MY DAY</a:t>
            </a:r>
          </a:p>
        </p:txBody>
      </p:sp>
      <p:sp>
        <p:nvSpPr>
          <p:cNvPr id="5" name="Text: One tap a day, plain answers, honest lim"/>
          <p:cNvSpPr txBox="1"/>
          <p:nvPr/>
        </p:nvSpPr>
        <p:spPr>
          <a:xfrm>
            <a:off x="609600" y="1244600"/>
            <a:ext cx="11437112" cy="363220"/>
          </a:xfrm>
          <a:prstGeom prst="rect">
            <a:avLst/>
          </a:prstGeom>
          <a:noFill/>
        </p:spPr>
        <p:txBody>
          <a:bodyPr wrap="square" anchor="t" lIns="0" rIns="0" tIns="0" bIns="0"/>
          <a:lstStyle/>
          <a:p>
            <a:pPr algn="l">
              <a:lnSpc>
                <a:spcPts val="2860"/>
              </a:lnSpc>
            </a:pPr>
            <a:r>
              <a:rPr sz="2600" b="1" spc="-39">
                <a:solidFill>
                  <a:srgbClr val="2A2320"/>
                </a:solidFill>
                <a:latin typeface="Nunito"/>
              </a:rPr>
              <a:t>One tap a day, plain answers, honest limits</a:t>
            </a:r>
          </a:p>
        </p:txBody>
      </p:sp>
      <p:sp>
        <p:nvSpPr>
          <p:cNvPr id="6" name="Text: Skipped? AURA asks what got in the way, "/>
          <p:cNvSpPr txBox="1"/>
          <p:nvPr/>
        </p:nvSpPr>
        <p:spPr>
          <a:xfrm>
            <a:off x="609600" y="3906440"/>
            <a:ext cx="3195320" cy="746521"/>
          </a:xfrm>
          <a:prstGeom prst="rect">
            <a:avLst/>
          </a:prstGeom>
          <a:noFill/>
        </p:spPr>
        <p:txBody>
          <a:bodyPr wrap="square" anchor="t" lIns="0" rIns="0" tIns="0" bIns="0"/>
          <a:lstStyle/>
          <a:p>
            <a:pPr algn="l">
              <a:lnSpc>
                <a:spcPts val="1960"/>
              </a:lnSpc>
            </a:pPr>
            <a:r>
              <a:rPr sz="1400" b="1">
                <a:solidFill>
                  <a:srgbClr val="2A2320"/>
                </a:solidFill>
                <a:latin typeface="Nunito"/>
              </a:rPr>
              <a:t>Skipped?</a:t>
            </a:r>
            <a:r>
              <a:rPr sz="1400" b="0">
                <a:solidFill>
                  <a:srgbClr val="4A413B"/>
                </a:solidFill>
                <a:latin typeface="Nunito"/>
              </a:rPr>
              <a:t> AURA asks what got in the way, because that is worth bringing to the doctor.</a:t>
            </a:r>
          </a:p>
        </p:txBody>
      </p:sp>
      <p:sp>
        <p:nvSpPr>
          <p:cNvPr id="7" name="Text: Can I take ibuprofen with it?"/>
          <p:cNvSpPr txBox="1"/>
          <p:nvPr/>
        </p:nvSpPr>
        <p:spPr>
          <a:xfrm>
            <a:off x="8255000" y="2052240"/>
            <a:ext cx="2204720" cy="222250"/>
          </a:xfrm>
          <a:prstGeom prst="rect">
            <a:avLst/>
          </a:prstGeom>
          <a:noFill/>
        </p:spPr>
        <p:txBody>
          <a:bodyPr wrap="square" anchor="t" lIns="0" rIns="0" tIns="0" bIns="0"/>
          <a:lstStyle/>
          <a:p>
            <a:pPr algn="l">
              <a:lnSpc>
                <a:spcPts val="1560"/>
              </a:lnSpc>
            </a:pPr>
            <a:r>
              <a:rPr sz="1300" b="0">
                <a:solidFill>
                  <a:srgbClr val="2A2320"/>
                </a:solidFill>
                <a:latin typeface="Nunito"/>
              </a:rPr>
              <a:t>Can I take ibuprofen with it?</a:t>
            </a:r>
          </a:p>
        </p:txBody>
      </p:sp>
      <p:sp>
        <p:nvSpPr>
          <p:cNvPr id="8" name="Text: I'm not able to identify that medication"/>
          <p:cNvSpPr txBox="1"/>
          <p:nvPr/>
        </p:nvSpPr>
        <p:spPr>
          <a:xfrm>
            <a:off x="7543800" y="2630090"/>
            <a:ext cx="2944368" cy="720030"/>
          </a:xfrm>
          <a:prstGeom prst="rect">
            <a:avLst/>
          </a:prstGeom>
          <a:noFill/>
        </p:spPr>
        <p:txBody>
          <a:bodyPr wrap="square" anchor="t" lIns="0" rIns="0" tIns="0" bIns="0"/>
          <a:lstStyle/>
          <a:p>
            <a:pPr algn="l">
              <a:lnSpc>
                <a:spcPts val="1889"/>
              </a:lnSpc>
            </a:pPr>
            <a:r>
              <a:rPr sz="1350" b="0">
                <a:solidFill>
                  <a:srgbClr val="2A2320"/>
                </a:solidFill>
                <a:latin typeface="Nunito"/>
              </a:rPr>
              <a:t>I'm not able to identify that medication, please check with your pharmacist.</a:t>
            </a:r>
          </a:p>
        </p:txBody>
      </p:sp>
      <p:sp>
        <p:nvSpPr>
          <p:cNvPr id="9" name="Text: AURA's exact reply in the live demo"/>
          <p:cNvSpPr txBox="1"/>
          <p:nvPr/>
        </p:nvSpPr>
        <p:spPr>
          <a:xfrm>
            <a:off x="7366000" y="3604121"/>
            <a:ext cx="3274568" cy="195580"/>
          </a:xfrm>
          <a:prstGeom prst="rect">
            <a:avLst/>
          </a:prstGeom>
          <a:noFill/>
        </p:spPr>
        <p:txBody>
          <a:bodyPr wrap="square" anchor="t" lIns="0" rIns="0" tIns="0" bIns="0"/>
          <a:lstStyle/>
          <a:p>
            <a:pPr algn="l">
              <a:lnSpc>
                <a:spcPts val="1540"/>
              </a:lnSpc>
            </a:pPr>
            <a:r>
              <a:rPr sz="1100" b="0">
                <a:solidFill>
                  <a:srgbClr val="4A413B"/>
                </a:solidFill>
                <a:latin typeface="Nunito"/>
              </a:rPr>
              <a:t>AURA's exact reply in the live demo</a:t>
            </a:r>
          </a:p>
        </p:txBody>
      </p:sp>
      <p:sp>
        <p:nvSpPr>
          <p:cNvPr id="10" name="Text: Answers come from approved information, "/>
          <p:cNvSpPr txBox="1"/>
          <p:nvPr/>
        </p:nvSpPr>
        <p:spPr>
          <a:xfrm>
            <a:off x="7150100" y="4155281"/>
            <a:ext cx="3723640" cy="746521"/>
          </a:xfrm>
          <a:prstGeom prst="rect">
            <a:avLst/>
          </a:prstGeom>
          <a:noFill/>
        </p:spPr>
        <p:txBody>
          <a:bodyPr wrap="square" anchor="t" lIns="0" rIns="0" tIns="0" bIns="0"/>
          <a:lstStyle/>
          <a:p>
            <a:pPr algn="l">
              <a:lnSpc>
                <a:spcPts val="1960"/>
              </a:lnSpc>
            </a:pPr>
            <a:r>
              <a:rPr sz="1400" b="0">
                <a:solidFill>
                  <a:srgbClr val="4A413B"/>
                </a:solidFill>
                <a:latin typeface="Nunito"/>
              </a:rPr>
              <a:t>Answers come from </a:t>
            </a:r>
            <a:r>
              <a:rPr sz="1400" b="1">
                <a:solidFill>
                  <a:srgbClr val="2A2320"/>
                </a:solidFill>
                <a:latin typeface="Nunito"/>
              </a:rPr>
              <a:t>approved information</a:t>
            </a:r>
            <a:r>
              <a:rPr sz="1400" b="0">
                <a:solidFill>
                  <a:srgbClr val="4A413B"/>
                </a:solidFill>
                <a:latin typeface="Nunito"/>
              </a:rPr>
              <a:t>, not made up by AI. When it can't answer, it says so.</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READY FOR THE APPOINTMENT"/>
          <p:cNvSpPr txBox="1"/>
          <p:nvPr/>
        </p:nvSpPr>
        <p:spPr>
          <a:xfrm>
            <a:off x="609600" y="952500"/>
            <a:ext cx="47802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READY FOR THE APPOINTMENT</a:t>
            </a:r>
          </a:p>
        </p:txBody>
      </p:sp>
      <p:sp>
        <p:nvSpPr>
          <p:cNvPr id="5" name="Text: Everything for the visit, in one place"/>
          <p:cNvSpPr txBox="1"/>
          <p:nvPr/>
        </p:nvSpPr>
        <p:spPr>
          <a:xfrm>
            <a:off x="609600" y="1384300"/>
            <a:ext cx="47802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Everything for the visit, in one place</a:t>
            </a:r>
          </a:p>
        </p:txBody>
      </p:sp>
      <p:sp>
        <p:nvSpPr>
          <p:cNvPr id="6" name="Text: What changed, when, and the missed dose "/>
          <p:cNvSpPr txBox="1"/>
          <p:nvPr/>
        </p:nvSpPr>
        <p:spPr>
          <a:xfrm>
            <a:off x="609600" y="2448520"/>
            <a:ext cx="478028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when, and the missed dose with its reason, ready to discuss with the doctor or pharmacist.</a:t>
            </a:r>
          </a:p>
        </p:txBody>
      </p:sp>
      <p:sp>
        <p:nvSpPr>
          <p:cNvPr id="7" name="Text: Nothing is sent automatically · Not sent"/>
          <p:cNvSpPr txBox="1"/>
          <p:nvPr/>
        </p:nvSpPr>
        <p:spPr>
          <a:xfrm>
            <a:off x="787400" y="5394027"/>
            <a:ext cx="3175508" cy="222250"/>
          </a:xfrm>
          <a:prstGeom prst="rect">
            <a:avLst/>
          </a:prstGeom>
          <a:noFill/>
        </p:spPr>
        <p:txBody>
          <a:bodyPr wrap="square" anchor="t" lIns="0" rIns="0" tIns="0" bIns="0"/>
          <a:lstStyle/>
          <a:p>
            <a:pPr algn="l">
              <a:lnSpc>
                <a:spcPts val="1560"/>
              </a:lnSpc>
            </a:pPr>
            <a:r>
              <a:rPr sz="1300" b="1">
                <a:solidFill>
                  <a:srgbClr val="2A2320"/>
                </a:solidFill>
                <a:latin typeface="Nunito"/>
              </a:rPr>
              <a:t>Nothing is sent automatically · Not sent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THE CLINICIAN SEES · THE AGENT AT W"/>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THE CLINICIAN SEES · THE AGENT AT WORK</a:t>
            </a:r>
          </a:p>
        </p:txBody>
      </p:sp>
      <p:sp>
        <p:nvSpPr>
          <p:cNvPr id="5" name="Text: It decides what to look at, cites every "/>
          <p:cNvSpPr txBox="1"/>
          <p:nvPr/>
        </p:nvSpPr>
        <p:spPr>
          <a:xfrm>
            <a:off x="609600" y="1244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It decides what to look at, cites every statement, and is checked</a:t>
            </a:r>
          </a:p>
        </p:txBody>
      </p:sp>
      <p:sp>
        <p:nvSpPr>
          <p:cNvPr id="6" name="Text: What changed and when, with exact values"/>
          <p:cNvSpPr txBox="1"/>
          <p:nvPr/>
        </p:nvSpPr>
        <p:spPr>
          <a:xfrm>
            <a:off x="609600" y="4486275"/>
            <a:ext cx="425196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and when, with exact values and sources.</a:t>
            </a:r>
          </a:p>
        </p:txBody>
      </p:sp>
      <p:sp>
        <p:nvSpPr>
          <p:cNvPr id="7" name="Text: How AURA looked: which records it read, "/>
          <p:cNvSpPr txBox="1"/>
          <p:nvPr/>
        </p:nvSpPr>
        <p:spPr>
          <a:xfrm>
            <a:off x="5099050" y="4826000"/>
            <a:ext cx="6801104" cy="668535"/>
          </a:xfrm>
          <a:prstGeom prst="rect">
            <a:avLst/>
          </a:prstGeom>
          <a:noFill/>
        </p:spPr>
        <p:txBody>
          <a:bodyPr wrap="square" anchor="t" lIns="0" rIns="0" tIns="0" bIns="0"/>
          <a:lstStyle/>
          <a:p>
            <a:pPr algn="l">
              <a:lnSpc>
                <a:spcPts val="1755"/>
              </a:lnSpc>
            </a:pPr>
            <a:r>
              <a:rPr sz="1300" b="1">
                <a:solidFill>
                  <a:srgbClr val="2A2320"/>
                </a:solidFill>
                <a:latin typeface="Nunito"/>
              </a:rPr>
              <a:t>How AURA looked</a:t>
            </a:r>
            <a:r>
              <a:rPr sz="1300" b="0">
                <a:solidFill>
                  <a:srgbClr val="2A2320"/>
                </a:solidFill>
                <a:latin typeface="Nunito"/>
              </a:rPr>
              <a:t>: which records it read, then “A second check reviewed 3 statements; all supported”. It can only read; it never changes the record or the treatment.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OMETHING CHANGES"/>
          <p:cNvSpPr txBox="1"/>
          <p:nvPr/>
        </p:nvSpPr>
        <p:spPr>
          <a:xfrm>
            <a:off x="609600" y="952500"/>
            <a:ext cx="39878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SOMETHING CHANGES</a:t>
            </a:r>
          </a:p>
        </p:txBody>
      </p:sp>
      <p:sp>
        <p:nvSpPr>
          <p:cNvPr id="5" name="Text: A simulated three-day flu"/>
          <p:cNvSpPr txBox="1"/>
          <p:nvPr/>
        </p:nvSpPr>
        <p:spPr>
          <a:xfrm>
            <a:off x="609600" y="1384300"/>
            <a:ext cx="39878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simulated three-day flu</a:t>
            </a:r>
          </a:p>
        </p:txBody>
      </p:sp>
      <p:sp>
        <p:nvSpPr>
          <p:cNvPr id="6" name="Text: AURA notices resting heart rate is highe"/>
          <p:cNvSpPr txBox="1"/>
          <p:nvPr/>
        </p:nvSpPr>
        <p:spPr>
          <a:xfrm>
            <a:off x="609600" y="2448520"/>
            <a:ext cx="3987800" cy="995362"/>
          </a:xfrm>
          <a:prstGeom prst="rect">
            <a:avLst/>
          </a:prstGeom>
          <a:noFill/>
        </p:spPr>
        <p:txBody>
          <a:bodyPr wrap="square" anchor="t" lIns="0" rIns="0" tIns="0" bIns="0"/>
          <a:lstStyle/>
          <a:p>
            <a:pPr algn="l">
              <a:lnSpc>
                <a:spcPts val="1960"/>
              </a:lnSpc>
            </a:pPr>
            <a:r>
              <a:rPr sz="1400" b="0">
                <a:solidFill>
                  <a:srgbClr val="4A413B"/>
                </a:solidFill>
                <a:latin typeface="Nunito"/>
              </a:rPr>
              <a:t>AURA notices resting heart rate is higher than in the person's </a:t>
            </a:r>
            <a:r>
              <a:rPr sz="1400" b="1">
                <a:solidFill>
                  <a:srgbClr val="2A2320"/>
                </a:solidFill>
                <a:latin typeface="Nunito"/>
              </a:rPr>
              <a:t>recent</a:t>
            </a:r>
            <a:r>
              <a:rPr sz="1400" b="0">
                <a:solidFill>
                  <a:srgbClr val="4A413B"/>
                </a:solidFill>
                <a:latin typeface="Nunito"/>
              </a:rPr>
              <a:t> records, and says exactly that: a recent change, not a change from their usual.</a:t>
            </a:r>
          </a:p>
        </p:txBody>
      </p:sp>
      <p:sp>
        <p:nvSpPr>
          <p:cNvPr id="7" name="Text: When a change shows up, it offers a smal"/>
          <p:cNvSpPr txBox="1"/>
          <p:nvPr/>
        </p:nvSpPr>
        <p:spPr>
          <a:xfrm>
            <a:off x="609600" y="3583582"/>
            <a:ext cx="3987800" cy="497681"/>
          </a:xfrm>
          <a:prstGeom prst="rect">
            <a:avLst/>
          </a:prstGeom>
          <a:noFill/>
        </p:spPr>
        <p:txBody>
          <a:bodyPr wrap="square" anchor="t" lIns="0" rIns="0" tIns="0" bIns="0"/>
          <a:lstStyle/>
          <a:p>
            <a:pPr algn="l">
              <a:lnSpc>
                <a:spcPts val="1960"/>
              </a:lnSpc>
            </a:pPr>
            <a:r>
              <a:rPr sz="1400" b="0">
                <a:solidFill>
                  <a:srgbClr val="4A413B"/>
                </a:solidFill>
                <a:latin typeface="Nunito"/>
              </a:rPr>
              <a:t>When a change shows up, it offers </a:t>
            </a:r>
            <a:r>
              <a:rPr sz="1400" b="1">
                <a:solidFill>
                  <a:srgbClr val="2A2320"/>
                </a:solidFill>
                <a:latin typeface="Nunito"/>
              </a:rPr>
              <a:t>a small idea for today</a:t>
            </a:r>
            <a:r>
              <a:rPr sz="1400" b="0">
                <a:solidFill>
                  <a:srgbClr val="4A413B"/>
                </a:solidFill>
                <a:latin typeface="Nunito"/>
              </a:rPr>
              <a:t>. Optional, never about medication.</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AFETY FIRST"/>
          <p:cNvSpPr txBox="1"/>
          <p:nvPr/>
        </p:nvSpPr>
        <p:spPr>
          <a:xfrm>
            <a:off x="609600" y="952500"/>
            <a:ext cx="54406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SAFETY FIRST</a:t>
            </a:r>
          </a:p>
        </p:txBody>
      </p:sp>
      <p:sp>
        <p:nvSpPr>
          <p:cNvPr id="5" name="Text: Anything a patient types is safety-check"/>
          <p:cNvSpPr txBox="1"/>
          <p:nvPr/>
        </p:nvSpPr>
        <p:spPr>
          <a:xfrm>
            <a:off x="609600" y="1384300"/>
            <a:ext cx="54406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Anything a patient types is safety-checked first</a:t>
            </a:r>
          </a:p>
        </p:txBody>
      </p:sp>
      <p:sp>
        <p:nvSpPr>
          <p:cNvPr id="6" name="Text: If there is a concern, fixed safety reso"/>
          <p:cNvSpPr txBox="1"/>
          <p:nvPr/>
        </p:nvSpPr>
        <p:spPr>
          <a:xfrm>
            <a:off x="876300" y="2512020"/>
            <a:ext cx="5163312" cy="853380"/>
          </a:xfrm>
          <a:prstGeom prst="rect">
            <a:avLst/>
          </a:prstGeom>
          <a:noFill/>
        </p:spPr>
        <p:txBody>
          <a:bodyPr wrap="square" anchor="t" lIns="0" rIns="0" tIns="0" bIns="0"/>
          <a:lstStyle/>
          <a:p>
            <a:pPr algn="l">
              <a:lnSpc>
                <a:spcPts val="2240"/>
              </a:lnSpc>
            </a:pPr>
            <a:r>
              <a:rPr sz="1600" b="0">
                <a:solidFill>
                  <a:srgbClr val="2A2320"/>
                </a:solidFill>
                <a:latin typeface="Nunito"/>
              </a:rPr>
              <a:t>If there is a concern, fixed safety resources take over the screen and the AI steps back. They are never AI-written.</a:t>
            </a:r>
          </a:p>
        </p:txBody>
      </p:sp>
      <p:sp>
        <p:nvSpPr>
          <p:cNvPr id="7" name="Text: The patient can't dismiss them. The clin"/>
          <p:cNvSpPr txBox="1"/>
          <p:nvPr/>
        </p:nvSpPr>
        <p:spPr>
          <a:xfrm>
            <a:off x="876300" y="3530500"/>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The patient can't dismiss them. The clinician sees the same safety state when they open the record.</a:t>
            </a:r>
          </a:p>
        </p:txBody>
      </p:sp>
      <p:sp>
        <p:nvSpPr>
          <p:cNvPr id="8" name="Text: No alerts are sent in this prototype: wh"/>
          <p:cNvSpPr txBox="1"/>
          <p:nvPr/>
        </p:nvSpPr>
        <p:spPr>
          <a:xfrm>
            <a:off x="876300" y="426452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No alerts are sent in this prototype: who is told, and how fast, is for the care team to decide.</a:t>
            </a:r>
          </a:p>
        </p:txBody>
      </p:sp>
      <p:sp>
        <p:nvSpPr>
          <p:cNvPr id="9" name="Text: Asking to double a dose goes to safety, "/>
          <p:cNvSpPr txBox="1"/>
          <p:nvPr/>
        </p:nvSpPr>
        <p:spPr>
          <a:xfrm>
            <a:off x="876300" y="499854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Asking to double a dose goes to safety, not to an answer.</a:t>
            </a:r>
          </a:p>
        </p:txBody>
      </p:sp>
      <p:sp>
        <p:nvSpPr>
          <p:cNvPr id="10" name="Text: The example, masked"/>
          <p:cNvSpPr txBox="1"/>
          <p:nvPr/>
        </p:nvSpPr>
        <p:spPr>
          <a:xfrm>
            <a:off x="6343650" y="5392539"/>
            <a:ext cx="1834896" cy="248920"/>
          </a:xfrm>
          <a:prstGeom prst="rect">
            <a:avLst/>
          </a:prstGeom>
          <a:noFill/>
        </p:spPr>
        <p:txBody>
          <a:bodyPr wrap="square" anchor="t" lIns="0" rIns="0" tIns="0" bIns="0"/>
          <a:lstStyle/>
          <a:p>
            <a:pPr algn="l">
              <a:lnSpc>
                <a:spcPts val="1960"/>
              </a:lnSpc>
            </a:pPr>
            <a:r>
              <a:rPr sz="1400" b="0">
                <a:solidFill>
                  <a:srgbClr val="4A413B"/>
                </a:solidFill>
                <a:latin typeface="Nunito"/>
              </a:rPr>
              <a:t>The example, masked</a:t>
            </a:r>
          </a:p>
        </p:txBody>
      </p:sp>
      <p:sp>
        <p:nvSpPr>
          <p:cNvPr id="11" name="Text: Safety takes over"/>
          <p:cNvSpPr txBox="1"/>
          <p:nvPr/>
        </p:nvSpPr>
        <p:spPr>
          <a:xfrm>
            <a:off x="8966200" y="5392539"/>
            <a:ext cx="1451864" cy="248920"/>
          </a:xfrm>
          <a:prstGeom prst="rect">
            <a:avLst/>
          </a:prstGeom>
          <a:noFill/>
        </p:spPr>
        <p:txBody>
          <a:bodyPr wrap="square" anchor="t" lIns="0" rIns="0" tIns="0" bIns="0"/>
          <a:lstStyle/>
          <a:p>
            <a:pPr algn="l">
              <a:lnSpc>
                <a:spcPts val="1960"/>
              </a:lnSpc>
            </a:pPr>
            <a:r>
              <a:rPr sz="1400" b="0">
                <a:solidFill>
                  <a:srgbClr val="4A413B"/>
                </a:solidFill>
                <a:latin typeface="Nunito"/>
              </a:rPr>
              <a:t>Safety takes over</a:t>
            </a:r>
          </a:p>
        </p:txBody>
      </p:sp>
      <p:sp>
        <p:nvSpPr>
          <p:cNvPr id="12"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3"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 Health · system architecture"/>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 Health · system architecture</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Web experience"/>
          <p:cNvSpPr/>
          <p:nvPr/>
        </p:nvSpPr>
        <p:spPr>
          <a:xfrm>
            <a:off x="508000" y="1206500"/>
            <a:ext cx="2286000" cy="3175000"/>
          </a:xfrm>
          <a:prstGeom prst="roundRect">
            <a:avLst>
              <a:gd name="adj" fmla="val 6111"/>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Web experience</a:t>
            </a:r>
          </a:p>
        </p:txBody>
      </p:sp>
      <p:sp>
        <p:nvSpPr>
          <p:cNvPr id="5" name="Box: Python app · owns the state"/>
          <p:cNvSpPr/>
          <p:nvPr/>
        </p:nvSpPr>
        <p:spPr>
          <a:xfrm>
            <a:off x="3302000" y="1206500"/>
            <a:ext cx="3810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Python app · owns the state</a:t>
            </a:r>
          </a:p>
        </p:txBody>
      </p:sp>
      <p:sp>
        <p:nvSpPr>
          <p:cNvPr id="6" name="Box: Bounded AI · read-only"/>
          <p:cNvSpPr/>
          <p:nvPr/>
        </p:nvSpPr>
        <p:spPr>
          <a:xfrm>
            <a:off x="7620000" y="1206500"/>
            <a:ext cx="4064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Bounded AI · read-only</a:t>
            </a:r>
          </a:p>
        </p:txBody>
      </p:sp>
      <p:sp>
        <p:nvSpPr>
          <p:cNvPr id="7" name="Box: Patient companion"/>
          <p:cNvSpPr/>
          <p:nvPr/>
        </p:nvSpPr>
        <p:spPr>
          <a:xfrm>
            <a:off x="660400" y="1625600"/>
            <a:ext cx="1981200" cy="1270000"/>
          </a:xfrm>
          <a:prstGeom prst="roundRect">
            <a:avLst>
              <a:gd name="adj" fmla="val 11000"/>
            </a:avLst>
          </a:prstGeom>
          <a:solidFill>
            <a:srgbClr val="F3F0EA"/>
          </a:solidFill>
          <a:ln>
            <a:noFill/>
          </a:ln>
        </p:spPr>
        <p:txBody>
          <a:bodyPr rtlCol="0" anchor="t" wrap="square" lIns="152400" rIns="152400" tIns="152400" bIns="152400"/>
          <a:lstStyle/>
          <a:p>
            <a:pPr algn="l">
              <a:spcAft>
                <a:spcPts val="562"/>
              </a:spcAft>
            </a:pPr>
            <a:r>
              <a:rPr sz="1250" b="1">
                <a:solidFill>
                  <a:srgbClr val="2A2320"/>
                </a:solidFill>
                <a:latin typeface="Nunito"/>
              </a:rPr>
              <a:t>Patient companion</a:t>
            </a:r>
          </a:p>
          <a:p>
            <a:pPr algn="l">
              <a:spcAft>
                <a:spcPts val="250"/>
              </a:spcAft>
            </a:pPr>
            <a:r>
              <a:rPr sz="1000" b="0">
                <a:solidFill>
                  <a:srgbClr val="2A2320"/>
                </a:solidFill>
                <a:latin typeface="Nunito"/>
              </a:rPr>
              <a:t>Breath + short recap</a:t>
            </a:r>
          </a:p>
          <a:p>
            <a:pPr algn="l">
              <a:spcAft>
                <a:spcPts val="250"/>
              </a:spcAft>
            </a:pPr>
            <a:r>
              <a:rPr sz="1000" b="0">
                <a:solidFill>
                  <a:srgbClr val="2A2320"/>
                </a:solidFill>
                <a:latin typeface="Nunito"/>
              </a:rPr>
              <a:t>Today's dose + reasons</a:t>
            </a:r>
          </a:p>
          <a:p>
            <a:pPr algn="l">
              <a:spcAft>
                <a:spcPts val="250"/>
              </a:spcAft>
            </a:pPr>
            <a:r>
              <a:rPr sz="1000" b="0">
                <a:solidFill>
                  <a:srgbClr val="2A2320"/>
                </a:solidFill>
                <a:latin typeface="Nunito"/>
              </a:rPr>
              <a:t>Medication, Coming up</a:t>
            </a:r>
          </a:p>
        </p:txBody>
      </p:sp>
      <p:sp>
        <p:nvSpPr>
          <p:cNvPr id="8" name="Box: Clinician view"/>
          <p:cNvSpPr/>
          <p:nvPr/>
        </p:nvSpPr>
        <p:spPr>
          <a:xfrm>
            <a:off x="660400" y="2997200"/>
            <a:ext cx="1981200" cy="952500"/>
          </a:xfrm>
          <a:prstGeom prst="roundRect">
            <a:avLst>
              <a:gd name="adj" fmla="val 14666"/>
            </a:avLst>
          </a:prstGeom>
          <a:solidFill>
            <a:srgbClr val="F3F0EA"/>
          </a:solidFill>
          <a:ln>
            <a:noFill/>
          </a:ln>
        </p:spPr>
        <p:txBody>
          <a:bodyPr rtlCol="0" anchor="t" wrap="square" lIns="152400" rIns="152400" tIns="152400" bIns="152400"/>
          <a:lstStyle/>
          <a:p>
            <a:pPr algn="l">
              <a:spcAft>
                <a:spcPts val="562"/>
              </a:spcAft>
            </a:pPr>
            <a:r>
              <a:rPr sz="1250" b="1">
                <a:solidFill>
                  <a:srgbClr val="2A2320"/>
                </a:solidFill>
                <a:latin typeface="Nunito"/>
              </a:rPr>
              <a:t>Clinician view</a:t>
            </a:r>
          </a:p>
          <a:p>
            <a:pPr algn="l">
              <a:spcAft>
                <a:spcPts val="250"/>
              </a:spcAft>
            </a:pPr>
            <a:r>
              <a:rPr sz="1000" b="0">
                <a:solidFill>
                  <a:srgbClr val="2A2320"/>
                </a:solidFill>
                <a:latin typeface="Nunito"/>
              </a:rPr>
              <a:t>Findings with sources</a:t>
            </a:r>
          </a:p>
          <a:p>
            <a:pPr algn="l">
              <a:spcAft>
                <a:spcPts val="250"/>
              </a:spcAft>
            </a:pPr>
            <a:r>
              <a:rPr sz="1000" b="0">
                <a:solidFill>
                  <a:srgbClr val="2A2320"/>
                </a:solidFill>
                <a:latin typeface="Nunito"/>
              </a:rPr>
              <a:t>Ask about the record</a:t>
            </a:r>
          </a:p>
        </p:txBody>
      </p:sp>
      <p:sp>
        <p:nvSpPr>
          <p:cNvPr id="9" name="Text: Presentation, not policy"/>
          <p:cNvSpPr txBox="1"/>
          <p:nvPr/>
        </p:nvSpPr>
        <p:spPr>
          <a:xfrm>
            <a:off x="660400" y="4064000"/>
            <a:ext cx="1981200" cy="254000"/>
          </a:xfrm>
          <a:prstGeom prst="rect">
            <a:avLst/>
          </a:prstGeom>
          <a:noFill/>
        </p:spPr>
        <p:txBody>
          <a:bodyPr wrap="square" anchor="t" lIns="0" rIns="0" tIns="0" bIns="0"/>
          <a:lstStyle/>
          <a:p>
            <a:pPr algn="l">
              <a:spcAft>
                <a:spcPts val="472"/>
              </a:spcAft>
            </a:pPr>
            <a:r>
              <a:rPr sz="1050" b="0">
                <a:solidFill>
                  <a:srgbClr val="6B6258"/>
                </a:solidFill>
                <a:latin typeface="Nunito"/>
              </a:rPr>
              <a:t>Presentation, not policy</a:t>
            </a:r>
          </a:p>
        </p:txBody>
      </p:sp>
      <p:sp>
        <p:nvSpPr>
          <p:cNvPr id="10" name="Box: FastAPI application services"/>
          <p:cNvSpPr/>
          <p:nvPr/>
        </p:nvSpPr>
        <p:spPr>
          <a:xfrm>
            <a:off x="3454400" y="1625600"/>
            <a:ext cx="3505200" cy="711200"/>
          </a:xfrm>
          <a:prstGeom prst="roundRect">
            <a:avLst>
              <a:gd name="adj" fmla="val 19642"/>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FastAPI application services</a:t>
            </a:r>
          </a:p>
          <a:p>
            <a:pPr algn="l">
              <a:spcAft>
                <a:spcPts val="262"/>
              </a:spcAft>
            </a:pPr>
            <a:r>
              <a:rPr sz="1050" b="0">
                <a:solidFill>
                  <a:srgbClr val="2A2320"/>
                </a:solidFill>
                <a:latin typeface="Nunito"/>
              </a:rPr>
              <a:t>Consent, atomic events · SQLite repository</a:t>
            </a:r>
          </a:p>
        </p:txBody>
      </p:sp>
      <p:sp>
        <p:nvSpPr>
          <p:cNvPr id="11" name="Box: Curated medication content"/>
          <p:cNvSpPr/>
          <p:nvPr/>
        </p:nvSpPr>
        <p:spPr>
          <a:xfrm>
            <a:off x="3454400" y="2438400"/>
            <a:ext cx="3505200" cy="711200"/>
          </a:xfrm>
          <a:prstGeom prst="roundRect">
            <a:avLst>
              <a:gd name="adj" fmla="val 19642"/>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Curated medication content</a:t>
            </a:r>
          </a:p>
          <a:p>
            <a:pPr algn="l">
              <a:spcAft>
                <a:spcPts val="262"/>
              </a:spcAft>
            </a:pPr>
            <a:r>
              <a:rPr sz="1050" b="0">
                <a:solidFill>
                  <a:srgbClr val="2A2320"/>
                </a:solidFill>
                <a:latin typeface="Nunito"/>
              </a:rPr>
              <a:t>Typed questions: safety first, fixed answers</a:t>
            </a:r>
          </a:p>
        </p:txBody>
      </p:sp>
      <p:sp>
        <p:nvSpPr>
          <p:cNvPr id="12" name="Box: Safety engine"/>
          <p:cNvSpPr/>
          <p:nvPr/>
        </p:nvSpPr>
        <p:spPr>
          <a:xfrm>
            <a:off x="3454400" y="3251200"/>
            <a:ext cx="1701800" cy="952500"/>
          </a:xfrm>
          <a:prstGeom prst="roundRect">
            <a:avLst>
              <a:gd name="adj" fmla="val 14666"/>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Safety engine</a:t>
            </a:r>
          </a:p>
          <a:p>
            <a:pPr algn="l">
              <a:spcAft>
                <a:spcPts val="262"/>
              </a:spcAft>
            </a:pPr>
            <a:r>
              <a:rPr sz="1050" b="0">
                <a:solidFill>
                  <a:srgbClr val="2A2320"/>
                </a:solidFill>
                <a:latin typeface="Nunito"/>
              </a:rPr>
              <a:t>T0–T4, fails closed</a:t>
            </a:r>
          </a:p>
        </p:txBody>
      </p:sp>
      <p:sp>
        <p:nvSpPr>
          <p:cNvPr id="13" name="Box: Longitudinal"/>
          <p:cNvSpPr/>
          <p:nvPr/>
        </p:nvSpPr>
        <p:spPr>
          <a:xfrm>
            <a:off x="5257800" y="3251200"/>
            <a:ext cx="1701800" cy="952500"/>
          </a:xfrm>
          <a:prstGeom prst="roundRect">
            <a:avLst>
              <a:gd name="adj" fmla="val 14666"/>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Longitudinal</a:t>
            </a:r>
          </a:p>
          <a:p>
            <a:pPr algn="l">
              <a:spcAft>
                <a:spcPts val="262"/>
              </a:spcAft>
            </a:pPr>
            <a:r>
              <a:rPr sz="1050" b="0">
                <a:solidFill>
                  <a:srgbClr val="2A2320"/>
                </a:solidFill>
                <a:latin typeface="Nunito"/>
              </a:rPr>
              <a:t>Personal + recent baselines</a:t>
            </a:r>
          </a:p>
        </p:txBody>
      </p:sp>
      <p:sp>
        <p:nvSpPr>
          <p:cNvPr id="14" name="Box: Aura-Agent + patient-scoped tools"/>
          <p:cNvSpPr/>
          <p:nvPr/>
        </p:nvSpPr>
        <p:spPr>
          <a:xfrm>
            <a:off x="7772400" y="1625600"/>
            <a:ext cx="3759200" cy="825500"/>
          </a:xfrm>
          <a:prstGeom prst="roundRect">
            <a:avLst>
              <a:gd name="adj" fmla="val 16923"/>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Aura-Agent + patient-scoped tools</a:t>
            </a:r>
          </a:p>
          <a:p>
            <a:pPr algn="l">
              <a:spcAft>
                <a:spcPts val="262"/>
              </a:spcAft>
            </a:pPr>
            <a:r>
              <a:rPr sz="1050" b="0">
                <a:solidFill>
                  <a:srgbClr val="2A2320"/>
                </a:solidFill>
                <a:latin typeface="Nunito"/>
              </a:rPr>
              <a:t>The model chooses tools, dates and comparisons</a:t>
            </a:r>
          </a:p>
        </p:txBody>
      </p:sp>
      <p:sp>
        <p:nvSpPr>
          <p:cNvPr id="15" name="Box: Ground → verify → recheck"/>
          <p:cNvSpPr/>
          <p:nvPr/>
        </p:nvSpPr>
        <p:spPr>
          <a:xfrm>
            <a:off x="7772400" y="2832100"/>
            <a:ext cx="3759200" cy="825500"/>
          </a:xfrm>
          <a:prstGeom prst="roundRect">
            <a:avLst>
              <a:gd name="adj" fmla="val 16923"/>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Ground → verify → recheck</a:t>
            </a:r>
          </a:p>
          <a:p>
            <a:pPr algn="l">
              <a:spcAft>
                <a:spcPts val="262"/>
              </a:spcAft>
            </a:pPr>
            <a:r>
              <a:rPr sz="1050" b="0">
                <a:solidFill>
                  <a:srgbClr val="2A2320"/>
                </a:solidFill>
                <a:latin typeface="Nunito"/>
              </a:rPr>
              <a:t>Cited answer, or a labelled fallback + trace</a:t>
            </a:r>
          </a:p>
        </p:txBody>
      </p:sp>
      <p:sp>
        <p:nvSpPr>
          <p:cNvPr id="16" name="Text: Model gateway: provider configurable"/>
          <p:cNvSpPr txBox="1"/>
          <p:nvPr/>
        </p:nvSpPr>
        <p:spPr>
          <a:xfrm>
            <a:off x="7772400" y="3746500"/>
            <a:ext cx="3759200" cy="635000"/>
          </a:xfrm>
          <a:prstGeom prst="rect">
            <a:avLst/>
          </a:prstGeom>
          <a:noFill/>
        </p:spPr>
        <p:txBody>
          <a:bodyPr wrap="square" anchor="t" lIns="0" rIns="0" tIns="0" bIns="0"/>
          <a:lstStyle/>
          <a:p>
            <a:pPr algn="l">
              <a:spcAft>
                <a:spcPts val="495"/>
              </a:spcAft>
            </a:pPr>
            <a:r>
              <a:rPr sz="1100" b="1">
                <a:solidFill>
                  <a:srgbClr val="2A2320"/>
                </a:solidFill>
                <a:latin typeface="Nunito"/>
              </a:rPr>
              <a:t>Model gateway: provider configurable</a:t>
            </a:r>
          </a:p>
          <a:p>
            <a:pPr algn="l">
              <a:spcAft>
                <a:spcPts val="262"/>
              </a:spcAft>
            </a:pPr>
            <a:r>
              <a:rPr sz="1050" b="0">
                <a:solidFill>
                  <a:srgbClr val="6B6258"/>
                </a:solidFill>
                <a:latin typeface="Nunito"/>
              </a:rPr>
              <a:t>Operator picks model + reasoning level</a:t>
            </a:r>
          </a:p>
          <a:p>
            <a:pPr algn="l">
              <a:spcAft>
                <a:spcPts val="262"/>
              </a:spcAft>
            </a:pPr>
            <a:r>
              <a:rPr sz="1050" b="0">
                <a:solidFill>
                  <a:srgbClr val="6B6258"/>
                </a:solidFill>
                <a:latin typeface="Nunito"/>
              </a:rPr>
              <a:t>Synthetic data only</a:t>
            </a:r>
          </a:p>
        </p:txBody>
      </p:sp>
      <p:sp>
        <p:nvSpPr>
          <p:cNvPr id="17" name="Box: Independent safety display"/>
          <p:cNvSpPr/>
          <p:nvPr/>
        </p:nvSpPr>
        <p:spPr>
          <a:xfrm>
            <a:off x="3162300" y="4826000"/>
            <a:ext cx="228600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562"/>
              </a:spcAft>
            </a:pPr>
            <a:r>
              <a:rPr sz="1250" b="1">
                <a:solidFill>
                  <a:srgbClr val="2A2320"/>
                </a:solidFill>
                <a:latin typeface="Nunito"/>
              </a:rPr>
              <a:t>Independent safety display</a:t>
            </a:r>
          </a:p>
          <a:p>
            <a:pPr algn="l">
              <a:spcAft>
                <a:spcPts val="250"/>
              </a:spcAft>
            </a:pPr>
            <a:r>
              <a:rPr sz="1000" b="0">
                <a:solidFill>
                  <a:srgbClr val="2A2320"/>
                </a:solidFill>
                <a:latin typeface="Nunito"/>
              </a:rPr>
              <a:t>Pinned resources + fallback</a:t>
            </a:r>
          </a:p>
          <a:p>
            <a:pPr algn="l">
              <a:spcAft>
                <a:spcPts val="250"/>
              </a:spcAft>
            </a:pPr>
            <a:r>
              <a:rPr sz="1000" b="0">
                <a:solidFill>
                  <a:srgbClr val="2A2320"/>
                </a:solidFill>
                <a:latin typeface="Nunito"/>
              </a:rPr>
              <a:t>Never AI-written</a:t>
            </a:r>
          </a:p>
        </p:txBody>
      </p:sp>
      <p:sp>
        <p:nvSpPr>
          <p:cNvPr id="18" name="Box: Separate simulation plane"/>
          <p:cNvSpPr/>
          <p:nvPr/>
        </p:nvSpPr>
        <p:spPr>
          <a:xfrm>
            <a:off x="5715000" y="4826000"/>
            <a:ext cx="2667000" cy="1270000"/>
          </a:xfrm>
          <a:prstGeom prst="roundRect">
            <a:avLst>
              <a:gd name="adj" fmla="val 11000"/>
            </a:avLst>
          </a:prstGeom>
          <a:solidFill>
            <a:srgbClr val="FFF0D0"/>
          </a:solidFill>
          <a:ln>
            <a:noFill/>
          </a:ln>
        </p:spPr>
        <p:txBody>
          <a:bodyPr rtlCol="0" anchor="t" wrap="square" lIns="152400" rIns="152400" tIns="152400" bIns="152400"/>
          <a:lstStyle/>
          <a:p>
            <a:pPr algn="l">
              <a:spcAft>
                <a:spcPts val="562"/>
              </a:spcAft>
            </a:pPr>
            <a:r>
              <a:rPr sz="1250" b="1">
                <a:solidFill>
                  <a:srgbClr val="2A2320"/>
                </a:solidFill>
                <a:latin typeface="Nunito"/>
              </a:rPr>
              <a:t>Separate simulation plane</a:t>
            </a:r>
          </a:p>
          <a:p>
            <a:pPr algn="l">
              <a:spcAft>
                <a:spcPts val="250"/>
              </a:spcAft>
            </a:pPr>
            <a:r>
              <a:rPr sz="1000" b="0">
                <a:solidFill>
                  <a:srgbClr val="2A2320"/>
                </a:solidFill>
                <a:latin typeface="Nunito"/>
              </a:rPr>
              <a:t>Plans → seeded synthetic data</a:t>
            </a:r>
          </a:p>
          <a:p>
            <a:pPr algn="l">
              <a:spcAft>
                <a:spcPts val="250"/>
              </a:spcAft>
            </a:pPr>
            <a:r>
              <a:rPr sz="1000" b="0">
                <a:solidFill>
                  <a:srgbClr val="2A2320"/>
                </a:solidFill>
                <a:latin typeface="Nunito"/>
              </a:rPr>
              <a:t>Only observable events enter</a:t>
            </a:r>
          </a:p>
        </p:txBody>
      </p:sp>
      <p:cxnSp>
        <p:nvCxnSpPr>
          <p:cNvPr id="19" name="Arrow: Web experience → Python app · owns th"/>
          <p:cNvCxnSpPr>
            <a:stCxn id="4" idx="3"/>
            <a:endCxn id="5" idx="1"/>
          </p:cNvCxnSpPr>
          <p:nvPr/>
        </p:nvCxnSpPr>
        <p:spPr>
          <a:xfrm>
            <a:off x="2794000" y="2794000"/>
            <a:ext cx="508000" cy="1"/>
          </a:xfrm>
          <a:prstGeom prst="line">
            <a:avLst/>
          </a:prstGeom>
          <a:ln w="25400">
            <a:solidFill>
              <a:srgbClr val="6B6258"/>
            </a:solidFill>
            <a:headEnd type="triangle" w="med" len="med"/>
            <a:tailEnd type="triangle" w="med" len="med"/>
          </a:ln>
        </p:spPr>
      </p:cxnSp>
      <p:cxnSp>
        <p:nvCxnSpPr>
          <p:cNvPr id="20" name="Arrow: Python app · owns th → Bounded AI · read-on"/>
          <p:cNvCxnSpPr>
            <a:stCxn id="5" idx="3"/>
            <a:endCxn id="6" idx="1"/>
          </p:cNvCxnSpPr>
          <p:nvPr/>
        </p:nvCxnSpPr>
        <p:spPr>
          <a:xfrm>
            <a:off x="7112000" y="2794000"/>
            <a:ext cx="508000" cy="1"/>
          </a:xfrm>
          <a:prstGeom prst="line">
            <a:avLst/>
          </a:prstGeom>
          <a:ln w="25400">
            <a:solidFill>
              <a:srgbClr val="6B6258"/>
            </a:solidFill>
            <a:tailEnd type="triangle" w="med" len="med"/>
          </a:ln>
        </p:spPr>
      </p:cxnSp>
      <p:cxnSp>
        <p:nvCxnSpPr>
          <p:cNvPr id="21" name="Arrow: Aura-Agent + patient → Ground → verify → re"/>
          <p:cNvCxnSpPr>
            <a:stCxn id="14" idx="2"/>
            <a:endCxn id="15" idx="0"/>
          </p:cNvCxnSpPr>
          <p:nvPr/>
        </p:nvCxnSpPr>
        <p:spPr>
          <a:xfrm>
            <a:off x="9652000" y="2451100"/>
            <a:ext cx="1" cy="381000"/>
          </a:xfrm>
          <a:prstGeom prst="line">
            <a:avLst/>
          </a:prstGeom>
          <a:ln w="25400">
            <a:solidFill>
              <a:srgbClr val="6B6258"/>
            </a:solidFill>
            <a:tailEnd type="triangle" w="med" len="med"/>
          </a:ln>
        </p:spPr>
      </p:cxnSp>
      <p:cxnSp>
        <p:nvCxnSpPr>
          <p:cNvPr id="22" name="Arrow: Safety engine → Independent safety d"/>
          <p:cNvCxnSpPr>
            <a:stCxn id="12" idx="2"/>
            <a:endCxn id="17" idx="0"/>
          </p:cNvCxnSpPr>
          <p:nvPr/>
        </p:nvCxnSpPr>
        <p:spPr>
          <a:xfrm>
            <a:off x="4305300" y="4203700"/>
            <a:ext cx="1" cy="622300"/>
          </a:xfrm>
          <a:prstGeom prst="line">
            <a:avLst/>
          </a:prstGeom>
          <a:ln w="25400">
            <a:solidFill>
              <a:srgbClr val="6B6258"/>
            </a:solidFill>
            <a:tailEnd type="triangle" w="med" len="med"/>
          </a:ln>
        </p:spPr>
      </p:cxnSp>
      <p:cxnSp>
        <p:nvCxnSpPr>
          <p:cNvPr id="23" name="Arrow: Separate simulation  → Python app · owns th"/>
          <p:cNvCxnSpPr>
            <a:stCxn id="18" idx="0"/>
            <a:endCxn id="5" idx="2"/>
          </p:cNvCxnSpPr>
          <p:nvPr/>
        </p:nvCxnSpPr>
        <p:spPr>
          <a:xfrm rot="5400000" flipH="1">
            <a:off x="5905500" y="3683000"/>
            <a:ext cx="444500" cy="1841500"/>
          </a:xfrm>
          <a:prstGeom prst="bentConnector3">
            <a:avLst>
              <a:gd name="adj1" fmla="val 50000"/>
            </a:avLst>
          </a:prstGeom>
          <a:ln w="25400">
            <a:solidFill>
              <a:srgbClr val="6B6258"/>
            </a:solidFill>
            <a:tailEnd type="triangle" w="med" len="med"/>
          </a:ln>
        </p:spPr>
      </p:cxnSp>
      <p:sp>
        <p:nvSpPr>
          <p:cNvPr id="24" name="Text: inputs"/>
          <p:cNvSpPr txBox="1"/>
          <p:nvPr/>
        </p:nvSpPr>
        <p:spPr>
          <a:xfrm>
            <a:off x="2819400" y="2540000"/>
            <a:ext cx="457200" cy="190500"/>
          </a:xfrm>
          <a:prstGeom prst="rect">
            <a:avLst/>
          </a:prstGeom>
          <a:noFill/>
        </p:spPr>
        <p:txBody>
          <a:bodyPr wrap="square" anchor="t" lIns="0" rIns="0" tIns="0" bIns="0"/>
          <a:lstStyle/>
          <a:p>
            <a:pPr algn="ctr">
              <a:spcAft>
                <a:spcPts val="405"/>
              </a:spcAft>
            </a:pPr>
            <a:r>
              <a:rPr sz="900" b="0">
                <a:solidFill>
                  <a:srgbClr val="6B6258"/>
                </a:solidFill>
                <a:latin typeface="Nunito"/>
              </a:rPr>
              <a:t>inputs</a:t>
            </a:r>
          </a:p>
        </p:txBody>
      </p:sp>
      <p:sp>
        <p:nvSpPr>
          <p:cNvPr id="25" name="Text: reads"/>
          <p:cNvSpPr txBox="1"/>
          <p:nvPr/>
        </p:nvSpPr>
        <p:spPr>
          <a:xfrm>
            <a:off x="7124700" y="2540000"/>
            <a:ext cx="482600" cy="190500"/>
          </a:xfrm>
          <a:prstGeom prst="rect">
            <a:avLst/>
          </a:prstGeom>
          <a:noFill/>
        </p:spPr>
        <p:txBody>
          <a:bodyPr wrap="square" anchor="t" lIns="0" rIns="0" tIns="0" bIns="0"/>
          <a:lstStyle/>
          <a:p>
            <a:pPr algn="ctr">
              <a:spcAft>
                <a:spcPts val="405"/>
              </a:spcAft>
            </a:pPr>
            <a:r>
              <a:rPr sz="900" b="0">
                <a:solidFill>
                  <a:srgbClr val="6B6258"/>
                </a:solidFill>
                <a:latin typeface="Nunito"/>
              </a:rPr>
              <a:t>reads</a:t>
            </a:r>
          </a:p>
        </p:txBody>
      </p:sp>
      <p:sp>
        <p:nvSpPr>
          <p:cNvPr id="26" name="Text: Signals propose. Rules decide. AI words "/>
          <p:cNvSpPr txBox="1"/>
          <p:nvPr/>
        </p:nvSpPr>
        <p:spPr>
          <a:xfrm>
            <a:off x="508000" y="4826000"/>
            <a:ext cx="2413000" cy="1143000"/>
          </a:xfrm>
          <a:prstGeom prst="rect">
            <a:avLst/>
          </a:prstGeom>
          <a:noFill/>
        </p:spPr>
        <p:txBody>
          <a:bodyPr wrap="square" anchor="t" lIns="0" rIns="0" tIns="0" bIns="0"/>
          <a:lstStyle/>
          <a:p>
            <a:pPr algn="l">
              <a:spcAft>
                <a:spcPts val="675"/>
              </a:spcAft>
            </a:pPr>
            <a:r>
              <a:rPr sz="1500" b="1">
                <a:solidFill>
                  <a:srgbClr val="2A2320"/>
                </a:solidFill>
                <a:latin typeface="Nunito"/>
              </a:rPr>
              <a:t>Signals propose. Rules decide. AI words it.</a:t>
            </a:r>
          </a:p>
        </p:txBody>
      </p:sp>
      <p:sp>
        <p:nvSpPr>
          <p:cNvPr id="27" name="Text: Implemented demo · one application deplo"/>
          <p:cNvSpPr txBox="1"/>
          <p:nvPr/>
        </p:nvSpPr>
        <p:spPr>
          <a:xfrm>
            <a:off x="8636000" y="4826000"/>
            <a:ext cx="3048000" cy="1143000"/>
          </a:xfrm>
          <a:prstGeom prst="rect">
            <a:avLst/>
          </a:prstGeom>
          <a:noFill/>
        </p:spPr>
        <p:txBody>
          <a:bodyPr wrap="square" anchor="t" lIns="0" rIns="0" tIns="0" bIns="0"/>
          <a:lstStyle/>
          <a:p>
            <a:pPr algn="l">
              <a:spcAft>
                <a:spcPts val="472"/>
              </a:spcAft>
            </a:pPr>
            <a:r>
              <a:rPr sz="1050" b="0">
                <a:solidFill>
                  <a:srgbClr val="6B6258"/>
                </a:solidFill>
                <a:latin typeface="Nunito"/>
              </a:rPr>
              <a:t>Implemented demo · one application deployment · development storage · institutional hosting is future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Agent · investigate, cite, check"/>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Aura-Agent · investigate, cite, check</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1 · Approve the request"/>
          <p:cNvSpPr/>
          <p:nvPr/>
        </p:nvSpPr>
        <p:spPr>
          <a:xfrm>
            <a:off x="508000" y="12700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1 · Approve the request</a:t>
            </a:r>
          </a:p>
          <a:p>
            <a:pPr algn="l">
              <a:spcAft>
                <a:spcPts val="275"/>
              </a:spcAft>
            </a:pPr>
            <a:r>
              <a:rPr sz="1100" b="0">
                <a:solidFill>
                  <a:srgbClr val="2A2320"/>
                </a:solidFill>
                <a:latin typeface="Nunito"/>
              </a:rPr>
              <a:t>Skill, selected patient, current safety</a:t>
            </a:r>
          </a:p>
          <a:p>
            <a:pPr algn="l">
              <a:spcAft>
                <a:spcPts val="275"/>
              </a:spcAft>
            </a:pPr>
            <a:r>
              <a:rPr sz="1100" b="0">
                <a:solidFill>
                  <a:srgbClr val="2A2320"/>
                </a:solidFill>
                <a:latin typeface="Nunito"/>
              </a:rPr>
              <a:t>Read-only record + permitted window</a:t>
            </a:r>
          </a:p>
        </p:txBody>
      </p:sp>
      <p:sp>
        <p:nvSpPr>
          <p:cNvPr id="5" name="Box: 2 · Model chooses a step"/>
          <p:cNvSpPr/>
          <p:nvPr/>
        </p:nvSpPr>
        <p:spPr>
          <a:xfrm>
            <a:off x="4572000" y="1270000"/>
            <a:ext cx="3048000" cy="1206500"/>
          </a:xfrm>
          <a:prstGeom prst="roundRect">
            <a:avLst>
              <a:gd name="adj" fmla="val 11578"/>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2 · Model chooses a step</a:t>
            </a:r>
          </a:p>
          <a:p>
            <a:pPr algn="l">
              <a:spcAft>
                <a:spcPts val="275"/>
              </a:spcAft>
            </a:pPr>
            <a:r>
              <a:rPr sz="1100" b="0">
                <a:solidFill>
                  <a:srgbClr val="2A2320"/>
                </a:solidFill>
                <a:latin typeface="Nunito"/>
              </a:rPr>
              <a:t>Which tool? Which dates? Which signal?</a:t>
            </a:r>
          </a:p>
          <a:p>
            <a:pPr algn="l">
              <a:spcAft>
                <a:spcPts val="275"/>
              </a:spcAft>
            </a:pPr>
            <a:r>
              <a:rPr sz="1100" b="0">
                <a:solidFill>
                  <a:srgbClr val="2A2320"/>
                </a:solidFill>
                <a:latin typeface="Nunito"/>
              </a:rPr>
              <a:t>Read more, or draft a cited answer</a:t>
            </a:r>
          </a:p>
        </p:txBody>
      </p:sp>
      <p:sp>
        <p:nvSpPr>
          <p:cNvPr id="6" name="Box: 3 · Execute scoped tools"/>
          <p:cNvSpPr/>
          <p:nvPr/>
        </p:nvSpPr>
        <p:spPr>
          <a:xfrm>
            <a:off x="8636000" y="12700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3 · Execute scoped tools</a:t>
            </a:r>
          </a:p>
          <a:p>
            <a:pPr algn="l">
              <a:spcAft>
                <a:spcPts val="275"/>
              </a:spcAft>
            </a:pPr>
            <a:r>
              <a:rPr sz="1100" b="0">
                <a:solidFill>
                  <a:srgbClr val="2A2320"/>
                </a:solidFill>
                <a:latin typeface="Nunito"/>
              </a:rPr>
              <a:t>Series, context, gaps, routine records</a:t>
            </a:r>
          </a:p>
          <a:p>
            <a:pPr algn="l">
              <a:spcAft>
                <a:spcPts val="275"/>
              </a:spcAft>
            </a:pPr>
            <a:r>
              <a:rPr sz="1100" b="0">
                <a:solidFill>
                  <a:srgbClr val="2A2320"/>
                </a:solidFill>
                <a:latin typeface="Nunito"/>
              </a:rPr>
              <a:t>Return facts, sources and calculations</a:t>
            </a:r>
          </a:p>
        </p:txBody>
      </p:sp>
      <p:sp>
        <p:nvSpPr>
          <p:cNvPr id="7" name="Box: “When did sleep timing change, and was a"/>
          <p:cNvSpPr/>
          <p:nvPr/>
        </p:nvSpPr>
        <p:spPr>
          <a:xfrm>
            <a:off x="508000" y="2984500"/>
            <a:ext cx="3048000" cy="1206500"/>
          </a:xfrm>
          <a:prstGeom prst="roundRect">
            <a:avLst>
              <a:gd name="adj" fmla="val 11578"/>
            </a:avLst>
          </a:prstGeom>
          <a:solidFill>
            <a:srgbClr val="F3F0EA"/>
          </a:solidFill>
          <a:ln>
            <a:noFill/>
          </a:ln>
        </p:spPr>
        <p:txBody>
          <a:bodyPr rtlCol="0" anchor="t" wrap="square" lIns="152400" rIns="152400" tIns="152400" bIns="152400"/>
          <a:lstStyle/>
          <a:p>
            <a:pPr algn="l">
              <a:spcAft>
                <a:spcPts val="540"/>
              </a:spcAft>
            </a:pPr>
            <a:r>
              <a:rPr sz="1200" b="1">
                <a:solidFill>
                  <a:srgbClr val="2A2320"/>
                </a:solidFill>
                <a:latin typeface="Nunito"/>
              </a:rPr>
              <a:t>“When did sleep timing change, and was anything reported around then?”</a:t>
            </a:r>
          </a:p>
          <a:p>
            <a:pPr algn="l">
              <a:spcAft>
                <a:spcPts val="250"/>
              </a:spcAft>
            </a:pPr>
            <a:r>
              <a:rPr sz="1000" b="0">
                <a:solidFill>
                  <a:srgbClr val="2A2320"/>
                </a:solidFill>
                <a:latin typeface="Nunito"/>
              </a:rPr>
              <a:t>A clinician's question. Patient-typed text is safety-checked first.</a:t>
            </a:r>
          </a:p>
        </p:txBody>
      </p:sp>
      <p:sp>
        <p:nvSpPr>
          <p:cNvPr id="8" name="Box: 4 · Ground and verify"/>
          <p:cNvSpPr/>
          <p:nvPr/>
        </p:nvSpPr>
        <p:spPr>
          <a:xfrm>
            <a:off x="4572000" y="2984500"/>
            <a:ext cx="3048000" cy="1206500"/>
          </a:xfrm>
          <a:prstGeom prst="roundRect">
            <a:avLst>
              <a:gd name="adj" fmla="val 11578"/>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4 · Ground and verify</a:t>
            </a:r>
          </a:p>
          <a:p>
            <a:pPr algn="l">
              <a:spcAft>
                <a:spcPts val="275"/>
              </a:spcAft>
            </a:pPr>
            <a:r>
              <a:rPr sz="1100" b="0">
                <a:solidFill>
                  <a:srgbClr val="2A2320"/>
                </a:solidFill>
                <a:latin typeface="Nunito"/>
              </a:rPr>
              <a:t>Exact facts, citations, allowed claims</a:t>
            </a:r>
          </a:p>
          <a:p>
            <a:pPr algn="l">
              <a:spcAft>
                <a:spcPts val="275"/>
              </a:spcAft>
            </a:pPr>
            <a:r>
              <a:rPr sz="1100" b="0">
                <a:solidFill>
                  <a:srgbClr val="2A2320"/>
                </a:solidFill>
                <a:latin typeface="Nunito"/>
              </a:rPr>
              <a:t>A separate model call checks each statement</a:t>
            </a:r>
          </a:p>
        </p:txBody>
      </p:sp>
      <p:sp>
        <p:nvSpPr>
          <p:cNvPr id="9" name="Box: 5 · Recheck current state"/>
          <p:cNvSpPr/>
          <p:nvPr/>
        </p:nvSpPr>
        <p:spPr>
          <a:xfrm>
            <a:off x="8636000" y="29845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5 · Recheck current state</a:t>
            </a:r>
          </a:p>
          <a:p>
            <a:pPr algn="l">
              <a:spcAft>
                <a:spcPts val="275"/>
              </a:spcAft>
            </a:pPr>
            <a:r>
              <a:rPr sz="1100" b="0">
                <a:solidFill>
                  <a:srgbClr val="2A2320"/>
                </a:solidFill>
                <a:latin typeface="Nunito"/>
              </a:rPr>
              <a:t>Has the record or safety state changed?</a:t>
            </a:r>
          </a:p>
          <a:p>
            <a:pPr algn="l">
              <a:spcAft>
                <a:spcPts val="275"/>
              </a:spcAft>
            </a:pPr>
            <a:r>
              <a:rPr sz="1100" b="0">
                <a:solidFill>
                  <a:srgbClr val="2A2320"/>
                </a:solidFill>
                <a:latin typeface="Nunito"/>
              </a:rPr>
              <a:t>Unsafe or stale results are withheld</a:t>
            </a:r>
          </a:p>
        </p:txBody>
      </p:sp>
      <p:sp>
        <p:nvSpPr>
          <p:cNvPr id="10" name="Box: 6 · Persist and display"/>
          <p:cNvSpPr/>
          <p:nvPr/>
        </p:nvSpPr>
        <p:spPr>
          <a:xfrm>
            <a:off x="8636000" y="4699000"/>
            <a:ext cx="3048000" cy="1206500"/>
          </a:xfrm>
          <a:prstGeom prst="roundRect">
            <a:avLst>
              <a:gd name="adj" fmla="val 11578"/>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6 · Persist and display</a:t>
            </a:r>
          </a:p>
          <a:p>
            <a:pPr algn="l">
              <a:spcAft>
                <a:spcPts val="275"/>
              </a:spcAft>
            </a:pPr>
            <a:r>
              <a:rPr sz="1100" b="0">
                <a:solidFill>
                  <a:srgbClr val="2A2320"/>
                </a:solidFill>
                <a:latin typeface="Nunito"/>
              </a:rPr>
              <a:t>Answer, sources, How AURA looked</a:t>
            </a:r>
          </a:p>
          <a:p>
            <a:pPr algn="l">
              <a:spcAft>
                <a:spcPts val="275"/>
              </a:spcAft>
            </a:pPr>
            <a:r>
              <a:rPr sz="1100" b="0">
                <a:solidFill>
                  <a:srgbClr val="2A2320"/>
                </a:solidFill>
                <a:latin typeface="Nunito"/>
              </a:rPr>
              <a:t>No care-action or treatment-write tools</a:t>
            </a:r>
          </a:p>
        </p:txBody>
      </p:sp>
      <p:cxnSp>
        <p:nvCxnSpPr>
          <p:cNvPr id="11" name="Arrow: “When did sleep timi → 1 · Approve the requ"/>
          <p:cNvCxnSpPr>
            <a:stCxn id="7" idx="0"/>
            <a:endCxn id="4" idx="2"/>
          </p:cNvCxnSpPr>
          <p:nvPr/>
        </p:nvCxnSpPr>
        <p:spPr>
          <a:xfrm flipV="1">
            <a:off x="2032000" y="2476500"/>
            <a:ext cx="1" cy="508000"/>
          </a:xfrm>
          <a:prstGeom prst="line">
            <a:avLst/>
          </a:prstGeom>
          <a:ln w="25400">
            <a:solidFill>
              <a:srgbClr val="6B6258"/>
            </a:solidFill>
            <a:tailEnd type="triangle" w="med" len="med"/>
          </a:ln>
        </p:spPr>
      </p:cxnSp>
      <p:cxnSp>
        <p:nvCxnSpPr>
          <p:cNvPr id="12" name="Arrow: 1 · Approve the requ → 2 · Model chooses a "/>
          <p:cNvCxnSpPr>
            <a:stCxn id="4" idx="3"/>
            <a:endCxn id="5" idx="1"/>
          </p:cNvCxnSpPr>
          <p:nvPr/>
        </p:nvCxnSpPr>
        <p:spPr>
          <a:xfrm>
            <a:off x="3556000" y="1873250"/>
            <a:ext cx="1016000" cy="1"/>
          </a:xfrm>
          <a:prstGeom prst="line">
            <a:avLst/>
          </a:prstGeom>
          <a:ln w="25400">
            <a:solidFill>
              <a:srgbClr val="6B6258"/>
            </a:solidFill>
            <a:tailEnd type="triangle" w="med" len="med"/>
          </a:ln>
        </p:spPr>
      </p:cxnSp>
      <p:cxnSp>
        <p:nvCxnSpPr>
          <p:cNvPr id="13" name="Arrow: 2 · Model chooses a  → 3 · Execute scoped t"/>
          <p:cNvCxnSpPr>
            <a:stCxn id="5" idx="3"/>
            <a:endCxn id="6" idx="1"/>
          </p:cNvCxnSpPr>
          <p:nvPr/>
        </p:nvCxnSpPr>
        <p:spPr>
          <a:xfrm>
            <a:off x="7620000" y="1873250"/>
            <a:ext cx="1016000" cy="1"/>
          </a:xfrm>
          <a:prstGeom prst="line">
            <a:avLst/>
          </a:prstGeom>
          <a:ln w="25400">
            <a:solidFill>
              <a:srgbClr val="6B6258"/>
            </a:solidFill>
            <a:headEnd type="triangle" w="med" len="med"/>
            <a:tailEnd type="triangle" w="med" len="med"/>
          </a:ln>
        </p:spPr>
      </p:cxnSp>
      <p:cxnSp>
        <p:nvCxnSpPr>
          <p:cNvPr id="14" name="Arrow: 2 · Model chooses a  → 4 · Ground and verif"/>
          <p:cNvCxnSpPr>
            <a:stCxn id="5" idx="2"/>
            <a:endCxn id="8" idx="0"/>
          </p:cNvCxnSpPr>
          <p:nvPr/>
        </p:nvCxnSpPr>
        <p:spPr>
          <a:xfrm>
            <a:off x="6096000" y="2476500"/>
            <a:ext cx="1" cy="508000"/>
          </a:xfrm>
          <a:prstGeom prst="line">
            <a:avLst/>
          </a:prstGeom>
          <a:ln w="25400">
            <a:solidFill>
              <a:srgbClr val="6B6258"/>
            </a:solidFill>
            <a:tailEnd type="triangle" w="med" len="med"/>
          </a:ln>
        </p:spPr>
      </p:cxnSp>
      <p:cxnSp>
        <p:nvCxnSpPr>
          <p:cNvPr id="15" name="Arrow: 4 · Ground and verif → 5 · Recheck current "/>
          <p:cNvCxnSpPr>
            <a:stCxn id="8" idx="3"/>
            <a:endCxn id="9" idx="1"/>
          </p:cNvCxnSpPr>
          <p:nvPr/>
        </p:nvCxnSpPr>
        <p:spPr>
          <a:xfrm>
            <a:off x="7620000" y="3587750"/>
            <a:ext cx="1016000" cy="1"/>
          </a:xfrm>
          <a:prstGeom prst="line">
            <a:avLst/>
          </a:prstGeom>
          <a:ln w="25400">
            <a:solidFill>
              <a:srgbClr val="6B6258"/>
            </a:solidFill>
            <a:tailEnd type="triangle" w="med" len="med"/>
          </a:ln>
        </p:spPr>
      </p:cxnSp>
      <p:cxnSp>
        <p:nvCxnSpPr>
          <p:cNvPr id="16" name="Arrow: 5 · Recheck current  → 6 · Persist and disp"/>
          <p:cNvCxnSpPr>
            <a:stCxn id="9" idx="2"/>
            <a:endCxn id="10" idx="0"/>
          </p:cNvCxnSpPr>
          <p:nvPr/>
        </p:nvCxnSpPr>
        <p:spPr>
          <a:xfrm>
            <a:off x="10160000" y="4191000"/>
            <a:ext cx="1" cy="508000"/>
          </a:xfrm>
          <a:prstGeom prst="line">
            <a:avLst/>
          </a:prstGeom>
          <a:ln w="25400">
            <a:solidFill>
              <a:srgbClr val="6B6258"/>
            </a:solidFill>
            <a:tailEnd type="triangle" w="med" len="med"/>
          </a:ln>
        </p:spPr>
      </p:cxnSp>
      <p:sp>
        <p:nvSpPr>
          <p:cNvPr id="17" name="Text: tool calls,"/>
          <p:cNvSpPr txBox="1"/>
          <p:nvPr/>
        </p:nvSpPr>
        <p:spPr>
          <a:xfrm>
            <a:off x="7620000" y="1244600"/>
            <a:ext cx="1016000" cy="381000"/>
          </a:xfrm>
          <a:prstGeom prst="rect">
            <a:avLst/>
          </a:prstGeom>
          <a:noFill/>
        </p:spPr>
        <p:txBody>
          <a:bodyPr wrap="square" anchor="t" lIns="0" rIns="0" tIns="0" bIns="0"/>
          <a:lstStyle/>
          <a:p>
            <a:pPr algn="ctr">
              <a:spcAft>
                <a:spcPts val="405"/>
              </a:spcAft>
            </a:pPr>
            <a:r>
              <a:rPr sz="900" b="0">
                <a:solidFill>
                  <a:srgbClr val="6B6258"/>
                </a:solidFill>
                <a:latin typeface="Nunito"/>
              </a:rPr>
              <a:t>tool calls,</a:t>
            </a:r>
          </a:p>
          <a:p>
            <a:pPr algn="ctr">
              <a:spcAft>
                <a:spcPts val="225"/>
              </a:spcAft>
            </a:pPr>
            <a:r>
              <a:rPr sz="900" b="0">
                <a:solidFill>
                  <a:srgbClr val="6B6258"/>
                </a:solidFill>
                <a:latin typeface="Nunito"/>
              </a:rPr>
              <a:t>facts back</a:t>
            </a:r>
          </a:p>
        </p:txBody>
      </p:sp>
      <p:sp>
        <p:nvSpPr>
          <p:cNvPr id="18" name="Text: cited draft"/>
          <p:cNvSpPr txBox="1"/>
          <p:nvPr/>
        </p:nvSpPr>
        <p:spPr>
          <a:xfrm>
            <a:off x="6134100" y="2540000"/>
            <a:ext cx="1651000" cy="381000"/>
          </a:xfrm>
          <a:prstGeom prst="rect">
            <a:avLst/>
          </a:prstGeom>
          <a:noFill/>
        </p:spPr>
        <p:txBody>
          <a:bodyPr wrap="square" anchor="t" lIns="0" rIns="0" tIns="0" bIns="0"/>
          <a:lstStyle/>
          <a:p>
            <a:pPr algn="l">
              <a:spcAft>
                <a:spcPts val="405"/>
              </a:spcAft>
            </a:pPr>
            <a:r>
              <a:rPr sz="900" b="0">
                <a:solidFill>
                  <a:srgbClr val="6B6258"/>
                </a:solidFill>
                <a:latin typeface="Nunito"/>
              </a:rPr>
              <a:t>cited draft</a:t>
            </a:r>
          </a:p>
          <a:p>
            <a:pPr algn="l">
              <a:spcAft>
                <a:spcPts val="225"/>
              </a:spcAft>
            </a:pPr>
            <a:r>
              <a:rPr sz="900" b="0">
                <a:solidFill>
                  <a:srgbClr val="6B6258"/>
                </a:solidFill>
                <a:latin typeface="Nunito"/>
              </a:rPr>
              <a:t>when ready</a:t>
            </a:r>
          </a:p>
        </p:txBody>
      </p:sp>
      <p:sp>
        <p:nvSpPr>
          <p:cNvPr id="19" name="Text: Limits per answer: 8 model steps · 24 to"/>
          <p:cNvSpPr txBox="1"/>
          <p:nvPr/>
        </p:nvSpPr>
        <p:spPr>
          <a:xfrm>
            <a:off x="508000" y="4762500"/>
            <a:ext cx="7493000" cy="381000"/>
          </a:xfrm>
          <a:prstGeom prst="rect">
            <a:avLst/>
          </a:prstGeom>
          <a:noFill/>
        </p:spPr>
        <p:txBody>
          <a:bodyPr wrap="square" anchor="t" lIns="0" rIns="0" tIns="0" bIns="0"/>
          <a:lstStyle/>
          <a:p>
            <a:pPr algn="l">
              <a:spcAft>
                <a:spcPts val="630"/>
              </a:spcAft>
            </a:pPr>
            <a:r>
              <a:rPr sz="1400" b="1">
                <a:solidFill>
                  <a:srgbClr val="2A2320"/>
                </a:solidFill>
                <a:latin typeface="Nunito"/>
              </a:rPr>
              <a:t>Limits per answer: 8 model steps · 24 tool calls · 90 seconds</a:t>
            </a:r>
          </a:p>
        </p:txBody>
      </p:sp>
      <p:sp>
        <p:nvSpPr>
          <p:cNvPr id="20" name="Text: Failure shows source-based related facts"/>
          <p:cNvSpPr txBox="1"/>
          <p:nvPr/>
        </p:nvSpPr>
        <p:spPr>
          <a:xfrm>
            <a:off x="508000" y="5156200"/>
            <a:ext cx="7493000" cy="762000"/>
          </a:xfrm>
          <a:prstGeom prst="rect">
            <a:avLst/>
          </a:prstGeom>
          <a:noFill/>
        </p:spPr>
        <p:txBody>
          <a:bodyPr wrap="square" anchor="t" lIns="0" rIns="0" tIns="0" bIns="0"/>
          <a:lstStyle/>
          <a:p>
            <a:pPr algn="l">
              <a:spcAft>
                <a:spcPts val="495"/>
              </a:spcAft>
            </a:pPr>
            <a:r>
              <a:rPr sz="1100" b="0">
                <a:solidFill>
                  <a:srgbClr val="6B6258"/>
                </a:solidFill>
                <a:latin typeface="Nunito"/>
              </a:rPr>
              <a:t>Failure shows source-based related facts and says so. The trail shows actions, not hidden reasoning.</a:t>
            </a:r>
          </a:p>
          <a:p>
            <a:pPr algn="l">
              <a:spcAft>
                <a:spcPts val="275"/>
              </a:spcAft>
            </a:pPr>
            <a:r>
              <a:rPr sz="1100" b="0">
                <a:solidFill>
                  <a:srgbClr val="6B6258"/>
                </a:solidFill>
                <a:latin typeface="Nunito"/>
              </a:rPr>
              <a:t>Verification is not clinical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Safety policy has the final say"/>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Safety policy has the final say</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Patient input"/>
          <p:cNvSpPr/>
          <p:nvPr/>
        </p:nvSpPr>
        <p:spPr>
          <a:xfrm>
            <a:off x="508000" y="1270000"/>
            <a:ext cx="2660650" cy="1270000"/>
          </a:xfrm>
          <a:prstGeom prst="roundRect">
            <a:avLst>
              <a:gd name="adj" fmla="val 11000"/>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Patient input</a:t>
            </a:r>
          </a:p>
          <a:p>
            <a:pPr algn="l">
              <a:spcAft>
                <a:spcPts val="275"/>
              </a:spcAft>
            </a:pPr>
            <a:r>
              <a:rPr sz="1100" b="0">
                <a:solidFill>
                  <a:srgbClr val="2A2320"/>
                </a:solidFill>
                <a:latin typeface="Nunito"/>
              </a:rPr>
              <a:t>Typed notes and medication questions</a:t>
            </a:r>
          </a:p>
          <a:p>
            <a:pPr algn="l">
              <a:spcAft>
                <a:spcPts val="275"/>
              </a:spcAft>
            </a:pPr>
            <a:r>
              <a:rPr sz="1100" b="0">
                <a:solidFill>
                  <a:srgbClr val="2A2320"/>
                </a:solidFill>
                <a:latin typeface="Nunito"/>
              </a:rPr>
              <a:t>Safety-relevant path first</a:t>
            </a:r>
          </a:p>
        </p:txBody>
      </p:sp>
      <p:sp>
        <p:nvSpPr>
          <p:cNvPr id="5" name="Box: Safety gate + proposals"/>
          <p:cNvSpPr/>
          <p:nvPr/>
        </p:nvSpPr>
        <p:spPr>
          <a:xfrm>
            <a:off x="3346450" y="1270000"/>
            <a:ext cx="2660650" cy="1270000"/>
          </a:xfrm>
          <a:prstGeom prst="roundRect">
            <a:avLst>
              <a:gd name="adj" fmla="val 11000"/>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Safety gate + proposals</a:t>
            </a:r>
          </a:p>
          <a:p>
            <a:pPr algn="l">
              <a:spcAft>
                <a:spcPts val="275"/>
              </a:spcAft>
            </a:pPr>
            <a:r>
              <a:rPr sz="1100" b="0">
                <a:solidFill>
                  <a:srgbClr val="2A2320"/>
                </a:solidFill>
                <a:latin typeface="Nunito"/>
              </a:rPr>
              <a:t>Rules / demo classifier → signals</a:t>
            </a:r>
          </a:p>
          <a:p>
            <a:pPr algn="l">
              <a:spcAft>
                <a:spcPts val="275"/>
              </a:spcAft>
            </a:pPr>
            <a:r>
              <a:rPr sz="1100" b="0">
                <a:solidFill>
                  <a:srgbClr val="2A2320"/>
                </a:solidFill>
                <a:latin typeface="Nunito"/>
              </a:rPr>
              <a:t>A detector cannot lower safety state</a:t>
            </a:r>
          </a:p>
        </p:txBody>
      </p:sp>
      <p:sp>
        <p:nvSpPr>
          <p:cNvPr id="6" name="Box: Deterministic safety controller"/>
          <p:cNvSpPr/>
          <p:nvPr/>
        </p:nvSpPr>
        <p:spPr>
          <a:xfrm>
            <a:off x="6184900" y="1270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Deterministic safety controller</a:t>
            </a:r>
          </a:p>
          <a:p>
            <a:pPr algn="l">
              <a:spcAft>
                <a:spcPts val="275"/>
              </a:spcAft>
            </a:pPr>
            <a:r>
              <a:rPr sz="1100" b="0">
                <a:solidFill>
                  <a:srgbClr val="2A2320"/>
                </a:solidFill>
                <a:latin typeface="Nunito"/>
              </a:rPr>
              <a:t>T0–T4 transitions → actions</a:t>
            </a:r>
          </a:p>
          <a:p>
            <a:pPr algn="l">
              <a:spcAft>
                <a:spcPts val="275"/>
              </a:spcAft>
            </a:pPr>
            <a:r>
              <a:rPr sz="1100" b="0">
                <a:solidFill>
                  <a:srgbClr val="2A2320"/>
                </a:solidFill>
                <a:latin typeface="Nunito"/>
              </a:rPr>
              <a:t>Fail closed when degraded</a:t>
            </a:r>
          </a:p>
        </p:txBody>
      </p:sp>
      <p:sp>
        <p:nvSpPr>
          <p:cNvPr id="7" name="Box: Registry + built-in bundle"/>
          <p:cNvSpPr/>
          <p:nvPr/>
        </p:nvSpPr>
        <p:spPr>
          <a:xfrm>
            <a:off x="9023350" y="1270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Registry + built-in bundle</a:t>
            </a:r>
          </a:p>
          <a:p>
            <a:pPr algn="l">
              <a:spcAft>
                <a:spcPts val="275"/>
              </a:spcAft>
            </a:pPr>
            <a:r>
              <a:rPr sz="1100" b="0">
                <a:solidFill>
                  <a:srgbClr val="2A2320"/>
                </a:solidFill>
                <a:latin typeface="Nunito"/>
              </a:rPr>
              <a:t>Lookup failure → fallback</a:t>
            </a:r>
          </a:p>
          <a:p>
            <a:pPr algn="l">
              <a:spcAft>
                <a:spcPts val="275"/>
              </a:spcAft>
            </a:pPr>
            <a:r>
              <a:rPr sz="1100" b="0">
                <a:solidFill>
                  <a:srgbClr val="2A2320"/>
                </a:solidFill>
                <a:latin typeface="Nunito"/>
              </a:rPr>
              <a:t>Old bundle stays visible + notice</a:t>
            </a:r>
          </a:p>
        </p:txBody>
      </p:sp>
      <p:sp>
        <p:nvSpPr>
          <p:cNvPr id="8" name="Box: Longitudinal communication"/>
          <p:cNvSpPr/>
          <p:nvPr/>
        </p:nvSpPr>
        <p:spPr>
          <a:xfrm>
            <a:off x="3346450" y="3048000"/>
            <a:ext cx="2660650" cy="1270000"/>
          </a:xfrm>
          <a:prstGeom prst="roundRect">
            <a:avLst>
              <a:gd name="adj" fmla="val 11000"/>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Longitudinal communication</a:t>
            </a:r>
          </a:p>
          <a:p>
            <a:pPr algn="l">
              <a:spcAft>
                <a:spcPts val="275"/>
              </a:spcAft>
            </a:pPr>
            <a:r>
              <a:rPr sz="1100" b="0">
                <a:solidFill>
                  <a:srgbClr val="2A2320"/>
                </a:solidFill>
                <a:latin typeface="Nunito"/>
              </a:rPr>
              <a:t>Stay quiet / check in / clarify</a:t>
            </a:r>
          </a:p>
          <a:p>
            <a:pPr algn="l">
              <a:spcAft>
                <a:spcPts val="275"/>
              </a:spcAft>
            </a:pPr>
            <a:r>
              <a:rPr sz="1100" b="0">
                <a:solidFill>
                  <a:srgbClr val="2A2320"/>
                </a:solidFill>
                <a:latin typeface="Nunito"/>
              </a:rPr>
              <a:t>Describes personal changes</a:t>
            </a:r>
          </a:p>
        </p:txBody>
      </p:sp>
      <p:sp>
        <p:nvSpPr>
          <p:cNvPr id="9" name="Box: Safety overrides ordinary messages"/>
          <p:cNvSpPr/>
          <p:nvPr/>
        </p:nvSpPr>
        <p:spPr>
          <a:xfrm>
            <a:off x="6184900" y="3048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562"/>
              </a:spcAft>
            </a:pPr>
            <a:r>
              <a:rPr sz="1250" b="1">
                <a:solidFill>
                  <a:srgbClr val="2A2320"/>
                </a:solidFill>
                <a:latin typeface="Nunito"/>
              </a:rPr>
              <a:t>Safety overrides ordinary messages</a:t>
            </a:r>
          </a:p>
          <a:p>
            <a:pPr algn="l">
              <a:spcAft>
                <a:spcPts val="275"/>
              </a:spcAft>
            </a:pPr>
            <a:r>
              <a:rPr sz="1100" b="0">
                <a:solidFill>
                  <a:srgbClr val="2A2320"/>
                </a:solidFill>
                <a:latin typeface="Nunito"/>
              </a:rPr>
              <a:t>Applies the authoritative state</a:t>
            </a:r>
          </a:p>
          <a:p>
            <a:pPr algn="l">
              <a:spcAft>
                <a:spcPts val="275"/>
              </a:spcAft>
            </a:pPr>
            <a:r>
              <a:rPr sz="1100" b="0">
                <a:solidFill>
                  <a:srgbClr val="2A2320"/>
                </a:solidFill>
                <a:latin typeface="Nunito"/>
              </a:rPr>
              <a:t>The app does not assign tiers</a:t>
            </a:r>
          </a:p>
        </p:txBody>
      </p:sp>
      <p:sp>
        <p:nvSpPr>
          <p:cNvPr id="10" name="Box: Pinned safety resources"/>
          <p:cNvSpPr/>
          <p:nvPr/>
        </p:nvSpPr>
        <p:spPr>
          <a:xfrm>
            <a:off x="9023350" y="3048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Pinned safety resources</a:t>
            </a:r>
          </a:p>
          <a:p>
            <a:pPr algn="l">
              <a:spcAft>
                <a:spcPts val="275"/>
              </a:spcAft>
            </a:pPr>
            <a:r>
              <a:rPr sz="1100" b="0">
                <a:solidFill>
                  <a:srgbClr val="2A2320"/>
                </a:solidFill>
                <a:latin typeface="Nunito"/>
              </a:rPr>
              <a:t>Shown outside generated text</a:t>
            </a:r>
          </a:p>
          <a:p>
            <a:pPr algn="l">
              <a:spcAft>
                <a:spcPts val="275"/>
              </a:spcAft>
            </a:pPr>
            <a:r>
              <a:rPr sz="1100" b="0">
                <a:solidFill>
                  <a:srgbClr val="2A2320"/>
                </a:solidFill>
                <a:latin typeface="Nunito"/>
              </a:rPr>
              <a:t>Never waits for an AI model</a:t>
            </a:r>
          </a:p>
        </p:txBody>
      </p:sp>
      <p:sp>
        <p:nvSpPr>
          <p:cNvPr id="11" name="Box: Render the allowed interaction"/>
          <p:cNvSpPr/>
          <p:nvPr/>
        </p:nvSpPr>
        <p:spPr>
          <a:xfrm>
            <a:off x="6184900" y="4826000"/>
            <a:ext cx="2660650" cy="1333500"/>
          </a:xfrm>
          <a:prstGeom prst="roundRect">
            <a:avLst>
              <a:gd name="adj" fmla="val 10476"/>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Render the allowed interaction</a:t>
            </a:r>
          </a:p>
          <a:p>
            <a:pPr algn="l">
              <a:spcAft>
                <a:spcPts val="262"/>
              </a:spcAft>
            </a:pPr>
            <a:r>
              <a:rPr sz="1050" b="0">
                <a:solidFill>
                  <a:srgbClr val="2A2320"/>
                </a:solidFill>
                <a:latin typeface="Nunito"/>
              </a:rPr>
              <a:t>Approved wording + checks</a:t>
            </a:r>
          </a:p>
          <a:p>
            <a:pPr algn="l">
              <a:spcAft>
                <a:spcPts val="262"/>
              </a:spcAft>
            </a:pPr>
            <a:r>
              <a:rPr sz="1050" b="0">
                <a:solidFill>
                  <a:srgbClr val="2A2320"/>
                </a:solidFill>
                <a:latin typeface="Nunito"/>
              </a:rPr>
              <a:t>T4 / offline: fixed text, no AI</a:t>
            </a:r>
          </a:p>
        </p:txBody>
      </p:sp>
      <p:cxnSp>
        <p:nvCxnSpPr>
          <p:cNvPr id="12" name="Arrow: Patient input → Safety gate + propos"/>
          <p:cNvCxnSpPr>
            <a:stCxn id="4" idx="3"/>
            <a:endCxn id="5" idx="1"/>
          </p:cNvCxnSpPr>
          <p:nvPr/>
        </p:nvCxnSpPr>
        <p:spPr>
          <a:xfrm>
            <a:off x="3168650" y="1905000"/>
            <a:ext cx="177800" cy="1"/>
          </a:xfrm>
          <a:prstGeom prst="line">
            <a:avLst/>
          </a:prstGeom>
          <a:ln w="25400">
            <a:solidFill>
              <a:srgbClr val="6B6258"/>
            </a:solidFill>
            <a:tailEnd type="triangle" w="med" len="med"/>
          </a:ln>
        </p:spPr>
      </p:cxnSp>
      <p:cxnSp>
        <p:nvCxnSpPr>
          <p:cNvPr id="13" name="Arrow: Safety gate + propos → Deterministic safety"/>
          <p:cNvCxnSpPr>
            <a:stCxn id="5" idx="3"/>
            <a:endCxn id="6" idx="1"/>
          </p:cNvCxnSpPr>
          <p:nvPr/>
        </p:nvCxnSpPr>
        <p:spPr>
          <a:xfrm>
            <a:off x="6007100" y="1905000"/>
            <a:ext cx="177800" cy="1"/>
          </a:xfrm>
          <a:prstGeom prst="line">
            <a:avLst/>
          </a:prstGeom>
          <a:ln w="25400">
            <a:solidFill>
              <a:srgbClr val="6B6258"/>
            </a:solidFill>
            <a:tailEnd type="triangle" w="med" len="med"/>
          </a:ln>
        </p:spPr>
      </p:cxnSp>
      <p:cxnSp>
        <p:nvCxnSpPr>
          <p:cNvPr id="14" name="Arrow: Deterministic safety → Registry + built-in "/>
          <p:cNvCxnSpPr>
            <a:stCxn id="6" idx="3"/>
            <a:endCxn id="7" idx="1"/>
          </p:cNvCxnSpPr>
          <p:nvPr/>
        </p:nvCxnSpPr>
        <p:spPr>
          <a:xfrm>
            <a:off x="8845550" y="1905000"/>
            <a:ext cx="177800" cy="1"/>
          </a:xfrm>
          <a:prstGeom prst="line">
            <a:avLst/>
          </a:prstGeom>
          <a:ln w="25400">
            <a:solidFill>
              <a:srgbClr val="6B6258"/>
            </a:solidFill>
            <a:tailEnd type="triangle" w="med" len="med"/>
          </a:ln>
        </p:spPr>
      </p:cxnSp>
      <p:cxnSp>
        <p:nvCxnSpPr>
          <p:cNvPr id="15" name="Arrow: Deterministic safety → Safety overrides ord"/>
          <p:cNvCxnSpPr>
            <a:stCxn id="6" idx="2"/>
            <a:endCxn id="9" idx="0"/>
          </p:cNvCxnSpPr>
          <p:nvPr/>
        </p:nvCxnSpPr>
        <p:spPr>
          <a:xfrm>
            <a:off x="7515225" y="2540000"/>
            <a:ext cx="1" cy="508000"/>
          </a:xfrm>
          <a:prstGeom prst="line">
            <a:avLst/>
          </a:prstGeom>
          <a:ln w="25400">
            <a:solidFill>
              <a:srgbClr val="6B6258"/>
            </a:solidFill>
            <a:tailEnd type="triangle" w="med" len="med"/>
          </a:ln>
        </p:spPr>
      </p:cxnSp>
      <p:cxnSp>
        <p:nvCxnSpPr>
          <p:cNvPr id="16" name="Arrow: Longitudinal communi → Safety overrides ord"/>
          <p:cNvCxnSpPr>
            <a:stCxn id="8" idx="3"/>
            <a:endCxn id="9" idx="1"/>
          </p:cNvCxnSpPr>
          <p:nvPr/>
        </p:nvCxnSpPr>
        <p:spPr>
          <a:xfrm>
            <a:off x="6007100" y="3683000"/>
            <a:ext cx="177800" cy="1"/>
          </a:xfrm>
          <a:prstGeom prst="line">
            <a:avLst/>
          </a:prstGeom>
          <a:ln w="25400">
            <a:solidFill>
              <a:srgbClr val="6B6258"/>
            </a:solidFill>
            <a:tailEnd type="triangle" w="med" len="med"/>
          </a:ln>
        </p:spPr>
      </p:cxnSp>
      <p:cxnSp>
        <p:nvCxnSpPr>
          <p:cNvPr id="17" name="Arrow: Registry + built-in  → Pinned safety resour"/>
          <p:cNvCxnSpPr>
            <a:stCxn id="7" idx="2"/>
            <a:endCxn id="10" idx="0"/>
          </p:cNvCxnSpPr>
          <p:nvPr/>
        </p:nvCxnSpPr>
        <p:spPr>
          <a:xfrm>
            <a:off x="10353675" y="2540000"/>
            <a:ext cx="1" cy="508000"/>
          </a:xfrm>
          <a:prstGeom prst="line">
            <a:avLst/>
          </a:prstGeom>
          <a:ln w="25400">
            <a:solidFill>
              <a:srgbClr val="6B6258"/>
            </a:solidFill>
            <a:tailEnd type="triangle" w="med" len="med"/>
          </a:ln>
        </p:spPr>
      </p:cxnSp>
      <p:cxnSp>
        <p:nvCxnSpPr>
          <p:cNvPr id="18" name="Arrow: Safety overrides ord → Render the allowed i"/>
          <p:cNvCxnSpPr>
            <a:stCxn id="9" idx="2"/>
            <a:endCxn id="11" idx="0"/>
          </p:cNvCxnSpPr>
          <p:nvPr/>
        </p:nvCxnSpPr>
        <p:spPr>
          <a:xfrm>
            <a:off x="7515225" y="4318000"/>
            <a:ext cx="1" cy="508000"/>
          </a:xfrm>
          <a:prstGeom prst="line">
            <a:avLst/>
          </a:prstGeom>
          <a:ln w="25400">
            <a:solidFill>
              <a:srgbClr val="6B6258"/>
            </a:solidFill>
            <a:tailEnd type="triangle" w="med" len="med"/>
          </a:ln>
        </p:spPr>
      </p:cxnSp>
      <p:sp>
        <p:nvSpPr>
          <p:cNvPr id="19" name="Text: The patient can't dismiss safety content"/>
          <p:cNvSpPr txBox="1"/>
          <p:nvPr/>
        </p:nvSpPr>
        <p:spPr>
          <a:xfrm>
            <a:off x="508000" y="4826000"/>
            <a:ext cx="5334000" cy="1206500"/>
          </a:xfrm>
          <a:prstGeom prst="rect">
            <a:avLst/>
          </a:prstGeom>
          <a:noFill/>
        </p:spPr>
        <p:txBody>
          <a:bodyPr wrap="square" anchor="t" lIns="0" rIns="0" tIns="0" bIns="0"/>
          <a:lstStyle/>
          <a:p>
            <a:pPr algn="l">
              <a:spcAft>
                <a:spcPts val="540"/>
              </a:spcAft>
            </a:pPr>
            <a:r>
              <a:rPr sz="1200" b="0">
                <a:solidFill>
                  <a:srgbClr val="2A2320"/>
                </a:solidFill>
                <a:latin typeface="Nunito"/>
              </a:rPr>
              <a:t>The patient can't dismiss safety content. The clinician sees the same state when they open the record. No alerts are sent in this prototype.</a:t>
            </a:r>
          </a:p>
          <a:p>
            <a:pPr algn="l">
              <a:spcAft>
                <a:spcPts val="262"/>
              </a:spcAft>
            </a:pPr>
            <a:r>
              <a:rPr sz="1050" b="0">
                <a:solidFill>
                  <a:srgbClr val="6B6258"/>
                </a:solidFill>
                <a:latin typeface="Nunito"/>
              </a:rPr>
              <a:t>Engineering demonstration · resource content still needs review · no emergency monitoring or suicide-risk determination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KEY DESIGN TRADE-OFFS"/>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KEY DESIGN TRADE-OFFS</a:t>
            </a:r>
          </a:p>
        </p:txBody>
      </p:sp>
      <p:sp>
        <p:nvSpPr>
          <p:cNvPr id="5" name="Text: Signals propose, rules decide, AI words "/>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Signals propose, rules decide, AI words it</a:t>
            </a:r>
          </a:p>
        </p:txBody>
      </p:sp>
      <p:sp>
        <p:nvSpPr>
          <p:cNvPr id="6" name="Text: Deterministic state, flexible language —"/>
          <p:cNvSpPr txBox="1"/>
          <p:nvPr/>
        </p:nvSpPr>
        <p:spPr>
          <a:xfrm>
            <a:off x="876300" y="190371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Deterministic state, flexible language</a:t>
            </a:r>
            <a:r>
              <a:rPr sz="1600" b="0">
                <a:solidFill>
                  <a:srgbClr val="2A2320"/>
                </a:solidFill>
                <a:latin typeface="Nunito"/>
              </a:rPr>
              <a:t> — engines own personal baselines and safety; AI writes words and investigates.</a:t>
            </a:r>
          </a:p>
        </p:txBody>
      </p:sp>
      <p:sp>
        <p:nvSpPr>
          <p:cNvPr id="7" name="Text: Quiet patient surface, deep clinician in"/>
          <p:cNvSpPr txBox="1"/>
          <p:nvPr/>
        </p:nvSpPr>
        <p:spPr>
          <a:xfrm>
            <a:off x="876300" y="2637730"/>
            <a:ext cx="7032244" cy="284480"/>
          </a:xfrm>
          <a:prstGeom prst="rect">
            <a:avLst/>
          </a:prstGeom>
          <a:noFill/>
        </p:spPr>
        <p:txBody>
          <a:bodyPr wrap="square" anchor="t" lIns="0" rIns="0" tIns="0" bIns="0"/>
          <a:lstStyle/>
          <a:p>
            <a:pPr algn="l">
              <a:lnSpc>
                <a:spcPts val="2240"/>
              </a:lnSpc>
            </a:pPr>
            <a:r>
              <a:rPr sz="1600" b="1">
                <a:solidFill>
                  <a:srgbClr val="2A2320"/>
                </a:solidFill>
                <a:latin typeface="Nunito"/>
              </a:rPr>
              <a:t>Quiet patient surface, deep clinician inspection</a:t>
            </a:r>
            <a:r>
              <a:rPr sz="1600" b="0">
                <a:solidFill>
                  <a:srgbClr val="2A2320"/>
                </a:solidFill>
                <a:latin typeface="Nunito"/>
              </a:rPr>
              <a:t> — one record, two views.</a:t>
            </a:r>
          </a:p>
        </p:txBody>
      </p:sp>
      <p:sp>
        <p:nvSpPr>
          <p:cNvPr id="8" name="Text: Strict checks, honest fallback — numbers"/>
          <p:cNvSpPr txBox="1"/>
          <p:nvPr/>
        </p:nvSpPr>
        <p:spPr>
          <a:xfrm>
            <a:off x="876300" y="308729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Strict checks, honest fallback</a:t>
            </a:r>
            <a:r>
              <a:rPr sz="1600" b="0">
                <a:solidFill>
                  <a:srgbClr val="2A2320"/>
                </a:solidFill>
                <a:latin typeface="Nunito"/>
              </a:rPr>
              <a:t> — numbers, dates and citations are checked plus an independent verifier; failures show related facts and say why.</a:t>
            </a:r>
          </a:p>
        </p:txBody>
      </p:sp>
      <p:sp>
        <p:nvSpPr>
          <p:cNvPr id="9" name="Text: Curated medication information — AI only"/>
          <p:cNvSpPr txBox="1"/>
          <p:nvPr/>
        </p:nvSpPr>
        <p:spPr>
          <a:xfrm>
            <a:off x="876300" y="3821310"/>
            <a:ext cx="8042656" cy="284480"/>
          </a:xfrm>
          <a:prstGeom prst="rect">
            <a:avLst/>
          </a:prstGeom>
          <a:noFill/>
        </p:spPr>
        <p:txBody>
          <a:bodyPr wrap="square" anchor="t" lIns="0" rIns="0" tIns="0" bIns="0"/>
          <a:lstStyle/>
          <a:p>
            <a:pPr algn="l">
              <a:lnSpc>
                <a:spcPts val="2240"/>
              </a:lnSpc>
            </a:pPr>
            <a:r>
              <a:rPr sz="1600" b="1">
                <a:solidFill>
                  <a:srgbClr val="2A2320"/>
                </a:solidFill>
                <a:latin typeface="Nunito"/>
              </a:rPr>
              <a:t>Curated medication information</a:t>
            </a:r>
            <a:r>
              <a:rPr sz="1600" b="0">
                <a:solidFill>
                  <a:srgbClr val="2A2320"/>
                </a:solidFill>
                <a:latin typeface="Nunito"/>
              </a:rPr>
              <a:t> — AI only matches a question to an approved topic.</a:t>
            </a:r>
          </a:p>
        </p:txBody>
      </p:sp>
      <p:sp>
        <p:nvSpPr>
          <p:cNvPr id="10" name="Text: Synthetic data now, private hosting late"/>
          <p:cNvSpPr txBox="1"/>
          <p:nvPr/>
        </p:nvSpPr>
        <p:spPr>
          <a:xfrm>
            <a:off x="876300" y="4270871"/>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Synthetic data now, private hosting later</a:t>
            </a:r>
            <a:r>
              <a:rPr sz="1600" b="0">
                <a:solidFill>
                  <a:srgbClr val="2A2320"/>
                </a:solidFill>
                <a:latin typeface="Nunito"/>
              </a:rPr>
              <a:t> — a hospital would run the model on its own infrastructure.</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FIT WITH THE CHALLENGE"/>
          <p:cNvSpPr txBox="1"/>
          <p:nvPr/>
        </p:nvSpPr>
        <p:spPr>
          <a:xfrm>
            <a:off x="609600" y="825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FIT WITH THE CHALLENGE</a:t>
            </a:r>
          </a:p>
        </p:txBody>
      </p:sp>
      <p:sp>
        <p:nvSpPr>
          <p:cNvPr id="5" name="Text: Six features the challenge asks for"/>
          <p:cNvSpPr txBox="1"/>
          <p:nvPr/>
        </p:nvSpPr>
        <p:spPr>
          <a:xfrm>
            <a:off x="609600" y="1117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Six features the challenge asks for</a:t>
            </a:r>
          </a:p>
        </p:txBody>
      </p:sp>
      <p:sp>
        <p:nvSpPr>
          <p:cNvPr id="6" name="Text: Medication understanding"/>
          <p:cNvSpPr txBox="1"/>
          <p:nvPr/>
        </p:nvSpPr>
        <p:spPr>
          <a:xfrm>
            <a:off x="749300" y="1682750"/>
            <a:ext cx="2508504" cy="445690"/>
          </a:xfrm>
          <a:prstGeom prst="rect">
            <a:avLst/>
          </a:prstGeom>
          <a:noFill/>
        </p:spPr>
        <p:txBody>
          <a:bodyPr wrap="square" anchor="t" lIns="0" rIns="0" tIns="0" bIns="0"/>
          <a:lstStyle/>
          <a:p>
            <a:pPr algn="l">
              <a:lnSpc>
                <a:spcPts val="1755"/>
              </a:lnSpc>
            </a:pPr>
            <a:r>
              <a:rPr sz="1350" b="1">
                <a:solidFill>
                  <a:srgbClr val="2A2320"/>
                </a:solidFill>
                <a:latin typeface="Nunito"/>
              </a:rPr>
              <a:t>Medication understanding</a:t>
            </a:r>
          </a:p>
        </p:txBody>
      </p:sp>
      <p:sp>
        <p:nvSpPr>
          <p:cNvPr id="7" name="Text: Approved information about the person's "/>
          <p:cNvSpPr txBox="1"/>
          <p:nvPr/>
        </p:nvSpPr>
        <p:spPr>
          <a:xfrm>
            <a:off x="3416300" y="1682750"/>
            <a:ext cx="6853936" cy="445690"/>
          </a:xfrm>
          <a:prstGeom prst="rect">
            <a:avLst/>
          </a:prstGeom>
          <a:noFill/>
        </p:spPr>
        <p:txBody>
          <a:bodyPr wrap="square" anchor="t" lIns="0" rIns="0" tIns="0" bIns="0"/>
          <a:lstStyle/>
          <a:p>
            <a:pPr algn="l">
              <a:lnSpc>
                <a:spcPts val="1755"/>
              </a:lnSpc>
            </a:pPr>
            <a:r>
              <a:rPr sz="1350" b="0">
                <a:solidFill>
                  <a:srgbClr val="2A2320"/>
                </a:solidFill>
                <a:latin typeface="Nunito"/>
              </a:rPr>
              <a:t>Approved information about the person's own prescription; AI matches a question to an approved topic; honest “check with your pharmacist” when it can't answer</a:t>
            </a:r>
          </a:p>
        </p:txBody>
      </p:sp>
      <p:sp>
        <p:nvSpPr>
          <p:cNvPr id="8" name="Text: Built"/>
          <p:cNvSpPr txBox="1"/>
          <p:nvPr/>
        </p:nvSpPr>
        <p:spPr>
          <a:xfrm>
            <a:off x="10664444" y="1720850"/>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9" name="Text: Medication management"/>
          <p:cNvSpPr txBox="1"/>
          <p:nvPr/>
        </p:nvSpPr>
        <p:spPr>
          <a:xfrm>
            <a:off x="749300" y="2407840"/>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Medication management</a:t>
            </a:r>
          </a:p>
        </p:txBody>
      </p:sp>
      <p:sp>
        <p:nvSpPr>
          <p:cNvPr id="10" name="Text: One tap a day: taken, not yet, skipped ("/>
          <p:cNvSpPr txBox="1"/>
          <p:nvPr/>
        </p:nvSpPr>
        <p:spPr>
          <a:xfrm>
            <a:off x="3416300" y="2407840"/>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One tap a day: taken, not yet, skipped (no push reminders yet)</a:t>
            </a:r>
          </a:p>
        </p:txBody>
      </p:sp>
      <p:sp>
        <p:nvSpPr>
          <p:cNvPr id="11" name="Text: In the demo"/>
          <p:cNvSpPr txBox="1"/>
          <p:nvPr/>
        </p:nvSpPr>
        <p:spPr>
          <a:xfrm>
            <a:off x="10410190" y="2445940"/>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2" name="Text: Adherence support"/>
          <p:cNvSpPr txBox="1"/>
          <p:nvPr/>
        </p:nvSpPr>
        <p:spPr>
          <a:xfrm>
            <a:off x="749300" y="2953246"/>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Adherence support</a:t>
            </a:r>
          </a:p>
        </p:txBody>
      </p:sp>
      <p:sp>
        <p:nvSpPr>
          <p:cNvPr id="13" name="Text: “What got in the way?” reasons, carried "/>
          <p:cNvSpPr txBox="1"/>
          <p:nvPr/>
        </p:nvSpPr>
        <p:spPr>
          <a:xfrm>
            <a:off x="3416300" y="2953246"/>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“What got in the way?” reasons, carried to the visit note</a:t>
            </a:r>
          </a:p>
        </p:txBody>
      </p:sp>
      <p:sp>
        <p:nvSpPr>
          <p:cNvPr id="14" name="Text: In the demo"/>
          <p:cNvSpPr txBox="1"/>
          <p:nvPr/>
        </p:nvSpPr>
        <p:spPr>
          <a:xfrm>
            <a:off x="10410190" y="2991346"/>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5" name="Text: Health tracking"/>
          <p:cNvSpPr txBox="1"/>
          <p:nvPr/>
        </p:nvSpPr>
        <p:spPr>
          <a:xfrm>
            <a:off x="749300" y="3498651"/>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 tracking</a:t>
            </a:r>
          </a:p>
        </p:txBody>
      </p:sp>
      <p:sp>
        <p:nvSpPr>
          <p:cNvPr id="16" name="Text: Wearable signals against the person's ow"/>
          <p:cNvSpPr txBox="1"/>
          <p:nvPr/>
        </p:nvSpPr>
        <p:spPr>
          <a:xfrm>
            <a:off x="3416300" y="3498651"/>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Wearable signals against the person's own usual and recent pattern</a:t>
            </a:r>
          </a:p>
        </p:txBody>
      </p:sp>
      <p:sp>
        <p:nvSpPr>
          <p:cNvPr id="17" name="Text: Built"/>
          <p:cNvSpPr txBox="1"/>
          <p:nvPr/>
        </p:nvSpPr>
        <p:spPr>
          <a:xfrm>
            <a:off x="10664444" y="3536751"/>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18" name="Text: Preventive health"/>
          <p:cNvSpPr txBox="1"/>
          <p:nvPr/>
        </p:nvSpPr>
        <p:spPr>
          <a:xfrm>
            <a:off x="749300" y="4044057"/>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Preventive health</a:t>
            </a:r>
          </a:p>
        </p:txBody>
      </p:sp>
      <p:sp>
        <p:nvSpPr>
          <p:cNvPr id="19" name="Text: Refill and medication-review dates; scre"/>
          <p:cNvSpPr txBox="1"/>
          <p:nvPr/>
        </p:nvSpPr>
        <p:spPr>
          <a:xfrm>
            <a:off x="3416300" y="4044057"/>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Refill and medication-review dates; screenings and vaccinations not yet</a:t>
            </a:r>
          </a:p>
        </p:txBody>
      </p:sp>
      <p:sp>
        <p:nvSpPr>
          <p:cNvPr id="20" name="Text: Partial"/>
          <p:cNvSpPr txBox="1"/>
          <p:nvPr/>
        </p:nvSpPr>
        <p:spPr>
          <a:xfrm>
            <a:off x="10598404" y="4082157"/>
            <a:ext cx="507492" cy="189865"/>
          </a:xfrm>
          <a:prstGeom prst="rect">
            <a:avLst/>
          </a:prstGeom>
          <a:noFill/>
        </p:spPr>
        <p:txBody>
          <a:bodyPr wrap="square" anchor="t" lIns="0" rIns="0" tIns="0" bIns="0"/>
          <a:lstStyle/>
          <a:p>
            <a:pPr algn="ctr">
              <a:lnSpc>
                <a:spcPts val="1495"/>
              </a:lnSpc>
            </a:pPr>
            <a:r>
              <a:rPr sz="1150" b="1">
                <a:solidFill>
                  <a:srgbClr val="8A5A00"/>
                </a:solidFill>
                <a:latin typeface="Nunito"/>
              </a:rPr>
              <a:t>Partial</a:t>
            </a:r>
          </a:p>
        </p:txBody>
      </p:sp>
      <p:sp>
        <p:nvSpPr>
          <p:cNvPr id="21" name="Text: Healthcare preparation"/>
          <p:cNvSpPr txBox="1"/>
          <p:nvPr/>
        </p:nvSpPr>
        <p:spPr>
          <a:xfrm>
            <a:off x="749300" y="4589462"/>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Healthcare preparation</a:t>
            </a:r>
          </a:p>
        </p:txBody>
      </p:sp>
      <p:sp>
        <p:nvSpPr>
          <p:cNvPr id="22" name="Text: Visit note with changes and missed doses"/>
          <p:cNvSpPr txBox="1"/>
          <p:nvPr/>
        </p:nvSpPr>
        <p:spPr>
          <a:xfrm>
            <a:off x="3416300" y="4589462"/>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Visit note with changes and missed doses, Not sent until the patient decides</a:t>
            </a:r>
          </a:p>
        </p:txBody>
      </p:sp>
      <p:sp>
        <p:nvSpPr>
          <p:cNvPr id="23" name="Text: Built"/>
          <p:cNvSpPr txBox="1"/>
          <p:nvPr/>
        </p:nvSpPr>
        <p:spPr>
          <a:xfrm>
            <a:off x="10664444" y="4627562"/>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24" name="Text: Deliberately different: AURA describes c"/>
          <p:cNvSpPr txBox="1"/>
          <p:nvPr/>
        </p:nvSpPr>
        <p:spPr>
          <a:xfrm>
            <a:off x="609600" y="5071367"/>
            <a:ext cx="11437112" cy="248920"/>
          </a:xfrm>
          <a:prstGeom prst="rect">
            <a:avLst/>
          </a:prstGeom>
          <a:noFill/>
        </p:spPr>
        <p:txBody>
          <a:bodyPr wrap="square" anchor="t" lIns="0" rIns="0" tIns="0" bIns="0"/>
          <a:lstStyle/>
          <a:p>
            <a:pPr algn="l">
              <a:lnSpc>
                <a:spcPts val="1960"/>
              </a:lnSpc>
            </a:pPr>
            <a:r>
              <a:rPr sz="1400" b="1">
                <a:solidFill>
                  <a:srgbClr val="2A2320"/>
                </a:solidFill>
                <a:latin typeface="Nunito"/>
              </a:rPr>
              <a:t>Deliberately different:</a:t>
            </a:r>
            <a:r>
              <a:rPr sz="1400" b="0">
                <a:solidFill>
                  <a:srgbClr val="4A413B"/>
                </a:solidFill>
                <a:latin typeface="Nunito"/>
              </a:rPr>
              <a:t> AURA describes changes; it does not predict relapse or give medication advice.</a:t>
            </a:r>
          </a:p>
        </p:txBody>
      </p:sp>
      <p:sp>
        <p:nvSpPr>
          <p:cNvPr id="25"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26"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HOW WE BUILT I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HOW WE BUILT IT</a:t>
            </a:r>
          </a:p>
        </p:txBody>
      </p:sp>
      <p:sp>
        <p:nvSpPr>
          <p:cNvPr id="5" name="Text: Core first, then the agent, then the exp"/>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Core first, then the agent, then the experience</a:t>
            </a:r>
          </a:p>
        </p:txBody>
      </p:sp>
      <p:sp>
        <p:nvSpPr>
          <p:cNvPr id="6" name="Text: Safety and personal-baseline engines fir"/>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Safety and personal-baseline engines first, then the read-only agent, then the patient experience</a:t>
            </a:r>
          </a:p>
        </p:txBody>
      </p:sp>
      <p:sp>
        <p:nvSpPr>
          <p:cNvPr id="7" name="Text: AI development tools, including Tencent "/>
          <p:cNvSpPr txBox="1"/>
          <p:nvPr/>
        </p:nvSpPr>
        <p:spPr>
          <a:xfrm>
            <a:off x="876300" y="324604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AI development tools, including Tencent CodeBuddy and Miora, working from written specs</a:t>
            </a:r>
          </a:p>
        </p:txBody>
      </p:sp>
      <p:sp>
        <p:nvSpPr>
          <p:cNvPr id="8" name="Text: Every change reviewed and tested before "/>
          <p:cNvSpPr txBox="1"/>
          <p:nvPr/>
        </p:nvSpPr>
        <p:spPr>
          <a:xfrm>
            <a:off x="876300" y="3980060"/>
            <a:ext cx="4668012" cy="284480"/>
          </a:xfrm>
          <a:prstGeom prst="rect">
            <a:avLst/>
          </a:prstGeom>
          <a:noFill/>
        </p:spPr>
        <p:txBody>
          <a:bodyPr wrap="square" anchor="t" lIns="0" rIns="0" tIns="0" bIns="0"/>
          <a:lstStyle/>
          <a:p>
            <a:pPr algn="l">
              <a:lnSpc>
                <a:spcPts val="2240"/>
              </a:lnSpc>
            </a:pPr>
            <a:r>
              <a:rPr sz="1600" b="0">
                <a:solidFill>
                  <a:srgbClr val="2A2320"/>
                </a:solidFill>
                <a:latin typeface="Nunito"/>
              </a:rPr>
              <a:t>Every change reviewed and tested before release</a:t>
            </a:r>
          </a:p>
        </p:txBody>
      </p:sp>
      <p:sp>
        <p:nvSpPr>
          <p:cNvPr id="9" name="Text: Our tip: write down what must never chan"/>
          <p:cNvSpPr txBox="1"/>
          <p:nvPr/>
        </p:nvSpPr>
        <p:spPr>
          <a:xfrm>
            <a:off x="609600" y="4531221"/>
            <a:ext cx="5969000" cy="497681"/>
          </a:xfrm>
          <a:prstGeom prst="rect">
            <a:avLst/>
          </a:prstGeom>
          <a:noFill/>
        </p:spPr>
        <p:txBody>
          <a:bodyPr wrap="square" anchor="t" lIns="0" rIns="0" tIns="0" bIns="0"/>
          <a:lstStyle/>
          <a:p>
            <a:pPr algn="l">
              <a:lnSpc>
                <a:spcPts val="1960"/>
              </a:lnSpc>
            </a:pPr>
            <a:r>
              <a:rPr sz="1400" b="1">
                <a:solidFill>
                  <a:srgbClr val="2A2320"/>
                </a:solidFill>
                <a:latin typeface="Nunito"/>
              </a:rPr>
              <a:t>Our tip:</a:t>
            </a:r>
            <a:r>
              <a:rPr sz="1400" b="0">
                <a:solidFill>
                  <a:srgbClr val="4A413B"/>
                </a:solidFill>
                <a:latin typeface="Nunito"/>
              </a:rPr>
              <a:t> write down what must never change before asking an AI to build anything.</a:t>
            </a:r>
          </a:p>
        </p:txBody>
      </p:sp>
      <p:sp>
        <p:nvSpPr>
          <p:cNvPr id="10"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1"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IMPACT WE WOULD MEASURE IN A PILOT"/>
          <p:cNvSpPr txBox="1"/>
          <p:nvPr/>
        </p:nvSpPr>
        <p:spPr>
          <a:xfrm>
            <a:off x="609600" y="952500"/>
            <a:ext cx="55067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IMPACT WE WOULD MEASURE IN A PILOT</a:t>
            </a:r>
          </a:p>
        </p:txBody>
      </p:sp>
      <p:sp>
        <p:nvSpPr>
          <p:cNvPr id="5" name="Text: Targets to measure, not results"/>
          <p:cNvSpPr txBox="1"/>
          <p:nvPr/>
        </p:nvSpPr>
        <p:spPr>
          <a:xfrm>
            <a:off x="774700" y="1460500"/>
            <a:ext cx="2508504" cy="222250"/>
          </a:xfrm>
          <a:prstGeom prst="rect">
            <a:avLst/>
          </a:prstGeom>
          <a:noFill/>
        </p:spPr>
        <p:txBody>
          <a:bodyPr wrap="square" anchor="t" lIns="0" rIns="0" tIns="0" bIns="0"/>
          <a:lstStyle/>
          <a:p>
            <a:pPr algn="l">
              <a:lnSpc>
                <a:spcPts val="1560"/>
              </a:lnSpc>
            </a:pPr>
            <a:r>
              <a:rPr sz="1300" b="1">
                <a:solidFill>
                  <a:srgbClr val="8A5A00"/>
                </a:solidFill>
                <a:latin typeface="Nunito"/>
              </a:rPr>
              <a:t>Targets to measure, not results</a:t>
            </a:r>
          </a:p>
        </p:txBody>
      </p:sp>
      <p:sp>
        <p:nvSpPr>
          <p:cNvPr id="6" name="Text: Missed doses with a recorded reason"/>
          <p:cNvSpPr txBox="1"/>
          <p:nvPr/>
        </p:nvSpPr>
        <p:spPr>
          <a:xfrm>
            <a:off x="876300" y="1962150"/>
            <a:ext cx="3505708" cy="284480"/>
          </a:xfrm>
          <a:prstGeom prst="rect">
            <a:avLst/>
          </a:prstGeom>
          <a:noFill/>
        </p:spPr>
        <p:txBody>
          <a:bodyPr wrap="square" anchor="t" lIns="0" rIns="0" tIns="0" bIns="0"/>
          <a:lstStyle/>
          <a:p>
            <a:pPr algn="l">
              <a:lnSpc>
                <a:spcPts val="2240"/>
              </a:lnSpc>
            </a:pPr>
            <a:r>
              <a:rPr sz="1600" b="0">
                <a:solidFill>
                  <a:srgbClr val="2A2320"/>
                </a:solidFill>
                <a:latin typeface="Nunito"/>
              </a:rPr>
              <a:t>Missed doses with a recorded reason</a:t>
            </a:r>
          </a:p>
        </p:txBody>
      </p:sp>
      <p:sp>
        <p:nvSpPr>
          <p:cNvPr id="7" name="Text: Preparation time before visits"/>
          <p:cNvSpPr txBox="1"/>
          <p:nvPr/>
        </p:nvSpPr>
        <p:spPr>
          <a:xfrm>
            <a:off x="876300" y="2411710"/>
            <a:ext cx="2772664" cy="284480"/>
          </a:xfrm>
          <a:prstGeom prst="rect">
            <a:avLst/>
          </a:prstGeom>
          <a:noFill/>
        </p:spPr>
        <p:txBody>
          <a:bodyPr wrap="square" anchor="t" lIns="0" rIns="0" tIns="0" bIns="0"/>
          <a:lstStyle/>
          <a:p>
            <a:pPr algn="l">
              <a:lnSpc>
                <a:spcPts val="2240"/>
              </a:lnSpc>
            </a:pPr>
            <a:r>
              <a:rPr sz="1600" b="0">
                <a:solidFill>
                  <a:srgbClr val="2A2320"/>
                </a:solidFill>
                <a:latin typeface="Nunito"/>
              </a:rPr>
              <a:t>Preparation time before visits</a:t>
            </a:r>
          </a:p>
        </p:txBody>
      </p:sp>
      <p:sp>
        <p:nvSpPr>
          <p:cNvPr id="8" name="Text: How many appointments start with a prepa"/>
          <p:cNvSpPr txBox="1"/>
          <p:nvPr/>
        </p:nvSpPr>
        <p:spPr>
          <a:xfrm>
            <a:off x="876300" y="2861270"/>
            <a:ext cx="4912360" cy="284480"/>
          </a:xfrm>
          <a:prstGeom prst="rect">
            <a:avLst/>
          </a:prstGeom>
          <a:noFill/>
        </p:spPr>
        <p:txBody>
          <a:bodyPr wrap="square" anchor="t" lIns="0" rIns="0" tIns="0" bIns="0"/>
          <a:lstStyle/>
          <a:p>
            <a:pPr algn="l">
              <a:lnSpc>
                <a:spcPts val="2240"/>
              </a:lnSpc>
            </a:pPr>
            <a:r>
              <a:rPr sz="1600" b="0">
                <a:solidFill>
                  <a:srgbClr val="2A2320"/>
                </a:solidFill>
                <a:latin typeface="Nunito"/>
              </a:rPr>
              <a:t>How many appointments start with a prepared note</a:t>
            </a:r>
          </a:p>
        </p:txBody>
      </p:sp>
      <p:sp>
        <p:nvSpPr>
          <p:cNvPr id="9" name="Text: NEXT"/>
          <p:cNvSpPr txBox="1"/>
          <p:nvPr/>
        </p:nvSpPr>
        <p:spPr>
          <a:xfrm>
            <a:off x="6261100" y="952500"/>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NEXT</a:t>
            </a:r>
          </a:p>
        </p:txBody>
      </p:sp>
      <p:sp>
        <p:nvSpPr>
          <p:cNvPr id="10" name="Text: Push reminders, screenings and pharmacis"/>
          <p:cNvSpPr txBox="1"/>
          <p:nvPr/>
        </p:nvSpPr>
        <p:spPr>
          <a:xfrm>
            <a:off x="6261100" y="1384300"/>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Push reminders, screenings and pharmacist-reviewed content; consented real wearables; private hosting.</a:t>
            </a:r>
          </a:p>
        </p:txBody>
      </p:sp>
      <p:sp>
        <p:nvSpPr>
          <p:cNvPr id="11" name="Text: LIMITS"/>
          <p:cNvSpPr txBox="1"/>
          <p:nvPr/>
        </p:nvSpPr>
        <p:spPr>
          <a:xfrm>
            <a:off x="6261100" y="2212181"/>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LIMITS</a:t>
            </a:r>
          </a:p>
        </p:txBody>
      </p:sp>
      <p:sp>
        <p:nvSpPr>
          <p:cNvPr id="12" name="Text: No diagnosis, relapse prediction or medi"/>
          <p:cNvSpPr txBox="1"/>
          <p:nvPr/>
        </p:nvSpPr>
        <p:spPr>
          <a:xfrm>
            <a:off x="6261100" y="2643981"/>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No diagnosis, relapse prediction or medication advice. Synthetic data only. Not clinically validated.</a:t>
            </a:r>
          </a:p>
        </p:txBody>
      </p:sp>
      <p:sp>
        <p:nvSpPr>
          <p:cNvPr id="13"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4"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256540" y="3810000"/>
            <a:ext cx="12705080" cy="658368"/>
          </a:xfrm>
          <a:prstGeom prst="rect">
            <a:avLst/>
          </a:prstGeom>
          <a:noFill/>
        </p:spPr>
        <p:txBody>
          <a:bodyPr wrap="square" anchor="t" lIns="0" rIns="0" tIns="0" bIns="0"/>
          <a:lstStyle/>
          <a:p>
            <a:pPr algn="ctr">
              <a:lnSpc>
                <a:spcPts val="5184"/>
              </a:lnSpc>
            </a:pPr>
            <a:r>
              <a:rPr sz="4800" b="1" spc="-96">
                <a:solidFill>
                  <a:srgbClr val="2A2320"/>
                </a:solidFill>
                <a:latin typeface="Nunito"/>
              </a:rPr>
              <a:t>AURA Health</a:t>
            </a:r>
          </a:p>
        </p:txBody>
      </p:sp>
      <p:sp>
        <p:nvSpPr>
          <p:cNvPr id="4" name="Text: A calm companion between doctor visits, "/>
          <p:cNvSpPr txBox="1"/>
          <p:nvPr/>
        </p:nvSpPr>
        <p:spPr>
          <a:xfrm>
            <a:off x="1790700" y="4608016"/>
            <a:ext cx="8610600" cy="736600"/>
          </a:xfrm>
          <a:prstGeom prst="rect">
            <a:avLst/>
          </a:prstGeom>
          <a:noFill/>
        </p:spPr>
        <p:txBody>
          <a:bodyPr wrap="square" anchor="t" lIns="0" rIns="0" tIns="0" bIns="0"/>
          <a:lstStyle/>
          <a:p>
            <a:pPr algn="ctr">
              <a:lnSpc>
                <a:spcPts val="2900"/>
              </a:lnSpc>
            </a:pPr>
            <a:r>
              <a:rPr sz="2000" b="0">
                <a:solidFill>
                  <a:srgbClr val="2A2320"/>
                </a:solidFill>
                <a:latin typeface="Nunito"/>
              </a:rPr>
              <a:t>A calm companion between doctor visits, so both sides start the conversation on the same page.</a:t>
            </a:r>
          </a:p>
        </p:txBody>
      </p:sp>
      <p:sp>
        <p:nvSpPr>
          <p:cNvPr id="5" name="Text: aura-health.makodev58.com · github.com/e"/>
          <p:cNvSpPr txBox="1"/>
          <p:nvPr/>
        </p:nvSpPr>
        <p:spPr>
          <a:xfrm>
            <a:off x="-256540" y="5535116"/>
            <a:ext cx="12705080" cy="248920"/>
          </a:xfrm>
          <a:prstGeom prst="rect">
            <a:avLst/>
          </a:prstGeom>
          <a:noFill/>
        </p:spPr>
        <p:txBody>
          <a:bodyPr wrap="square" anchor="t" lIns="0" rIns="0" tIns="0" bIns="0"/>
          <a:lstStyle/>
          <a:p>
            <a:pPr algn="ctr">
              <a:lnSpc>
                <a:spcPts val="1960"/>
              </a:lnSpc>
            </a:pPr>
            <a:r>
              <a:rPr sz="1400" b="0">
                <a:solidFill>
                  <a:srgbClr val="4A413B"/>
                </a:solidFill>
                <a:latin typeface="Nunito"/>
              </a:rPr>
              <a:t>aura-health.makodev58.com · github.com/e8aura-makodev58/aura-health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
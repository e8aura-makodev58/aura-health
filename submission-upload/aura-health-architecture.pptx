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1 · The challenge — 0:00–0:25 (live pitch)</a:t>
            </a:r>
          </a:p>
          <a:p/>
          <a:p>
            <a:r>
              <a:t>[Slide: cover · "AURA Health — a calm companion between doctor visits" · Healthcare track badge.]</a:t>
            </a:r>
          </a:p>
          <a:p/>
          <a:p>
            <a:r>
              <a:t>"We chose the Healthcare track's Challenge Statement 2, AI Healthier Every Day, Scenario 1: mental health maintenance for working adults on antidepressants. This is AURA Health."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(Continues scene 1.)</a:t>
            </a:r>
          </a:p>
          <a:p/>
          <a:p>
            <a:r>
              <a:t>Scene 1 · The challenge — 0:00–0:25 (live pitch)</a:t>
            </a:r>
          </a:p>
          <a:p/>
          <a:p>
            <a:r>
              <a:t>[Slide: cover · "AURA Health — a calm companion between doctor visits" · Healthcare track badge.]</a:t>
            </a:r>
          </a:p>
          <a:p/>
          <a:p>
            <a:r>
              <a:t>"We chose the Healthcare track's Challenge Statement 2, AI Healthier Every Day, Scenario 1: mental health maintenance for working adults on antidepressants. This is AURA Health."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2 · The problem — 0:25–0:55 (live pitch)</a:t>
            </a:r>
          </a:p>
          <a:p/>
          <a:p>
            <a:r>
              <a:t>[Slide: three short lines.]</a:t>
            </a:r>
          </a:p>
          <a:p/>
          <a:p>
            <a:r>
              <a:t>"Staying well on an antidepressant happens mostly between appointments. A dose gets missed, sleep drifts later, a flu knocks you out for a few days. Most apps ask you to log your mood every evening, which is hard when you're tired or low. And when the appointment comes, it's all pieced together from memory."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3 · A calm start — 0:55–1:35 (live pitch)</a:t>
            </a:r>
          </a:p>
          <a:p/>
          <a:p>
            <a:r>
              <a:t>[Screen: landing → Play the 3-minute story → Start (the in-app guided story; each step highlights one thing and AURA does the tapping) → "Take a breath" → summary.]</a:t>
            </a:r>
          </a:p>
          <a:p/>
          <a:p>
            <a:r>
              <a:t>"AURA starts with a breath, not a dashboard. Then one short summary, written by AI from facts the system has checked: sleep time later than usual since late February, and how the person has been checking in. It quietly reads everyday wearable data and compares it with this person's usual, not a population average."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(Continues scene 3.)</a:t>
            </a:r>
          </a:p>
          <a:p/>
          <a:p>
            <a:r>
              <a:t>Scene 3 · A calm start — 0:55–1:35 (live pitch)</a:t>
            </a:r>
          </a:p>
          <a:p/>
          <a:p>
            <a:r>
              <a:t>[Screen: landing → Play the 3-minute story → Start (the in-app guided story; each step highlights one thing and AURA does the tapping) → "Take a breath" → summary.]</a:t>
            </a:r>
          </a:p>
          <a:p/>
          <a:p>
            <a:r>
              <a:t>"AURA starts with a breath, not a dashboard. Then one short summary, written by AI from facts the system has checked: sleep time later than usual since late February, and how the person has been checking in. It quietly reads everyday wearable data and compares it with this person's usual, not a population average."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4 · My medication, my day — 1:35–2:35 (live pitch)</a:t>
            </a:r>
          </a:p>
          <a:p/>
          <a:p>
            <a:r>
              <a:t>[Screen: Today's dose → tap Skipped → "What got in the way?" → Side effects.]</a:t>
            </a:r>
          </a:p>
          <a:p/>
          <a:p>
            <a:r>
              <a:t>"Every morning there's one tap: taken, not yet, or skipped. If it's skipped, AURA asks what got in the way, because that's what's worth bringing to a doctor. My medication explains the person's own prescription in plain words: what it's for, how it's usually taken, what patient leaflets say about a missed dose. These answers come from approved information, not made up by AI, and they always point back to the pharmacist."</a:t>
            </a:r>
          </a:p>
          <a:p/>
          <a:p>
            <a:r>
              <a:t>[Then type in Ask a question: "Can I take ibuprofen with it?"]</a:t>
            </a:r>
          </a:p>
          <a:p/>
          <a:p>
            <a:r>
              <a:t>"And when AURA can't answer, it says so: I'm not able to identify that medication, please check with your pharmacist. Exactly what the challenge asks for."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5 · Ready for the appointment — 2:35–3:05 (live pitch)</a:t>
            </a:r>
          </a:p>
          <a:p/>
          <a:p>
            <a:r>
              <a:t>[Screen: Prepare for my appointment → missed doses → Not sent.]</a:t>
            </a:r>
          </a:p>
          <a:p/>
          <a:p>
            <a:r>
              <a:t>"Before the visit, everything is in one place: what changed, when, and the missed dose with its reason, ready to discuss with the doctor or pharmacist. Nothing is sent automatically. It stays Not sent until the patient decides."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6 · What the clinician sees — the agent at work — 3:05–4:10 (live pitch)</a:t>
            </a:r>
          </a:p>
          <a:p/>
          <a:p>
            <a:r>
              <a:t>[Screen: Clinician → assessment cards → Ask about this record:]</a:t>
            </a:r>
          </a:p>
          <a:p/>
          <a:p>
            <a:r>
              <a:t>"If the patient shares, their clinician sees what changed and when, with exact values and sources. And the clinician can ask. Here AURA works as an agent: it decides which signals, tools and dates to look at, reads the record, and drafts an answer where every statement cites its source. A second, independent check then reviews each statement and removes anything unsupported. How AURA looked shows exactly what it did. It can only read; it never changes the record or the treatment."</a:t>
            </a:r>
          </a:p>
          <a:p/>
          <a:p>
            <a:r>
              <a:t>[If it falls back:]</a:t>
            </a:r>
          </a:p>
          <a:p/>
          <a:p>
            <a:r>
              <a:t>"This time the draft didn't pass the checks, so AURA shows the related facts and says why."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7 · Something changes — 4:10–4:50 (live pitch)</a:t>
            </a:r>
          </a:p>
          <a:p/>
          <a:p>
            <a:r>
              <a:t>[Screen: guided story step 9 → simulated flu → the patient home with the new summary and a small idea for today.]</a:t>
            </a:r>
          </a:p>
          <a:p/>
          <a:p>
            <a:r>
              <a:t>"Now a flu, simulated over three days. AURA notices resting heart rate is higher than in the person's recent records, and says exactly that: a recent change, not a change from their usual. And when a change shows up, it offers a small idea for today: a short walk, a message to someone you trust, or planning a session. Optional, never about medication."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8 · Safety first — 4:50–5:15 (live pitch)</a:t>
            </a:r>
          </a:p>
          <a:p/>
          <a:p>
            <a:r>
              <a:t>[Screen: finish card → Show the safety example → the note box opens with A worrying message (masked on screen) → Send to AURA → safety panel → the card explains, with Reset the demo.]</a:t>
            </a:r>
          </a:p>
          <a:p/>
          <a:p>
            <a:r>
              <a:t>"Anything a patient types is safety-checked first. If there's a concern, fixed safety resources take over the screen and the AI steps back. Those messages are never AI-written, and the patient can't dismiss them. The clinician sees the same safety state when they open the record. This prototype doesn't send alerts: who is told, and how fast, is for the care team to decide. The same applies to medication questions: asking to double a dose goes to safety, not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9 · How it's built — 5:15–6:00 (live pitch)</a:t>
            </a:r>
          </a:p>
          <a:p/>
          <a:p>
            <a:r>
              <a:t>[Slides: architecture overview · agent loop · safety precedence (`diagrams/`).]</a:t>
            </a:r>
          </a:p>
          <a:p/>
          <a:p>
            <a:r>
              <a:t>"Our rule: signals propose, rules decide, AI words it. Deterministic engines own the personal baselines and the safety state. Medication information is curated; AI only matches a question to an approved topic. The clinician agent investigates with read-only tools, and every answer passes number, date and citation checks plus an independent verifier. In this demo the model runs on synthetic data only; a hospital would run it on its own private infrastructure. And the patient decides what their clinician sees: an agreed minimum, plus anything they choose to share, enforced on the server, so the agent says 'not shared, ask the patient' instead of guessing."</a:t>
            </a:r>
          </a:p>
          <a:p>
            <a:r>
              <a:t>Architecture audit 2026-10-14: implementation 90e31ea. See docs/submission/ARCHITECTURE_REVIEW.md. The 90-s budget is checked between calls; resource rendering has no model, but patient-input assessment may use 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(Continues scene 9.)</a:t>
            </a:r>
          </a:p>
          <a:p/>
          <a:p>
            <a:r>
              <a:t>Scene 9 · How it's built — 5:15–6:00 (live pitch)</a:t>
            </a:r>
          </a:p>
          <a:p/>
          <a:p>
            <a:r>
              <a:t>[Slides: architecture overview · agent loop · safety precedence (`diagrams/`).]</a:t>
            </a:r>
          </a:p>
          <a:p/>
          <a:p>
            <a:r>
              <a:t>"Our rule: signals propose, rules decide, AI words it. Deterministic engines own the personal baselines and the safety state. Medication information is curated; AI only matches a question to an approved topic. The clinician agent investigates with read-only tools, and every answer passes number, date and citation checks plus an independent verifier. In this demo the model runs on synthetic data only; a hospital would run it on its own private infrastructure. And the patient decides what their clinician sees: an agreed minimum, plus anything they choose to share, enforced on the server, so the agent says 'not shared, ask the patient' instead of guessing."</a:t>
            </a:r>
          </a:p>
          <a:p>
            <a:r>
              <a:t>Architecture audit 2026-10-14: implementation 90e31ea. See docs/submission/ARCHITECTURE_REVIEW.md. The 90-s budget is checked between calls; resource rendering has no model, but patient-input assessment may use 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(Continues scene 9.)</a:t>
            </a:r>
          </a:p>
          <a:p/>
          <a:p>
            <a:r>
              <a:t>Scene 9 · How it's built — 5:15–6:00 (live pitch)</a:t>
            </a:r>
          </a:p>
          <a:p/>
          <a:p>
            <a:r>
              <a:t>[Slides: architecture overview · agent loop · safety precedence (`diagrams/`).]</a:t>
            </a:r>
          </a:p>
          <a:p/>
          <a:p>
            <a:r>
              <a:t>"Our rule: signals propose, rules decide, AI words it. Deterministic engines own the personal baselines and the safety state. Medication information is curated; AI only matches a question to an approved topic. The clinician agent investigates with read-only tools, and every answer passes number, date and citation checks plus an independent verifier. In this demo the model runs on synthetic data only; a hospital would run it on its own private infrastructure. And the patient decides what their clinician sees: an agreed minimum, plus anything they choose to share, enforced on the server, so the agent says 'not shared, ask the patient' instead of guessing."</a:t>
            </a:r>
          </a:p>
          <a:p>
            <a:r>
              <a:t>Architecture audit 2026-10-14: implementation 90e31ea. See docs/submission/ARCHITECTURE_REVIEW.md. The 90-s budget is checked between calls; resource rendering has no model, but patient-input assessment may use 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(Continues scene 9.)</a:t>
            </a:r>
          </a:p>
          <a:p/>
          <a:p>
            <a:r>
              <a:t>Scene 9 · How it's built — 5:15–6:00 (live pitch)</a:t>
            </a:r>
          </a:p>
          <a:p/>
          <a:p>
            <a:r>
              <a:t>[Slides: architecture overview · agent loop · safety precedence (`diagrams/`).]</a:t>
            </a:r>
          </a:p>
          <a:p/>
          <a:p>
            <a:r>
              <a:t>"Our rule: signals propose, rules decide, AI words it. Deterministic engines own the personal baselines and the safety state. Medication information is curated; AI only matches a question to an approved topic. The clinician agent investigates with read-only tools, and every answer passes number, date and citation checks plus an independent verifier. In this demo the model runs on synthetic data only; a hospital would run it on its own private infrastructure. And the patient decides what their clinician sees: an agreed minimum, plus anything they choose to share, enforced on the server, so the agent says 'not shared, ask the patient' instead of guessing."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10 · Fit with the challenge — 6:00–6:25 (live pitch)</a:t>
            </a:r>
          </a:p>
          <a:p/>
          <a:p>
            <a:r>
              <a:t>[Slide: six features: built / partial / next (from `../submission/CHALLENGE_MAPPING.md`).]</a:t>
            </a:r>
          </a:p>
          <a:p/>
          <a:p>
            <a:r>
              <a:t>"Against the challenge: medication understanding, adherence with barriers, health tracking, follow-up dates for refills and medication reviews, and appointment preparation are in the demo. Push reminders, screenings and pharmacist-reviewed content come next. One choice is deliberate: AURA describes changes; it doesn't predict relapse or give medication advice."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11 · How we built it — 6:25–6:45 (live pitch)</a:t>
            </a:r>
          </a:p>
          <a:p/>
          <a:p>
            <a:r>
              <a:t>[Slide: how we built it (core first, AI development tools, reviews and tests).]</a:t>
            </a:r>
          </a:p>
          <a:p/>
          <a:p>
            <a:r>
              <a:t>"We built the safety and personal-baseline core first, then the agent, then the experience, using AI development tools including Tencent's CodeBuddy and Miora, working from written specs, with every change reviewed and tested. Our tip: write down what must never change before asking an AI to build anything."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12 · Impact and close — 6:45–7:05 (live pitch)</a:t>
            </a:r>
          </a:p>
          <a:p/>
          <a:p>
            <a:r>
              <a:t>[Slide: pilot metrics (labelled as targets) · closing line.]</a:t>
            </a:r>
          </a:p>
          <a:p/>
          <a:p>
            <a:r>
              <a:t>"In a pilot we'd measure missed doses with a recorded reason, preparation time before visits, and how many appointments start with a prepared note. AURA Health: a calm companion between doctor visits, so both sides start the conversation on the same page."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(Continues scene 12.)</a:t>
            </a:r>
          </a:p>
          <a:p/>
          <a:p>
            <a:r>
              <a:t>Scene 12 · Impact and close — 6:45–7:05 (live pitch)</a:t>
            </a:r>
          </a:p>
          <a:p/>
          <a:p>
            <a:r>
              <a:t>[Slide: pilot metrics (labelled as targets) · closing line.]</a:t>
            </a:r>
          </a:p>
          <a:p/>
          <a:p>
            <a:r>
              <a:t>"In a pilot we'd measure missed doses with a recorded reason, preparation time before visits, and how many appointments start with a prepared note. AURA Health: a calm companion between doctor visits, so both sides start the conversation on the same page."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art, cards, screenshots)" descr="image.jpg"/>
          <p:cNvPicPr>
            <a:picLocks noChangeAspect="1"/>
          </p:cNvPicPr>
          <p:nvPr/>
        </p:nvPicPr>
        <p:blipFill>
          <a:blip r:embed="rId2"/>
          <a:stretch>
            <a:fillRect/>
          </a:stretch>
        </p:blipFill>
        <p:spPr>
          <a:xfrm>
            <a:off x="0" y="0"/>
            <a:ext cx="12192000" cy="6858000"/>
          </a:xfrm>
          <a:prstGeom prst="rect">
            <a:avLst/>
          </a:prstGeom>
        </p:spPr>
      </p:pic>
      <p:sp>
        <p:nvSpPr>
          <p:cNvPr id="3" name="Text: AURA Health"/>
          <p:cNvSpPr txBox="1"/>
          <p:nvPr/>
        </p:nvSpPr>
        <p:spPr>
          <a:xfrm>
            <a:off x="762000" y="2425700"/>
            <a:ext cx="5262372" cy="822960"/>
          </a:xfrm>
          <a:prstGeom prst="rect">
            <a:avLst/>
          </a:prstGeom>
          <a:noFill/>
        </p:spPr>
        <p:txBody>
          <a:bodyPr wrap="square" anchor="t" lIns="0" rIns="0" tIns="0" bIns="0"/>
          <a:lstStyle/>
          <a:p>
            <a:pPr algn="l">
              <a:lnSpc>
                <a:spcPts val="6480"/>
              </a:lnSpc>
            </a:pPr>
            <a:r>
              <a:rPr sz="6000" b="1" spc="-120">
                <a:solidFill>
                  <a:srgbClr val="2A2320"/>
                </a:solidFill>
                <a:latin typeface="Nunito"/>
              </a:rPr>
              <a:t>AURA Health</a:t>
            </a:r>
          </a:p>
        </p:txBody>
      </p:sp>
      <p:sp>
        <p:nvSpPr>
          <p:cNvPr id="4" name="Text: A calm companion between doctor visits"/>
          <p:cNvSpPr txBox="1"/>
          <p:nvPr/>
        </p:nvSpPr>
        <p:spPr>
          <a:xfrm>
            <a:off x="762000" y="3388320"/>
            <a:ext cx="5262372" cy="405130"/>
          </a:xfrm>
          <a:prstGeom prst="rect">
            <a:avLst/>
          </a:prstGeom>
          <a:noFill/>
        </p:spPr>
        <p:txBody>
          <a:bodyPr wrap="square" anchor="t" lIns="0" rIns="0" tIns="0" bIns="0"/>
          <a:lstStyle/>
          <a:p>
            <a:pPr algn="l">
              <a:lnSpc>
                <a:spcPts val="3190"/>
              </a:lnSpc>
            </a:pPr>
            <a:r>
              <a:rPr sz="2200" b="0">
                <a:solidFill>
                  <a:srgbClr val="2A2320"/>
                </a:solidFill>
                <a:latin typeface="Nunito"/>
              </a:rPr>
              <a:t>A calm companion between doctor visits</a:t>
            </a:r>
          </a:p>
        </p:txBody>
      </p:sp>
      <p:sp>
        <p:nvSpPr>
          <p:cNvPr id="5" name="Text: Healthcare track"/>
          <p:cNvSpPr txBox="1"/>
          <p:nvPr/>
        </p:nvSpPr>
        <p:spPr>
          <a:xfrm>
            <a:off x="939800" y="4225230"/>
            <a:ext cx="1332992" cy="222250"/>
          </a:xfrm>
          <a:prstGeom prst="rect">
            <a:avLst/>
          </a:prstGeom>
          <a:noFill/>
        </p:spPr>
        <p:txBody>
          <a:bodyPr wrap="square" anchor="t" lIns="0" rIns="0" tIns="0" bIns="0"/>
          <a:lstStyle/>
          <a:p>
            <a:pPr algn="l">
              <a:lnSpc>
                <a:spcPts val="1560"/>
              </a:lnSpc>
            </a:pPr>
            <a:r>
              <a:rPr sz="1300" b="1">
                <a:solidFill>
                  <a:srgbClr val="2A2320"/>
                </a:solidFill>
                <a:latin typeface="Nunito"/>
              </a:rPr>
              <a:t>Healthcare track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art, cards, screenshots)" descr="image.jpg"/>
          <p:cNvPicPr>
            <a:picLocks noChangeAspect="1"/>
          </p:cNvPicPr>
          <p:nvPr/>
        </p:nvPicPr>
        <p:blipFill>
          <a:blip r:embed="rId2"/>
          <a:stretch>
            <a:fillRect/>
          </a:stretch>
        </p:blipFill>
        <p:spPr>
          <a:xfrm>
            <a:off x="0" y="0"/>
            <a:ext cx="12192000" cy="6858000"/>
          </a:xfrm>
          <a:prstGeom prst="rect">
            <a:avLst/>
          </a:prstGeom>
        </p:spPr>
      </p:pic>
      <p:sp>
        <p:nvSpPr>
          <p:cNvPr id="3" name="Text: AURA HEALTH"/>
          <p:cNvSpPr txBox="1"/>
          <p:nvPr/>
        </p:nvSpPr>
        <p:spPr>
          <a:xfrm>
            <a:off x="977900" y="384175"/>
            <a:ext cx="1531421" cy="222250"/>
          </a:xfrm>
          <a:prstGeom prst="rect">
            <a:avLst/>
          </a:prstGeom>
          <a:noFill/>
        </p:spPr>
        <p:txBody>
          <a:bodyPr wrap="square" anchor="t" lIns="0" rIns="0" tIns="0" bIns="0"/>
          <a:lstStyle/>
          <a:p>
            <a:pPr algn="l">
              <a:lnSpc>
                <a:spcPts val="1560"/>
              </a:lnSpc>
            </a:pPr>
            <a:r>
              <a:rPr sz="1300" b="1" spc="182">
                <a:solidFill>
                  <a:srgbClr val="2A2320"/>
                </a:solidFill>
                <a:latin typeface="Nunito"/>
              </a:rPr>
              <a:t>AURA HEALTH</a:t>
            </a:r>
          </a:p>
        </p:txBody>
      </p:sp>
      <p:sp>
        <p:nvSpPr>
          <p:cNvPr id="4" name="Text: OUR CHOSEN CASE STUDY"/>
          <p:cNvSpPr txBox="1"/>
          <p:nvPr/>
        </p:nvSpPr>
        <p:spPr>
          <a:xfrm>
            <a:off x="609600" y="952500"/>
            <a:ext cx="11437112" cy="203200"/>
          </a:xfrm>
          <a:prstGeom prst="rect">
            <a:avLst/>
          </a:prstGeom>
          <a:noFill/>
        </p:spPr>
        <p:txBody>
          <a:bodyPr wrap="square" anchor="t" lIns="0" rIns="0" tIns="0" bIns="0"/>
          <a:lstStyle/>
          <a:p>
            <a:pPr algn="l">
              <a:lnSpc>
                <a:spcPts val="1439"/>
              </a:lnSpc>
            </a:pPr>
            <a:r>
              <a:rPr sz="1200" b="1" spc="168">
                <a:solidFill>
                  <a:srgbClr val="9C5700"/>
                </a:solidFill>
                <a:latin typeface="Nunito"/>
              </a:rPr>
              <a:t>OUR CHOSEN CASE STUDY</a:t>
            </a:r>
          </a:p>
        </p:txBody>
      </p:sp>
      <p:sp>
        <p:nvSpPr>
          <p:cNvPr id="5" name="Text: Challenge Statement 2 · AI Healthier Eve"/>
          <p:cNvSpPr txBox="1"/>
          <p:nvPr/>
        </p:nvSpPr>
        <p:spPr>
          <a:xfrm>
            <a:off x="609600" y="1244600"/>
            <a:ext cx="11437112" cy="405130"/>
          </a:xfrm>
          <a:prstGeom prst="rect">
            <a:avLst/>
          </a:prstGeom>
          <a:noFill/>
        </p:spPr>
        <p:txBody>
          <a:bodyPr wrap="square" anchor="t" lIns="0" rIns="0" tIns="0" bIns="0"/>
          <a:lstStyle/>
          <a:p>
            <a:pPr algn="l">
              <a:lnSpc>
                <a:spcPts val="3190"/>
              </a:lnSpc>
            </a:pPr>
            <a:r>
              <a:rPr sz="2900" b="1" spc="-44">
                <a:solidFill>
                  <a:srgbClr val="2A2320"/>
                </a:solidFill>
                <a:latin typeface="Nunito"/>
              </a:rPr>
              <a:t>Challenge Statement 2 · AI Healthier Every Day</a:t>
            </a:r>
          </a:p>
        </p:txBody>
      </p:sp>
      <p:sp>
        <p:nvSpPr>
          <p:cNvPr id="6" name="Text: Scenario 1 · Mental health maintenance f"/>
          <p:cNvSpPr txBox="1"/>
          <p:nvPr/>
        </p:nvSpPr>
        <p:spPr>
          <a:xfrm>
            <a:off x="609600" y="1764010"/>
            <a:ext cx="11252200" cy="331470"/>
          </a:xfrm>
          <a:prstGeom prst="rect">
            <a:avLst/>
          </a:prstGeom>
          <a:noFill/>
        </p:spPr>
        <p:txBody>
          <a:bodyPr wrap="square" anchor="t" lIns="0" rIns="0" tIns="0" bIns="0"/>
          <a:lstStyle/>
          <a:p>
            <a:pPr algn="l">
              <a:lnSpc>
                <a:spcPts val="2610"/>
              </a:lnSpc>
            </a:pPr>
            <a:r>
              <a:rPr sz="1800" b="0">
                <a:solidFill>
                  <a:srgbClr val="4A413B"/>
                </a:solidFill>
                <a:latin typeface="Nunito"/>
              </a:rPr>
              <a:t>Scenario 1 · Mental health maintenance for working adults on antidepressants</a:t>
            </a:r>
          </a:p>
        </p:txBody>
      </p:sp>
      <p:sp>
        <p:nvSpPr>
          <p:cNvPr id="7" name="Text: “How might we build an AI-powered health"/>
          <p:cNvSpPr txBox="1"/>
          <p:nvPr/>
        </p:nvSpPr>
        <p:spPr>
          <a:xfrm>
            <a:off x="952500" y="2514500"/>
            <a:ext cx="9931400" cy="1131391"/>
          </a:xfrm>
          <a:prstGeom prst="rect">
            <a:avLst/>
          </a:prstGeom>
          <a:noFill/>
        </p:spPr>
        <p:txBody>
          <a:bodyPr wrap="square" anchor="t" lIns="0" rIns="0" tIns="0" bIns="0"/>
          <a:lstStyle/>
          <a:p>
            <a:pPr algn="l">
              <a:lnSpc>
                <a:spcPts val="2970"/>
              </a:lnSpc>
            </a:pPr>
            <a:r>
              <a:rPr sz="2200" b="1">
                <a:solidFill>
                  <a:srgbClr val="2A2320"/>
                </a:solidFill>
                <a:latin typeface="Nunito"/>
              </a:rPr>
              <a:t>“How might we build an AI-powered health companion that helps people understand and manage their medications, stay on track with their care, and take greater ownership of their long-term health?”</a:t>
            </a:r>
          </a:p>
        </p:txBody>
      </p:sp>
      <p:sp>
        <p:nvSpPr>
          <p:cNvPr id="8" name="Text: Problem statement · Healthcare track, NT"/>
          <p:cNvSpPr txBox="1"/>
          <p:nvPr/>
        </p:nvSpPr>
        <p:spPr>
          <a:xfrm>
            <a:off x="952500" y="3810992"/>
            <a:ext cx="11080496" cy="248920"/>
          </a:xfrm>
          <a:prstGeom prst="rect">
            <a:avLst/>
          </a:prstGeom>
          <a:noFill/>
        </p:spPr>
        <p:txBody>
          <a:bodyPr wrap="square" anchor="t" lIns="0" rIns="0" tIns="0" bIns="0"/>
          <a:lstStyle/>
          <a:p>
            <a:pPr algn="l">
              <a:lnSpc>
                <a:spcPts val="1960"/>
              </a:lnSpc>
            </a:pPr>
            <a:r>
              <a:rPr sz="1400" b="0">
                <a:solidFill>
                  <a:srgbClr val="4A413B"/>
                </a:solidFill>
                <a:latin typeface="Nunito"/>
              </a:rPr>
              <a:t>Problem statement · Healthcare track, NTU Lee Kong Chian School of Medicine</a:t>
            </a:r>
          </a:p>
        </p:txBody>
      </p:sp>
      <p:sp>
        <p:nvSpPr>
          <p:cNvPr id="9" name="Text: Healthcare track · Challenge Statement 2"/>
          <p:cNvSpPr txBox="1"/>
          <p:nvPr/>
        </p:nvSpPr>
        <p:spPr>
          <a:xfrm>
            <a:off x="609600" y="6388100"/>
            <a:ext cx="3591560" cy="190500"/>
          </a:xfrm>
          <a:prstGeom prst="rect">
            <a:avLst/>
          </a:prstGeom>
          <a:noFill/>
        </p:spPr>
        <p:txBody>
          <a:bodyPr wrap="square" anchor="t" lIns="0" rIns="0" tIns="0" bIns="0"/>
          <a:lstStyle/>
          <a:p>
            <a:pPr algn="l">
              <a:lnSpc>
                <a:spcPts val="1320"/>
              </a:lnSpc>
            </a:pPr>
            <a:r>
              <a:rPr sz="1100" b="0">
                <a:solidFill>
                  <a:srgbClr val="7A7066"/>
                </a:solidFill>
                <a:latin typeface="Nunito"/>
              </a:rPr>
              <a:t>Healthcare track · Challenge Statement 2 · Scenario 1</a:t>
            </a:r>
          </a:p>
        </p:txBody>
      </p:sp>
      <p:sp>
        <p:nvSpPr>
          <p:cNvPr id="10" name="Text: Synthetic demo data · aura-health.makode"/>
          <p:cNvSpPr txBox="1"/>
          <p:nvPr/>
        </p:nvSpPr>
        <p:spPr>
          <a:xfrm>
            <a:off x="8350250" y="6388100"/>
            <a:ext cx="3386836" cy="190500"/>
          </a:xfrm>
          <a:prstGeom prst="rect">
            <a:avLst/>
          </a:prstGeom>
          <a:noFill/>
        </p:spPr>
        <p:txBody>
          <a:bodyPr wrap="square" anchor="t" lIns="0" rIns="0" tIns="0" bIns="0"/>
          <a:lstStyle/>
          <a:p>
            <a:pPr algn="l">
              <a:lnSpc>
                <a:spcPts val="1320"/>
              </a:lnSpc>
            </a:pPr>
            <a:r>
              <a:rPr sz="1100" b="0">
                <a:solidFill>
                  <a:srgbClr val="7A7066"/>
                </a:solidFill>
                <a:latin typeface="Nunito"/>
              </a:rPr>
              <a:t>Synthetic demo data · aura-health.makodev58.com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art, cards, screenshots)" descr="image.jpg"/>
          <p:cNvPicPr>
            <a:picLocks noChangeAspect="1"/>
          </p:cNvPicPr>
          <p:nvPr/>
        </p:nvPicPr>
        <p:blipFill>
          <a:blip r:embed="rId2"/>
          <a:stretch>
            <a:fillRect/>
          </a:stretch>
        </p:blipFill>
        <p:spPr>
          <a:xfrm>
            <a:off x="0" y="0"/>
            <a:ext cx="12192000" cy="6858000"/>
          </a:xfrm>
          <a:prstGeom prst="rect">
            <a:avLst/>
          </a:prstGeom>
        </p:spPr>
      </p:pic>
      <p:sp>
        <p:nvSpPr>
          <p:cNvPr id="3" name="Text: AURA HEALTH"/>
          <p:cNvSpPr txBox="1"/>
          <p:nvPr/>
        </p:nvSpPr>
        <p:spPr>
          <a:xfrm>
            <a:off x="977900" y="384175"/>
            <a:ext cx="1531421" cy="222250"/>
          </a:xfrm>
          <a:prstGeom prst="rect">
            <a:avLst/>
          </a:prstGeom>
          <a:noFill/>
        </p:spPr>
        <p:txBody>
          <a:bodyPr wrap="square" anchor="t" lIns="0" rIns="0" tIns="0" bIns="0"/>
          <a:lstStyle/>
          <a:p>
            <a:pPr algn="l">
              <a:lnSpc>
                <a:spcPts val="1560"/>
              </a:lnSpc>
            </a:pPr>
            <a:r>
              <a:rPr sz="1300" b="1" spc="182">
                <a:solidFill>
                  <a:srgbClr val="2A2320"/>
                </a:solidFill>
                <a:latin typeface="Nunito"/>
              </a:rPr>
              <a:t>AURA HEALTH</a:t>
            </a:r>
          </a:p>
        </p:txBody>
      </p:sp>
      <p:sp>
        <p:nvSpPr>
          <p:cNvPr id="4" name="Text: THE PROBLEM"/>
          <p:cNvSpPr txBox="1"/>
          <p:nvPr/>
        </p:nvSpPr>
        <p:spPr>
          <a:xfrm>
            <a:off x="609600" y="952500"/>
            <a:ext cx="11437112" cy="203200"/>
          </a:xfrm>
          <a:prstGeom prst="rect">
            <a:avLst/>
          </a:prstGeom>
          <a:noFill/>
        </p:spPr>
        <p:txBody>
          <a:bodyPr wrap="square" anchor="t" lIns="0" rIns="0" tIns="0" bIns="0"/>
          <a:lstStyle/>
          <a:p>
            <a:pPr algn="l">
              <a:lnSpc>
                <a:spcPts val="1439"/>
              </a:lnSpc>
            </a:pPr>
            <a:r>
              <a:rPr sz="1200" b="1" spc="168">
                <a:solidFill>
                  <a:srgbClr val="9C5700"/>
                </a:solidFill>
                <a:latin typeface="Nunito"/>
              </a:rPr>
              <a:t>THE PROBLEM</a:t>
            </a:r>
          </a:p>
        </p:txBody>
      </p:sp>
      <p:sp>
        <p:nvSpPr>
          <p:cNvPr id="5" name="Text: Staying well happens between appointment"/>
          <p:cNvSpPr txBox="1"/>
          <p:nvPr/>
        </p:nvSpPr>
        <p:spPr>
          <a:xfrm>
            <a:off x="609600" y="1244600"/>
            <a:ext cx="11437112" cy="405130"/>
          </a:xfrm>
          <a:prstGeom prst="rect">
            <a:avLst/>
          </a:prstGeom>
          <a:noFill/>
        </p:spPr>
        <p:txBody>
          <a:bodyPr wrap="square" anchor="t" lIns="0" rIns="0" tIns="0" bIns="0"/>
          <a:lstStyle/>
          <a:p>
            <a:pPr algn="l">
              <a:lnSpc>
                <a:spcPts val="3190"/>
              </a:lnSpc>
            </a:pPr>
            <a:r>
              <a:rPr sz="2900" b="1" spc="-44">
                <a:solidFill>
                  <a:srgbClr val="2A2320"/>
                </a:solidFill>
                <a:latin typeface="Nunito"/>
              </a:rPr>
              <a:t>Staying well happens between appointments</a:t>
            </a:r>
          </a:p>
        </p:txBody>
      </p:sp>
      <p:sp>
        <p:nvSpPr>
          <p:cNvPr id="6" name="Text: A dose gets missed, sleep drifts later, "/>
          <p:cNvSpPr txBox="1"/>
          <p:nvPr/>
        </p:nvSpPr>
        <p:spPr>
          <a:xfrm>
            <a:off x="876300" y="1967210"/>
            <a:ext cx="6893560" cy="284480"/>
          </a:xfrm>
          <a:prstGeom prst="rect">
            <a:avLst/>
          </a:prstGeom>
          <a:noFill/>
        </p:spPr>
        <p:txBody>
          <a:bodyPr wrap="square" anchor="t" lIns="0" rIns="0" tIns="0" bIns="0"/>
          <a:lstStyle/>
          <a:p>
            <a:pPr algn="l">
              <a:lnSpc>
                <a:spcPts val="2240"/>
              </a:lnSpc>
            </a:pPr>
            <a:r>
              <a:rPr sz="1600" b="0">
                <a:solidFill>
                  <a:srgbClr val="2A2320"/>
                </a:solidFill>
                <a:latin typeface="Nunito"/>
              </a:rPr>
              <a:t>A dose gets missed, sleep drifts later, a flu knocks you out for a few days.</a:t>
            </a:r>
          </a:p>
        </p:txBody>
      </p:sp>
      <p:sp>
        <p:nvSpPr>
          <p:cNvPr id="7" name="Text: Most apps ask you to log your mood every"/>
          <p:cNvSpPr txBox="1"/>
          <p:nvPr/>
        </p:nvSpPr>
        <p:spPr>
          <a:xfrm>
            <a:off x="876300" y="2416770"/>
            <a:ext cx="8333232" cy="568920"/>
          </a:xfrm>
          <a:prstGeom prst="rect">
            <a:avLst/>
          </a:prstGeom>
          <a:noFill/>
        </p:spPr>
        <p:txBody>
          <a:bodyPr wrap="square" anchor="t" lIns="0" rIns="0" tIns="0" bIns="0"/>
          <a:lstStyle/>
          <a:p>
            <a:pPr algn="l">
              <a:lnSpc>
                <a:spcPts val="2240"/>
              </a:lnSpc>
            </a:pPr>
            <a:r>
              <a:rPr sz="1600" b="0">
                <a:solidFill>
                  <a:srgbClr val="2A2320"/>
                </a:solidFill>
                <a:latin typeface="Nunito"/>
              </a:rPr>
              <a:t>Most apps ask you to log your mood every evening, which is hard when you are tired or low.</a:t>
            </a:r>
          </a:p>
        </p:txBody>
      </p:sp>
      <p:sp>
        <p:nvSpPr>
          <p:cNvPr id="8" name="Text: When the appointment comes, it is all pi"/>
          <p:cNvSpPr txBox="1"/>
          <p:nvPr/>
        </p:nvSpPr>
        <p:spPr>
          <a:xfrm>
            <a:off x="876300" y="3150790"/>
            <a:ext cx="6470904" cy="284480"/>
          </a:xfrm>
          <a:prstGeom prst="rect">
            <a:avLst/>
          </a:prstGeom>
          <a:noFill/>
        </p:spPr>
        <p:txBody>
          <a:bodyPr wrap="square" anchor="t" lIns="0" rIns="0" tIns="0" bIns="0"/>
          <a:lstStyle/>
          <a:p>
            <a:pPr algn="l">
              <a:lnSpc>
                <a:spcPts val="2240"/>
              </a:lnSpc>
            </a:pPr>
            <a:r>
              <a:rPr sz="1600" b="0">
                <a:solidFill>
                  <a:srgbClr val="2A2320"/>
                </a:solidFill>
                <a:latin typeface="Nunito"/>
              </a:rPr>
              <a:t>When the appointment comes, it is all pieced together from memory.</a:t>
            </a:r>
          </a:p>
        </p:txBody>
      </p:sp>
      <p:sp>
        <p:nvSpPr>
          <p:cNvPr id="9" name="Text: Healthcare track · Challenge Statement 2"/>
          <p:cNvSpPr txBox="1"/>
          <p:nvPr/>
        </p:nvSpPr>
        <p:spPr>
          <a:xfrm>
            <a:off x="609600" y="6388100"/>
            <a:ext cx="3591560" cy="190500"/>
          </a:xfrm>
          <a:prstGeom prst="rect">
            <a:avLst/>
          </a:prstGeom>
          <a:noFill/>
        </p:spPr>
        <p:txBody>
          <a:bodyPr wrap="square" anchor="t" lIns="0" rIns="0" tIns="0" bIns="0"/>
          <a:lstStyle/>
          <a:p>
            <a:pPr algn="l">
              <a:lnSpc>
                <a:spcPts val="1320"/>
              </a:lnSpc>
            </a:pPr>
            <a:r>
              <a:rPr sz="1100" b="0">
                <a:solidFill>
                  <a:srgbClr val="7A7066"/>
                </a:solidFill>
                <a:latin typeface="Nunito"/>
              </a:rPr>
              <a:t>Healthcare track · Challenge Statement 2 · Scenario 1</a:t>
            </a:r>
          </a:p>
        </p:txBody>
      </p:sp>
      <p:sp>
        <p:nvSpPr>
          <p:cNvPr id="10" name="Text: Synthetic demo data · aura-health.makode"/>
          <p:cNvSpPr txBox="1"/>
          <p:nvPr/>
        </p:nvSpPr>
        <p:spPr>
          <a:xfrm>
            <a:off x="8350250" y="6388100"/>
            <a:ext cx="3386836" cy="190500"/>
          </a:xfrm>
          <a:prstGeom prst="rect">
            <a:avLst/>
          </a:prstGeom>
          <a:noFill/>
        </p:spPr>
        <p:txBody>
          <a:bodyPr wrap="square" anchor="t" lIns="0" rIns="0" tIns="0" bIns="0"/>
          <a:lstStyle/>
          <a:p>
            <a:pPr algn="l">
              <a:lnSpc>
                <a:spcPts val="1320"/>
              </a:lnSpc>
            </a:pPr>
            <a:r>
              <a:rPr sz="1100" b="0">
                <a:solidFill>
                  <a:srgbClr val="7A7066"/>
                </a:solidFill>
                <a:latin typeface="Nunito"/>
              </a:rPr>
              <a:t>Synthetic demo data · aura-health.makodev58.com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art, cards, screenshots)" descr="image.jpg"/>
          <p:cNvPicPr>
            <a:picLocks noChangeAspect="1"/>
          </p:cNvPicPr>
          <p:nvPr/>
        </p:nvPicPr>
        <p:blipFill>
          <a:blip r:embed="rId2"/>
          <a:stretch>
            <a:fillRect/>
          </a:stretch>
        </p:blipFill>
        <p:spPr>
          <a:xfrm>
            <a:off x="0" y="0"/>
            <a:ext cx="12192000" cy="6858000"/>
          </a:xfrm>
          <a:prstGeom prst="rect">
            <a:avLst/>
          </a:prstGeom>
        </p:spPr>
      </p:pic>
      <p:sp>
        <p:nvSpPr>
          <p:cNvPr id="3" name="Text: AURA HEALTH"/>
          <p:cNvSpPr txBox="1"/>
          <p:nvPr/>
        </p:nvSpPr>
        <p:spPr>
          <a:xfrm>
            <a:off x="977900" y="384175"/>
            <a:ext cx="1531421" cy="222250"/>
          </a:xfrm>
          <a:prstGeom prst="rect">
            <a:avLst/>
          </a:prstGeom>
          <a:noFill/>
        </p:spPr>
        <p:txBody>
          <a:bodyPr wrap="square" anchor="t" lIns="0" rIns="0" tIns="0" bIns="0"/>
          <a:lstStyle/>
          <a:p>
            <a:pPr algn="l">
              <a:lnSpc>
                <a:spcPts val="1560"/>
              </a:lnSpc>
            </a:pPr>
            <a:r>
              <a:rPr sz="1300" b="1" spc="182">
                <a:solidFill>
                  <a:srgbClr val="2A2320"/>
                </a:solidFill>
                <a:latin typeface="Nunito"/>
              </a:rPr>
              <a:t>AURA HEALTH</a:t>
            </a:r>
          </a:p>
        </p:txBody>
      </p:sp>
      <p:sp>
        <p:nvSpPr>
          <p:cNvPr id="4" name="Text: WHAT AURA DOES"/>
          <p:cNvSpPr txBox="1"/>
          <p:nvPr/>
        </p:nvSpPr>
        <p:spPr>
          <a:xfrm>
            <a:off x="609600" y="952500"/>
            <a:ext cx="4199128" cy="203200"/>
          </a:xfrm>
          <a:prstGeom prst="rect">
            <a:avLst/>
          </a:prstGeom>
          <a:noFill/>
        </p:spPr>
        <p:txBody>
          <a:bodyPr wrap="square" anchor="t" lIns="0" rIns="0" tIns="0" bIns="0"/>
          <a:lstStyle/>
          <a:p>
            <a:pPr algn="l">
              <a:lnSpc>
                <a:spcPts val="1439"/>
              </a:lnSpc>
            </a:pPr>
            <a:r>
              <a:rPr sz="1200" b="1" spc="168">
                <a:solidFill>
                  <a:srgbClr val="9C5700"/>
                </a:solidFill>
                <a:latin typeface="Nunito"/>
              </a:rPr>
              <a:t>WHAT AURA DOES</a:t>
            </a:r>
          </a:p>
        </p:txBody>
      </p:sp>
      <p:sp>
        <p:nvSpPr>
          <p:cNvPr id="5" name="Text: A calm companion between doctor visits"/>
          <p:cNvSpPr txBox="1"/>
          <p:nvPr/>
        </p:nvSpPr>
        <p:spPr>
          <a:xfrm>
            <a:off x="609600" y="1384300"/>
            <a:ext cx="4199128" cy="810220"/>
          </a:xfrm>
          <a:prstGeom prst="rect">
            <a:avLst/>
          </a:prstGeom>
          <a:noFill/>
        </p:spPr>
        <p:txBody>
          <a:bodyPr wrap="square" anchor="t" lIns="0" rIns="0" tIns="0" bIns="0"/>
          <a:lstStyle/>
          <a:p>
            <a:pPr algn="l">
              <a:lnSpc>
                <a:spcPts val="3190"/>
              </a:lnSpc>
            </a:pPr>
            <a:r>
              <a:rPr sz="2900" b="1" spc="-44">
                <a:solidFill>
                  <a:srgbClr val="2A2320"/>
                </a:solidFill>
                <a:latin typeface="Nunito"/>
              </a:rPr>
              <a:t>A calm companion between doctor visits</a:t>
            </a:r>
          </a:p>
        </p:txBody>
      </p:sp>
      <p:sp>
        <p:nvSpPr>
          <p:cNvPr id="6" name="Text: Reads everyday wearable data quietly"/>
          <p:cNvSpPr txBox="1"/>
          <p:nvPr/>
        </p:nvSpPr>
        <p:spPr>
          <a:xfrm>
            <a:off x="876300" y="2512020"/>
            <a:ext cx="3631184" cy="284480"/>
          </a:xfrm>
          <a:prstGeom prst="rect">
            <a:avLst/>
          </a:prstGeom>
          <a:noFill/>
        </p:spPr>
        <p:txBody>
          <a:bodyPr wrap="square" anchor="t" lIns="0" rIns="0" tIns="0" bIns="0"/>
          <a:lstStyle/>
          <a:p>
            <a:pPr algn="l">
              <a:lnSpc>
                <a:spcPts val="2240"/>
              </a:lnSpc>
            </a:pPr>
            <a:r>
              <a:rPr sz="1600" b="0">
                <a:solidFill>
                  <a:srgbClr val="2A2320"/>
                </a:solidFill>
                <a:latin typeface="Nunito"/>
              </a:rPr>
              <a:t>Reads everyday wearable data quietly</a:t>
            </a:r>
          </a:p>
        </p:txBody>
      </p:sp>
      <p:sp>
        <p:nvSpPr>
          <p:cNvPr id="7" name="Text: Compares it with this person's own usual"/>
          <p:cNvSpPr txBox="1"/>
          <p:nvPr/>
        </p:nvSpPr>
        <p:spPr>
          <a:xfrm>
            <a:off x="876300" y="2961580"/>
            <a:ext cx="3921760" cy="568920"/>
          </a:xfrm>
          <a:prstGeom prst="rect">
            <a:avLst/>
          </a:prstGeom>
          <a:noFill/>
        </p:spPr>
        <p:txBody>
          <a:bodyPr wrap="square" anchor="t" lIns="0" rIns="0" tIns="0" bIns="0"/>
          <a:lstStyle/>
          <a:p>
            <a:pPr algn="l">
              <a:lnSpc>
                <a:spcPts val="2240"/>
              </a:lnSpc>
            </a:pPr>
            <a:r>
              <a:rPr sz="1600" b="0">
                <a:solidFill>
                  <a:srgbClr val="2A2320"/>
                </a:solidFill>
                <a:latin typeface="Nunito"/>
              </a:rPr>
              <a:t>Compares it with </a:t>
            </a:r>
            <a:r>
              <a:rPr sz="1600" b="1">
                <a:solidFill>
                  <a:srgbClr val="2A2320"/>
                </a:solidFill>
                <a:latin typeface="Nunito"/>
              </a:rPr>
              <a:t>this person's own usual</a:t>
            </a:r>
            <a:r>
              <a:rPr sz="1600" b="0">
                <a:solidFill>
                  <a:srgbClr val="2A2320"/>
                </a:solidFill>
                <a:latin typeface="Nunito"/>
              </a:rPr>
              <a:t>, not a population average</a:t>
            </a:r>
          </a:p>
        </p:txBody>
      </p:sp>
      <p:sp>
        <p:nvSpPr>
          <p:cNvPr id="8" name="Text: A calm view for the patient; a clear “wh"/>
          <p:cNvSpPr txBox="1"/>
          <p:nvPr/>
        </p:nvSpPr>
        <p:spPr>
          <a:xfrm>
            <a:off x="876300" y="3695600"/>
            <a:ext cx="3921760" cy="853380"/>
          </a:xfrm>
          <a:prstGeom prst="rect">
            <a:avLst/>
          </a:prstGeom>
          <a:noFill/>
        </p:spPr>
        <p:txBody>
          <a:bodyPr wrap="square" anchor="t" lIns="0" rIns="0" tIns="0" bIns="0"/>
          <a:lstStyle/>
          <a:p>
            <a:pPr algn="l">
              <a:lnSpc>
                <a:spcPts val="2240"/>
              </a:lnSpc>
            </a:pPr>
            <a:r>
              <a:rPr sz="1600" b="0">
                <a:solidFill>
                  <a:srgbClr val="2A2320"/>
                </a:solidFill>
                <a:latin typeface="Nunito"/>
              </a:rPr>
              <a:t>A calm view for the patient; a clear “what changed and when” for the clinician they share with</a:t>
            </a:r>
          </a:p>
        </p:txBody>
      </p:sp>
      <p:sp>
        <p:nvSpPr>
          <p:cNvPr id="9" name="Text: Healthcare track · Challenge Statement 2"/>
          <p:cNvSpPr txBox="1"/>
          <p:nvPr/>
        </p:nvSpPr>
        <p:spPr>
          <a:xfrm>
            <a:off x="609600" y="6388100"/>
            <a:ext cx="3591560" cy="190500"/>
          </a:xfrm>
          <a:prstGeom prst="rect">
            <a:avLst/>
          </a:prstGeom>
          <a:noFill/>
        </p:spPr>
        <p:txBody>
          <a:bodyPr wrap="square" anchor="t" lIns="0" rIns="0" tIns="0" bIns="0"/>
          <a:lstStyle/>
          <a:p>
            <a:pPr algn="l">
              <a:lnSpc>
                <a:spcPts val="1320"/>
              </a:lnSpc>
            </a:pPr>
            <a:r>
              <a:rPr sz="1100" b="0">
                <a:solidFill>
                  <a:srgbClr val="7A7066"/>
                </a:solidFill>
                <a:latin typeface="Nunito"/>
              </a:rPr>
              <a:t>Healthcare track · Challenge Statement 2 · Scenario 1</a:t>
            </a:r>
          </a:p>
        </p:txBody>
      </p:sp>
      <p:sp>
        <p:nvSpPr>
          <p:cNvPr id="10" name="Text: Synthetic demo data · aura-health.makode"/>
          <p:cNvSpPr txBox="1"/>
          <p:nvPr/>
        </p:nvSpPr>
        <p:spPr>
          <a:xfrm>
            <a:off x="8350250" y="6388100"/>
            <a:ext cx="3386836" cy="190500"/>
          </a:xfrm>
          <a:prstGeom prst="rect">
            <a:avLst/>
          </a:prstGeom>
          <a:noFill/>
        </p:spPr>
        <p:txBody>
          <a:bodyPr wrap="square" anchor="t" lIns="0" rIns="0" tIns="0" bIns="0"/>
          <a:lstStyle/>
          <a:p>
            <a:pPr algn="l">
              <a:lnSpc>
                <a:spcPts val="1320"/>
              </a:lnSpc>
            </a:pPr>
            <a:r>
              <a:rPr sz="1100" b="0">
                <a:solidFill>
                  <a:srgbClr val="7A7066"/>
                </a:solidFill>
                <a:latin typeface="Nunito"/>
              </a:rPr>
              <a:t>Synthetic demo data · aura-health.makodev58.com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art, cards, screenshots)" descr="image.jpg"/>
          <p:cNvPicPr>
            <a:picLocks noChangeAspect="1"/>
          </p:cNvPicPr>
          <p:nvPr/>
        </p:nvPicPr>
        <p:blipFill>
          <a:blip r:embed="rId2"/>
          <a:stretch>
            <a:fillRect/>
          </a:stretch>
        </p:blipFill>
        <p:spPr>
          <a:xfrm>
            <a:off x="0" y="0"/>
            <a:ext cx="12192000" cy="6858000"/>
          </a:xfrm>
          <a:prstGeom prst="rect">
            <a:avLst/>
          </a:prstGeom>
        </p:spPr>
      </p:pic>
      <p:sp>
        <p:nvSpPr>
          <p:cNvPr id="3" name="Text: AURA HEALTH"/>
          <p:cNvSpPr txBox="1"/>
          <p:nvPr/>
        </p:nvSpPr>
        <p:spPr>
          <a:xfrm>
            <a:off x="977900" y="384175"/>
            <a:ext cx="1531421" cy="222250"/>
          </a:xfrm>
          <a:prstGeom prst="rect">
            <a:avLst/>
          </a:prstGeom>
          <a:noFill/>
        </p:spPr>
        <p:txBody>
          <a:bodyPr wrap="square" anchor="t" lIns="0" rIns="0" tIns="0" bIns="0"/>
          <a:lstStyle/>
          <a:p>
            <a:pPr algn="l">
              <a:lnSpc>
                <a:spcPts val="1560"/>
              </a:lnSpc>
            </a:pPr>
            <a:r>
              <a:rPr sz="1300" b="1" spc="182">
                <a:solidFill>
                  <a:srgbClr val="2A2320"/>
                </a:solidFill>
                <a:latin typeface="Nunito"/>
              </a:rPr>
              <a:t>AURA HEALTH</a:t>
            </a:r>
          </a:p>
        </p:txBody>
      </p:sp>
      <p:sp>
        <p:nvSpPr>
          <p:cNvPr id="4" name="Text: A CALM START"/>
          <p:cNvSpPr txBox="1"/>
          <p:nvPr/>
        </p:nvSpPr>
        <p:spPr>
          <a:xfrm>
            <a:off x="609600" y="952500"/>
            <a:ext cx="3723640" cy="203200"/>
          </a:xfrm>
          <a:prstGeom prst="rect">
            <a:avLst/>
          </a:prstGeom>
          <a:noFill/>
        </p:spPr>
        <p:txBody>
          <a:bodyPr wrap="square" anchor="t" lIns="0" rIns="0" tIns="0" bIns="0"/>
          <a:lstStyle/>
          <a:p>
            <a:pPr algn="l">
              <a:lnSpc>
                <a:spcPts val="1439"/>
              </a:lnSpc>
            </a:pPr>
            <a:r>
              <a:rPr sz="1200" b="1" spc="168">
                <a:solidFill>
                  <a:srgbClr val="9C5700"/>
                </a:solidFill>
                <a:latin typeface="Nunito"/>
              </a:rPr>
              <a:t>A CALM START</a:t>
            </a:r>
          </a:p>
        </p:txBody>
      </p:sp>
      <p:sp>
        <p:nvSpPr>
          <p:cNvPr id="5" name="Text: A breath, not a dashboard"/>
          <p:cNvSpPr txBox="1"/>
          <p:nvPr/>
        </p:nvSpPr>
        <p:spPr>
          <a:xfrm>
            <a:off x="609600" y="1384300"/>
            <a:ext cx="3723640" cy="810220"/>
          </a:xfrm>
          <a:prstGeom prst="rect">
            <a:avLst/>
          </a:prstGeom>
          <a:noFill/>
        </p:spPr>
        <p:txBody>
          <a:bodyPr wrap="square" anchor="t" lIns="0" rIns="0" tIns="0" bIns="0"/>
          <a:lstStyle/>
          <a:p>
            <a:pPr algn="l">
              <a:lnSpc>
                <a:spcPts val="3190"/>
              </a:lnSpc>
            </a:pPr>
            <a:r>
              <a:rPr sz="2900" b="1" spc="-44">
                <a:solidFill>
                  <a:srgbClr val="2A2320"/>
                </a:solidFill>
                <a:latin typeface="Nunito"/>
              </a:rPr>
              <a:t>A breath, not a dashboard</a:t>
            </a:r>
          </a:p>
        </p:txBody>
      </p:sp>
      <p:sp>
        <p:nvSpPr>
          <p:cNvPr id="6" name="Text: Then one short summary, written by AI fr"/>
          <p:cNvSpPr txBox="1"/>
          <p:nvPr/>
        </p:nvSpPr>
        <p:spPr>
          <a:xfrm>
            <a:off x="609600" y="2448520"/>
            <a:ext cx="3723640" cy="995362"/>
          </a:xfrm>
          <a:prstGeom prst="rect">
            <a:avLst/>
          </a:prstGeom>
          <a:noFill/>
        </p:spPr>
        <p:txBody>
          <a:bodyPr wrap="square" anchor="t" lIns="0" rIns="0" tIns="0" bIns="0"/>
          <a:lstStyle/>
          <a:p>
            <a:pPr algn="l">
              <a:lnSpc>
                <a:spcPts val="1960"/>
              </a:lnSpc>
            </a:pPr>
            <a:r>
              <a:rPr sz="1400" b="0">
                <a:solidFill>
                  <a:srgbClr val="4A413B"/>
                </a:solidFill>
                <a:latin typeface="Nunito"/>
              </a:rPr>
              <a:t>Then one short summary, </a:t>
            </a:r>
            <a:r>
              <a:rPr sz="1400" b="1">
                <a:solidFill>
                  <a:srgbClr val="2A2320"/>
                </a:solidFill>
                <a:latin typeface="Nunito"/>
              </a:rPr>
              <a:t>written by AI from facts the system has checked</a:t>
            </a:r>
            <a:r>
              <a:rPr sz="1400" b="0">
                <a:solidFill>
                  <a:srgbClr val="4A413B"/>
                </a:solidFill>
                <a:latin typeface="Nunito"/>
              </a:rPr>
              <a:t>: sleep time later than usual since late February, and how the person has been checking in.</a:t>
            </a:r>
          </a:p>
        </p:txBody>
      </p:sp>
      <p:sp>
        <p:nvSpPr>
          <p:cNvPr id="7" name="Text: Take a breath"/>
          <p:cNvSpPr txBox="1"/>
          <p:nvPr/>
        </p:nvSpPr>
        <p:spPr>
          <a:xfrm>
            <a:off x="4946650" y="5392539"/>
            <a:ext cx="1148080" cy="248920"/>
          </a:xfrm>
          <a:prstGeom prst="rect">
            <a:avLst/>
          </a:prstGeom>
          <a:noFill/>
        </p:spPr>
        <p:txBody>
          <a:bodyPr wrap="square" anchor="t" lIns="0" rIns="0" tIns="0" bIns="0"/>
          <a:lstStyle/>
          <a:p>
            <a:pPr algn="l">
              <a:lnSpc>
                <a:spcPts val="1960"/>
              </a:lnSpc>
            </a:pPr>
            <a:r>
              <a:rPr sz="1400" b="0">
                <a:solidFill>
                  <a:srgbClr val="4A413B"/>
                </a:solidFill>
                <a:latin typeface="Nunito"/>
              </a:rPr>
              <a:t>Take a breath</a:t>
            </a:r>
          </a:p>
        </p:txBody>
      </p:sp>
      <p:sp>
        <p:nvSpPr>
          <p:cNvPr id="8" name="Text: One short summary"/>
          <p:cNvSpPr txBox="1"/>
          <p:nvPr/>
        </p:nvSpPr>
        <p:spPr>
          <a:xfrm>
            <a:off x="7058025" y="5392539"/>
            <a:ext cx="1669796" cy="248920"/>
          </a:xfrm>
          <a:prstGeom prst="rect">
            <a:avLst/>
          </a:prstGeom>
          <a:noFill/>
        </p:spPr>
        <p:txBody>
          <a:bodyPr wrap="square" anchor="t" lIns="0" rIns="0" tIns="0" bIns="0"/>
          <a:lstStyle/>
          <a:p>
            <a:pPr algn="l">
              <a:lnSpc>
                <a:spcPts val="1960"/>
              </a:lnSpc>
            </a:pPr>
            <a:r>
              <a:rPr sz="1400" b="0">
                <a:solidFill>
                  <a:srgbClr val="4A413B"/>
                </a:solidFill>
                <a:latin typeface="Nunito"/>
              </a:rPr>
              <a:t>One short summary</a:t>
            </a:r>
          </a:p>
        </p:txBody>
      </p:sp>
      <p:sp>
        <p:nvSpPr>
          <p:cNvPr id="9" name="Text: Healthcare track · Challenge Statement 2"/>
          <p:cNvSpPr txBox="1"/>
          <p:nvPr/>
        </p:nvSpPr>
        <p:spPr>
          <a:xfrm>
            <a:off x="609600" y="6388100"/>
            <a:ext cx="3591560" cy="190500"/>
          </a:xfrm>
          <a:prstGeom prst="rect">
            <a:avLst/>
          </a:prstGeom>
          <a:noFill/>
        </p:spPr>
        <p:txBody>
          <a:bodyPr wrap="square" anchor="t" lIns="0" rIns="0" tIns="0" bIns="0"/>
          <a:lstStyle/>
          <a:p>
            <a:pPr algn="l">
              <a:lnSpc>
                <a:spcPts val="1320"/>
              </a:lnSpc>
            </a:pPr>
            <a:r>
              <a:rPr sz="1100" b="0">
                <a:solidFill>
                  <a:srgbClr val="7A7066"/>
                </a:solidFill>
                <a:latin typeface="Nunito"/>
              </a:rPr>
              <a:t>Healthcare track · Challenge Statement 2 · Scenario 1</a:t>
            </a:r>
          </a:p>
        </p:txBody>
      </p:sp>
      <p:sp>
        <p:nvSpPr>
          <p:cNvPr id="10" name="Text: Synthetic demo data · aura-health.makode"/>
          <p:cNvSpPr txBox="1"/>
          <p:nvPr/>
        </p:nvSpPr>
        <p:spPr>
          <a:xfrm>
            <a:off x="8350250" y="6388100"/>
            <a:ext cx="3386836" cy="190500"/>
          </a:xfrm>
          <a:prstGeom prst="rect">
            <a:avLst/>
          </a:prstGeom>
          <a:noFill/>
        </p:spPr>
        <p:txBody>
          <a:bodyPr wrap="square" anchor="t" lIns="0" rIns="0" tIns="0" bIns="0"/>
          <a:lstStyle/>
          <a:p>
            <a:pPr algn="l">
              <a:lnSpc>
                <a:spcPts val="1320"/>
              </a:lnSpc>
            </a:pPr>
            <a:r>
              <a:rPr sz="1100" b="0">
                <a:solidFill>
                  <a:srgbClr val="7A7066"/>
                </a:solidFill>
                <a:latin typeface="Nunito"/>
              </a:rPr>
              <a:t>Synthetic demo data · aura-health.makodev58.com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art, cards, screenshots)" descr="image.jpg"/>
          <p:cNvPicPr>
            <a:picLocks noChangeAspect="1"/>
          </p:cNvPicPr>
          <p:nvPr/>
        </p:nvPicPr>
        <p:blipFill>
          <a:blip r:embed="rId2"/>
          <a:stretch>
            <a:fillRect/>
          </a:stretch>
        </p:blipFill>
        <p:spPr>
          <a:xfrm>
            <a:off x="0" y="0"/>
            <a:ext cx="12192000" cy="6858000"/>
          </a:xfrm>
          <a:prstGeom prst="rect">
            <a:avLst/>
          </a:prstGeom>
        </p:spPr>
      </p:pic>
      <p:sp>
        <p:nvSpPr>
          <p:cNvPr id="3" name="Text: AURA HEALTH"/>
          <p:cNvSpPr txBox="1"/>
          <p:nvPr/>
        </p:nvSpPr>
        <p:spPr>
          <a:xfrm>
            <a:off x="977900" y="384175"/>
            <a:ext cx="1531421" cy="222250"/>
          </a:xfrm>
          <a:prstGeom prst="rect">
            <a:avLst/>
          </a:prstGeom>
          <a:noFill/>
        </p:spPr>
        <p:txBody>
          <a:bodyPr wrap="square" anchor="t" lIns="0" rIns="0" tIns="0" bIns="0"/>
          <a:lstStyle/>
          <a:p>
            <a:pPr algn="l">
              <a:lnSpc>
                <a:spcPts val="1560"/>
              </a:lnSpc>
            </a:pPr>
            <a:r>
              <a:rPr sz="1300" b="1" spc="182">
                <a:solidFill>
                  <a:srgbClr val="2A2320"/>
                </a:solidFill>
                <a:latin typeface="Nunito"/>
              </a:rPr>
              <a:t>AURA HEALTH</a:t>
            </a:r>
          </a:p>
        </p:txBody>
      </p:sp>
      <p:sp>
        <p:nvSpPr>
          <p:cNvPr id="4" name="Text: MY MEDICATION, MY DAY"/>
          <p:cNvSpPr txBox="1"/>
          <p:nvPr/>
        </p:nvSpPr>
        <p:spPr>
          <a:xfrm>
            <a:off x="609600" y="952500"/>
            <a:ext cx="11437112" cy="203200"/>
          </a:xfrm>
          <a:prstGeom prst="rect">
            <a:avLst/>
          </a:prstGeom>
          <a:noFill/>
        </p:spPr>
        <p:txBody>
          <a:bodyPr wrap="square" anchor="t" lIns="0" rIns="0" tIns="0" bIns="0"/>
          <a:lstStyle/>
          <a:p>
            <a:pPr algn="l">
              <a:lnSpc>
                <a:spcPts val="1439"/>
              </a:lnSpc>
            </a:pPr>
            <a:r>
              <a:rPr sz="1200" b="1" spc="168">
                <a:solidFill>
                  <a:srgbClr val="9C5700"/>
                </a:solidFill>
                <a:latin typeface="Nunito"/>
              </a:rPr>
              <a:t>MY MEDICATION, MY DAY</a:t>
            </a:r>
          </a:p>
        </p:txBody>
      </p:sp>
      <p:sp>
        <p:nvSpPr>
          <p:cNvPr id="5" name="Text: One tap a day, plain answers, honest lim"/>
          <p:cNvSpPr txBox="1"/>
          <p:nvPr/>
        </p:nvSpPr>
        <p:spPr>
          <a:xfrm>
            <a:off x="609600" y="1244600"/>
            <a:ext cx="11437112" cy="363220"/>
          </a:xfrm>
          <a:prstGeom prst="rect">
            <a:avLst/>
          </a:prstGeom>
          <a:noFill/>
        </p:spPr>
        <p:txBody>
          <a:bodyPr wrap="square" anchor="t" lIns="0" rIns="0" tIns="0" bIns="0"/>
          <a:lstStyle/>
          <a:p>
            <a:pPr algn="l">
              <a:lnSpc>
                <a:spcPts val="2860"/>
              </a:lnSpc>
            </a:pPr>
            <a:r>
              <a:rPr sz="2600" b="1" spc="-39">
                <a:solidFill>
                  <a:srgbClr val="2A2320"/>
                </a:solidFill>
                <a:latin typeface="Nunito"/>
              </a:rPr>
              <a:t>One tap a day, plain answers, honest limits</a:t>
            </a:r>
          </a:p>
        </p:txBody>
      </p:sp>
      <p:sp>
        <p:nvSpPr>
          <p:cNvPr id="6" name="Text: Skipped? AURA asks what got in the way, "/>
          <p:cNvSpPr txBox="1"/>
          <p:nvPr/>
        </p:nvSpPr>
        <p:spPr>
          <a:xfrm>
            <a:off x="609600" y="3906440"/>
            <a:ext cx="3195320" cy="746521"/>
          </a:xfrm>
          <a:prstGeom prst="rect">
            <a:avLst/>
          </a:prstGeom>
          <a:noFill/>
        </p:spPr>
        <p:txBody>
          <a:bodyPr wrap="square" anchor="t" lIns="0" rIns="0" tIns="0" bIns="0"/>
          <a:lstStyle/>
          <a:p>
            <a:pPr algn="l">
              <a:lnSpc>
                <a:spcPts val="1960"/>
              </a:lnSpc>
            </a:pPr>
            <a:r>
              <a:rPr sz="1400" b="1">
                <a:solidFill>
                  <a:srgbClr val="2A2320"/>
                </a:solidFill>
                <a:latin typeface="Nunito"/>
              </a:rPr>
              <a:t>Skipped?</a:t>
            </a:r>
            <a:r>
              <a:rPr sz="1400" b="0">
                <a:solidFill>
                  <a:srgbClr val="4A413B"/>
                </a:solidFill>
                <a:latin typeface="Nunito"/>
              </a:rPr>
              <a:t> AURA asks what got in the way, because that is worth bringing to the doctor.</a:t>
            </a:r>
          </a:p>
        </p:txBody>
      </p:sp>
      <p:sp>
        <p:nvSpPr>
          <p:cNvPr id="7" name="Text: Can I take ibuprofen with it?"/>
          <p:cNvSpPr txBox="1"/>
          <p:nvPr/>
        </p:nvSpPr>
        <p:spPr>
          <a:xfrm>
            <a:off x="8255000" y="2052240"/>
            <a:ext cx="2204720" cy="222250"/>
          </a:xfrm>
          <a:prstGeom prst="rect">
            <a:avLst/>
          </a:prstGeom>
          <a:noFill/>
        </p:spPr>
        <p:txBody>
          <a:bodyPr wrap="square" anchor="t" lIns="0" rIns="0" tIns="0" bIns="0"/>
          <a:lstStyle/>
          <a:p>
            <a:pPr algn="l">
              <a:lnSpc>
                <a:spcPts val="1560"/>
              </a:lnSpc>
            </a:pPr>
            <a:r>
              <a:rPr sz="1300" b="0">
                <a:solidFill>
                  <a:srgbClr val="2A2320"/>
                </a:solidFill>
                <a:latin typeface="Nunito"/>
              </a:rPr>
              <a:t>Can I take ibuprofen with it?</a:t>
            </a:r>
          </a:p>
        </p:txBody>
      </p:sp>
      <p:sp>
        <p:nvSpPr>
          <p:cNvPr id="8" name="Text: I'm not able to identify that medication"/>
          <p:cNvSpPr txBox="1"/>
          <p:nvPr/>
        </p:nvSpPr>
        <p:spPr>
          <a:xfrm>
            <a:off x="7543800" y="2630090"/>
            <a:ext cx="2944368" cy="720030"/>
          </a:xfrm>
          <a:prstGeom prst="rect">
            <a:avLst/>
          </a:prstGeom>
          <a:noFill/>
        </p:spPr>
        <p:txBody>
          <a:bodyPr wrap="square" anchor="t" lIns="0" rIns="0" tIns="0" bIns="0"/>
          <a:lstStyle/>
          <a:p>
            <a:pPr algn="l">
              <a:lnSpc>
                <a:spcPts val="1889"/>
              </a:lnSpc>
            </a:pPr>
            <a:r>
              <a:rPr sz="1350" b="0">
                <a:solidFill>
                  <a:srgbClr val="2A2320"/>
                </a:solidFill>
                <a:latin typeface="Nunito"/>
              </a:rPr>
              <a:t>I'm not able to identify that medication, please check with your pharmacist.</a:t>
            </a:r>
          </a:p>
        </p:txBody>
      </p:sp>
      <p:sp>
        <p:nvSpPr>
          <p:cNvPr id="9" name="Text: AURA's exact reply in the live demo"/>
          <p:cNvSpPr txBox="1"/>
          <p:nvPr/>
        </p:nvSpPr>
        <p:spPr>
          <a:xfrm>
            <a:off x="7366000" y="3604121"/>
            <a:ext cx="3274568" cy="195580"/>
          </a:xfrm>
          <a:prstGeom prst="rect">
            <a:avLst/>
          </a:prstGeom>
          <a:noFill/>
        </p:spPr>
        <p:txBody>
          <a:bodyPr wrap="square" anchor="t" lIns="0" rIns="0" tIns="0" bIns="0"/>
          <a:lstStyle/>
          <a:p>
            <a:pPr algn="l">
              <a:lnSpc>
                <a:spcPts val="1540"/>
              </a:lnSpc>
            </a:pPr>
            <a:r>
              <a:rPr sz="1100" b="0">
                <a:solidFill>
                  <a:srgbClr val="4A413B"/>
                </a:solidFill>
                <a:latin typeface="Nunito"/>
              </a:rPr>
              <a:t>AURA's exact reply in the live demo</a:t>
            </a:r>
          </a:p>
        </p:txBody>
      </p:sp>
      <p:sp>
        <p:nvSpPr>
          <p:cNvPr id="10" name="Text: Answers come from approved information, "/>
          <p:cNvSpPr txBox="1"/>
          <p:nvPr/>
        </p:nvSpPr>
        <p:spPr>
          <a:xfrm>
            <a:off x="7150100" y="4155281"/>
            <a:ext cx="3723640" cy="746521"/>
          </a:xfrm>
          <a:prstGeom prst="rect">
            <a:avLst/>
          </a:prstGeom>
          <a:noFill/>
        </p:spPr>
        <p:txBody>
          <a:bodyPr wrap="square" anchor="t" lIns="0" rIns="0" tIns="0" bIns="0"/>
          <a:lstStyle/>
          <a:p>
            <a:pPr algn="l">
              <a:lnSpc>
                <a:spcPts val="1960"/>
              </a:lnSpc>
            </a:pPr>
            <a:r>
              <a:rPr sz="1400" b="0">
                <a:solidFill>
                  <a:srgbClr val="4A413B"/>
                </a:solidFill>
                <a:latin typeface="Nunito"/>
              </a:rPr>
              <a:t>Answers come from </a:t>
            </a:r>
            <a:r>
              <a:rPr sz="1400" b="1">
                <a:solidFill>
                  <a:srgbClr val="2A2320"/>
                </a:solidFill>
                <a:latin typeface="Nunito"/>
              </a:rPr>
              <a:t>approved information</a:t>
            </a:r>
            <a:r>
              <a:rPr sz="1400" b="0">
                <a:solidFill>
                  <a:srgbClr val="4A413B"/>
                </a:solidFill>
                <a:latin typeface="Nunito"/>
              </a:rPr>
              <a:t>, not made up by AI. When it can't answer, it says so.</a:t>
            </a:r>
          </a:p>
        </p:txBody>
      </p:sp>
      <p:sp>
        <p:nvSpPr>
          <p:cNvPr id="11" name="Text: Healthcare track · Challenge Statement 2"/>
          <p:cNvSpPr txBox="1"/>
          <p:nvPr/>
        </p:nvSpPr>
        <p:spPr>
          <a:xfrm>
            <a:off x="609600" y="6388100"/>
            <a:ext cx="3591560" cy="190500"/>
          </a:xfrm>
          <a:prstGeom prst="rect">
            <a:avLst/>
          </a:prstGeom>
          <a:noFill/>
        </p:spPr>
        <p:txBody>
          <a:bodyPr wrap="square" anchor="t" lIns="0" rIns="0" tIns="0" bIns="0"/>
          <a:lstStyle/>
          <a:p>
            <a:pPr algn="l">
              <a:lnSpc>
                <a:spcPts val="1320"/>
              </a:lnSpc>
            </a:pPr>
            <a:r>
              <a:rPr sz="1100" b="0">
                <a:solidFill>
                  <a:srgbClr val="7A7066"/>
                </a:solidFill>
                <a:latin typeface="Nunito"/>
              </a:rPr>
              <a:t>Healthcare track · Challenge Statement 2 · Scenario 1</a:t>
            </a:r>
          </a:p>
        </p:txBody>
      </p:sp>
      <p:sp>
        <p:nvSpPr>
          <p:cNvPr id="12" name="Text: Synthetic demo data · aura-health.makode"/>
          <p:cNvSpPr txBox="1"/>
          <p:nvPr/>
        </p:nvSpPr>
        <p:spPr>
          <a:xfrm>
            <a:off x="8350250" y="6388100"/>
            <a:ext cx="3386836" cy="190500"/>
          </a:xfrm>
          <a:prstGeom prst="rect">
            <a:avLst/>
          </a:prstGeom>
          <a:noFill/>
        </p:spPr>
        <p:txBody>
          <a:bodyPr wrap="square" anchor="t" lIns="0" rIns="0" tIns="0" bIns="0"/>
          <a:lstStyle/>
          <a:p>
            <a:pPr algn="l">
              <a:lnSpc>
                <a:spcPts val="1320"/>
              </a:lnSpc>
            </a:pPr>
            <a:r>
              <a:rPr sz="1100" b="0">
                <a:solidFill>
                  <a:srgbClr val="7A7066"/>
                </a:solidFill>
                <a:latin typeface="Nunito"/>
              </a:rPr>
              <a:t>Synthetic demo data · aura-health.makodev58.com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art, cards, screenshots)" descr="image.jpg"/>
          <p:cNvPicPr>
            <a:picLocks noChangeAspect="1"/>
          </p:cNvPicPr>
          <p:nvPr/>
        </p:nvPicPr>
        <p:blipFill>
          <a:blip r:embed="rId2"/>
          <a:stretch>
            <a:fillRect/>
          </a:stretch>
        </p:blipFill>
        <p:spPr>
          <a:xfrm>
            <a:off x="0" y="0"/>
            <a:ext cx="12192000" cy="6858000"/>
          </a:xfrm>
          <a:prstGeom prst="rect">
            <a:avLst/>
          </a:prstGeom>
        </p:spPr>
      </p:pic>
      <p:sp>
        <p:nvSpPr>
          <p:cNvPr id="3" name="Text: AURA HEALTH"/>
          <p:cNvSpPr txBox="1"/>
          <p:nvPr/>
        </p:nvSpPr>
        <p:spPr>
          <a:xfrm>
            <a:off x="977900" y="384175"/>
            <a:ext cx="1531421" cy="222250"/>
          </a:xfrm>
          <a:prstGeom prst="rect">
            <a:avLst/>
          </a:prstGeom>
          <a:noFill/>
        </p:spPr>
        <p:txBody>
          <a:bodyPr wrap="square" anchor="t" lIns="0" rIns="0" tIns="0" bIns="0"/>
          <a:lstStyle/>
          <a:p>
            <a:pPr algn="l">
              <a:lnSpc>
                <a:spcPts val="1560"/>
              </a:lnSpc>
            </a:pPr>
            <a:r>
              <a:rPr sz="1300" b="1" spc="182">
                <a:solidFill>
                  <a:srgbClr val="2A2320"/>
                </a:solidFill>
                <a:latin typeface="Nunito"/>
              </a:rPr>
              <a:t>AURA HEALTH</a:t>
            </a:r>
          </a:p>
        </p:txBody>
      </p:sp>
      <p:sp>
        <p:nvSpPr>
          <p:cNvPr id="4" name="Text: READY FOR THE APPOINTMENT"/>
          <p:cNvSpPr txBox="1"/>
          <p:nvPr/>
        </p:nvSpPr>
        <p:spPr>
          <a:xfrm>
            <a:off x="609600" y="952500"/>
            <a:ext cx="4780280" cy="203200"/>
          </a:xfrm>
          <a:prstGeom prst="rect">
            <a:avLst/>
          </a:prstGeom>
          <a:noFill/>
        </p:spPr>
        <p:txBody>
          <a:bodyPr wrap="square" anchor="t" lIns="0" rIns="0" tIns="0" bIns="0"/>
          <a:lstStyle/>
          <a:p>
            <a:pPr algn="l">
              <a:lnSpc>
                <a:spcPts val="1439"/>
              </a:lnSpc>
            </a:pPr>
            <a:r>
              <a:rPr sz="1200" b="1" spc="168">
                <a:solidFill>
                  <a:srgbClr val="9C5700"/>
                </a:solidFill>
                <a:latin typeface="Nunito"/>
              </a:rPr>
              <a:t>READY FOR THE APPOINTMENT</a:t>
            </a:r>
          </a:p>
        </p:txBody>
      </p:sp>
      <p:sp>
        <p:nvSpPr>
          <p:cNvPr id="5" name="Text: Everything for the visit, in one place"/>
          <p:cNvSpPr txBox="1"/>
          <p:nvPr/>
        </p:nvSpPr>
        <p:spPr>
          <a:xfrm>
            <a:off x="609600" y="1384300"/>
            <a:ext cx="4780280" cy="810220"/>
          </a:xfrm>
          <a:prstGeom prst="rect">
            <a:avLst/>
          </a:prstGeom>
          <a:noFill/>
        </p:spPr>
        <p:txBody>
          <a:bodyPr wrap="square" anchor="t" lIns="0" rIns="0" tIns="0" bIns="0"/>
          <a:lstStyle/>
          <a:p>
            <a:pPr algn="l">
              <a:lnSpc>
                <a:spcPts val="3190"/>
              </a:lnSpc>
            </a:pPr>
            <a:r>
              <a:rPr sz="2900" b="1" spc="-44">
                <a:solidFill>
                  <a:srgbClr val="2A2320"/>
                </a:solidFill>
                <a:latin typeface="Nunito"/>
              </a:rPr>
              <a:t>Everything for the visit, in one place</a:t>
            </a:r>
          </a:p>
        </p:txBody>
      </p:sp>
      <p:sp>
        <p:nvSpPr>
          <p:cNvPr id="6" name="Text: What changed, when, and the missed dose "/>
          <p:cNvSpPr txBox="1"/>
          <p:nvPr/>
        </p:nvSpPr>
        <p:spPr>
          <a:xfrm>
            <a:off x="609600" y="2448520"/>
            <a:ext cx="4780280" cy="497681"/>
          </a:xfrm>
          <a:prstGeom prst="rect">
            <a:avLst/>
          </a:prstGeom>
          <a:noFill/>
        </p:spPr>
        <p:txBody>
          <a:bodyPr wrap="square" anchor="t" lIns="0" rIns="0" tIns="0" bIns="0"/>
          <a:lstStyle/>
          <a:p>
            <a:pPr algn="l">
              <a:lnSpc>
                <a:spcPts val="1960"/>
              </a:lnSpc>
            </a:pPr>
            <a:r>
              <a:rPr sz="1400" b="0">
                <a:solidFill>
                  <a:srgbClr val="4A413B"/>
                </a:solidFill>
                <a:latin typeface="Nunito"/>
              </a:rPr>
              <a:t>What changed, when, and the missed dose with its reason, ready to discuss with the doctor or pharmacist.</a:t>
            </a:r>
          </a:p>
        </p:txBody>
      </p:sp>
      <p:sp>
        <p:nvSpPr>
          <p:cNvPr id="7" name="Text: Nothing is sent automatically · Not sent"/>
          <p:cNvSpPr txBox="1"/>
          <p:nvPr/>
        </p:nvSpPr>
        <p:spPr>
          <a:xfrm>
            <a:off x="787400" y="5394027"/>
            <a:ext cx="3175508" cy="222250"/>
          </a:xfrm>
          <a:prstGeom prst="rect">
            <a:avLst/>
          </a:prstGeom>
          <a:noFill/>
        </p:spPr>
        <p:txBody>
          <a:bodyPr wrap="square" anchor="t" lIns="0" rIns="0" tIns="0" bIns="0"/>
          <a:lstStyle/>
          <a:p>
            <a:pPr algn="l">
              <a:lnSpc>
                <a:spcPts val="1560"/>
              </a:lnSpc>
            </a:pPr>
            <a:r>
              <a:rPr sz="1300" b="1">
                <a:solidFill>
                  <a:srgbClr val="2A2320"/>
                </a:solidFill>
                <a:latin typeface="Nunito"/>
              </a:rPr>
              <a:t>Nothing is sent automatically · Not sent</a:t>
            </a:r>
          </a:p>
        </p:txBody>
      </p:sp>
      <p:sp>
        <p:nvSpPr>
          <p:cNvPr id="8" name="Text: Healthcare track · Challenge Statement 2"/>
          <p:cNvSpPr txBox="1"/>
          <p:nvPr/>
        </p:nvSpPr>
        <p:spPr>
          <a:xfrm>
            <a:off x="609600" y="6388100"/>
            <a:ext cx="3591560" cy="190500"/>
          </a:xfrm>
          <a:prstGeom prst="rect">
            <a:avLst/>
          </a:prstGeom>
          <a:noFill/>
        </p:spPr>
        <p:txBody>
          <a:bodyPr wrap="square" anchor="t" lIns="0" rIns="0" tIns="0" bIns="0"/>
          <a:lstStyle/>
          <a:p>
            <a:pPr algn="l">
              <a:lnSpc>
                <a:spcPts val="1320"/>
              </a:lnSpc>
            </a:pPr>
            <a:r>
              <a:rPr sz="1100" b="0">
                <a:solidFill>
                  <a:srgbClr val="7A7066"/>
                </a:solidFill>
                <a:latin typeface="Nunito"/>
              </a:rPr>
              <a:t>Healthcare track · Challenge Statement 2 · Scenario 1</a:t>
            </a:r>
          </a:p>
        </p:txBody>
      </p:sp>
      <p:sp>
        <p:nvSpPr>
          <p:cNvPr id="9" name="Text: Synthetic demo data · aura-health.makode"/>
          <p:cNvSpPr txBox="1"/>
          <p:nvPr/>
        </p:nvSpPr>
        <p:spPr>
          <a:xfrm>
            <a:off x="8350250" y="6388100"/>
            <a:ext cx="3386836" cy="190500"/>
          </a:xfrm>
          <a:prstGeom prst="rect">
            <a:avLst/>
          </a:prstGeom>
          <a:noFill/>
        </p:spPr>
        <p:txBody>
          <a:bodyPr wrap="square" anchor="t" lIns="0" rIns="0" tIns="0" bIns="0"/>
          <a:lstStyle/>
          <a:p>
            <a:pPr algn="l">
              <a:lnSpc>
                <a:spcPts val="1320"/>
              </a:lnSpc>
            </a:pPr>
            <a:r>
              <a:rPr sz="1100" b="0">
                <a:solidFill>
                  <a:srgbClr val="7A7066"/>
                </a:solidFill>
                <a:latin typeface="Nunito"/>
              </a:rPr>
              <a:t>Synthetic demo data · aura-health.makodev58.com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art, cards, screenshots)" descr="image.jpg"/>
          <p:cNvPicPr>
            <a:picLocks noChangeAspect="1"/>
          </p:cNvPicPr>
          <p:nvPr/>
        </p:nvPicPr>
        <p:blipFill>
          <a:blip r:embed="rId2"/>
          <a:stretch>
            <a:fillRect/>
          </a:stretch>
        </p:blipFill>
        <p:spPr>
          <a:xfrm>
            <a:off x="0" y="0"/>
            <a:ext cx="12192000" cy="6858000"/>
          </a:xfrm>
          <a:prstGeom prst="rect">
            <a:avLst/>
          </a:prstGeom>
        </p:spPr>
      </p:pic>
      <p:sp>
        <p:nvSpPr>
          <p:cNvPr id="3" name="Text: AURA HEALTH"/>
          <p:cNvSpPr txBox="1"/>
          <p:nvPr/>
        </p:nvSpPr>
        <p:spPr>
          <a:xfrm>
            <a:off x="977900" y="384175"/>
            <a:ext cx="1531421" cy="222250"/>
          </a:xfrm>
          <a:prstGeom prst="rect">
            <a:avLst/>
          </a:prstGeom>
          <a:noFill/>
        </p:spPr>
        <p:txBody>
          <a:bodyPr wrap="square" anchor="t" lIns="0" rIns="0" tIns="0" bIns="0"/>
          <a:lstStyle/>
          <a:p>
            <a:pPr algn="l">
              <a:lnSpc>
                <a:spcPts val="1560"/>
              </a:lnSpc>
            </a:pPr>
            <a:r>
              <a:rPr sz="1300" b="1" spc="182">
                <a:solidFill>
                  <a:srgbClr val="2A2320"/>
                </a:solidFill>
                <a:latin typeface="Nunito"/>
              </a:rPr>
              <a:t>AURA HEALTH</a:t>
            </a:r>
          </a:p>
        </p:txBody>
      </p:sp>
      <p:sp>
        <p:nvSpPr>
          <p:cNvPr id="4" name="Text: WHAT THE CLINICIAN SEES · THE AGENT AT W"/>
          <p:cNvSpPr txBox="1"/>
          <p:nvPr/>
        </p:nvSpPr>
        <p:spPr>
          <a:xfrm>
            <a:off x="609600" y="952500"/>
            <a:ext cx="11437112" cy="203200"/>
          </a:xfrm>
          <a:prstGeom prst="rect">
            <a:avLst/>
          </a:prstGeom>
          <a:noFill/>
        </p:spPr>
        <p:txBody>
          <a:bodyPr wrap="square" anchor="t" lIns="0" rIns="0" tIns="0" bIns="0"/>
          <a:lstStyle/>
          <a:p>
            <a:pPr algn="l">
              <a:lnSpc>
                <a:spcPts val="1439"/>
              </a:lnSpc>
            </a:pPr>
            <a:r>
              <a:rPr sz="1200" b="1" spc="168">
                <a:solidFill>
                  <a:srgbClr val="9C5700"/>
                </a:solidFill>
                <a:latin typeface="Nunito"/>
              </a:rPr>
              <a:t>WHAT THE CLINICIAN SEES · THE AGENT AT WORK</a:t>
            </a:r>
          </a:p>
        </p:txBody>
      </p:sp>
      <p:sp>
        <p:nvSpPr>
          <p:cNvPr id="5" name="Text: It decides what to look at, cites every "/>
          <p:cNvSpPr txBox="1"/>
          <p:nvPr/>
        </p:nvSpPr>
        <p:spPr>
          <a:xfrm>
            <a:off x="609600" y="1244600"/>
            <a:ext cx="11437112" cy="349250"/>
          </a:xfrm>
          <a:prstGeom prst="rect">
            <a:avLst/>
          </a:prstGeom>
          <a:noFill/>
        </p:spPr>
        <p:txBody>
          <a:bodyPr wrap="square" anchor="t" lIns="0" rIns="0" tIns="0" bIns="0"/>
          <a:lstStyle/>
          <a:p>
            <a:pPr algn="l">
              <a:lnSpc>
                <a:spcPts val="2750"/>
              </a:lnSpc>
            </a:pPr>
            <a:r>
              <a:rPr sz="2500" b="1" spc="-38">
                <a:solidFill>
                  <a:srgbClr val="2A2320"/>
                </a:solidFill>
                <a:latin typeface="Nunito"/>
              </a:rPr>
              <a:t>It decides what to look at, cites every statement, and is checked</a:t>
            </a:r>
          </a:p>
        </p:txBody>
      </p:sp>
      <p:sp>
        <p:nvSpPr>
          <p:cNvPr id="6" name="Text: What changed and when, with exact values"/>
          <p:cNvSpPr txBox="1"/>
          <p:nvPr/>
        </p:nvSpPr>
        <p:spPr>
          <a:xfrm>
            <a:off x="609600" y="4486275"/>
            <a:ext cx="4251960" cy="497681"/>
          </a:xfrm>
          <a:prstGeom prst="rect">
            <a:avLst/>
          </a:prstGeom>
          <a:noFill/>
        </p:spPr>
        <p:txBody>
          <a:bodyPr wrap="square" anchor="t" lIns="0" rIns="0" tIns="0" bIns="0"/>
          <a:lstStyle/>
          <a:p>
            <a:pPr algn="l">
              <a:lnSpc>
                <a:spcPts val="1960"/>
              </a:lnSpc>
            </a:pPr>
            <a:r>
              <a:rPr sz="1400" b="0">
                <a:solidFill>
                  <a:srgbClr val="4A413B"/>
                </a:solidFill>
                <a:latin typeface="Nunito"/>
              </a:rPr>
              <a:t>What changed and when, with exact values and sources.</a:t>
            </a:r>
          </a:p>
        </p:txBody>
      </p:sp>
      <p:sp>
        <p:nvSpPr>
          <p:cNvPr id="7" name="Text: How AURA looked: which records it read, "/>
          <p:cNvSpPr txBox="1"/>
          <p:nvPr/>
        </p:nvSpPr>
        <p:spPr>
          <a:xfrm>
            <a:off x="5099050" y="4826000"/>
            <a:ext cx="6801104" cy="668535"/>
          </a:xfrm>
          <a:prstGeom prst="rect">
            <a:avLst/>
          </a:prstGeom>
          <a:noFill/>
        </p:spPr>
        <p:txBody>
          <a:bodyPr wrap="square" anchor="t" lIns="0" rIns="0" tIns="0" bIns="0"/>
          <a:lstStyle/>
          <a:p>
            <a:pPr algn="l">
              <a:lnSpc>
                <a:spcPts val="1755"/>
              </a:lnSpc>
            </a:pPr>
            <a:r>
              <a:rPr sz="1300" b="1">
                <a:solidFill>
                  <a:srgbClr val="2A2320"/>
                </a:solidFill>
                <a:latin typeface="Nunito"/>
              </a:rPr>
              <a:t>How AURA looked</a:t>
            </a:r>
            <a:r>
              <a:rPr sz="1300" b="0">
                <a:solidFill>
                  <a:srgbClr val="2A2320"/>
                </a:solidFill>
                <a:latin typeface="Nunito"/>
              </a:rPr>
              <a:t>: which records it read, then “A second check reviewed 3 statements; all supported”. It can only read; it never changes the record or the treatment.</a:t>
            </a:r>
          </a:p>
        </p:txBody>
      </p:sp>
      <p:sp>
        <p:nvSpPr>
          <p:cNvPr id="8" name="Text: Healthcare track · Challenge Statement 2"/>
          <p:cNvSpPr txBox="1"/>
          <p:nvPr/>
        </p:nvSpPr>
        <p:spPr>
          <a:xfrm>
            <a:off x="609600" y="6388100"/>
            <a:ext cx="3591560" cy="190500"/>
          </a:xfrm>
          <a:prstGeom prst="rect">
            <a:avLst/>
          </a:prstGeom>
          <a:noFill/>
        </p:spPr>
        <p:txBody>
          <a:bodyPr wrap="square" anchor="t" lIns="0" rIns="0" tIns="0" bIns="0"/>
          <a:lstStyle/>
          <a:p>
            <a:pPr algn="l">
              <a:lnSpc>
                <a:spcPts val="1320"/>
              </a:lnSpc>
            </a:pPr>
            <a:r>
              <a:rPr sz="1100" b="0">
                <a:solidFill>
                  <a:srgbClr val="7A7066"/>
                </a:solidFill>
                <a:latin typeface="Nunito"/>
              </a:rPr>
              <a:t>Healthcare track · Challenge Statement 2 · Scenario 1</a:t>
            </a:r>
          </a:p>
        </p:txBody>
      </p:sp>
      <p:sp>
        <p:nvSpPr>
          <p:cNvPr id="9" name="Text: Synthetic demo data · aura-health.makode"/>
          <p:cNvSpPr txBox="1"/>
          <p:nvPr/>
        </p:nvSpPr>
        <p:spPr>
          <a:xfrm>
            <a:off x="8350250" y="6388100"/>
            <a:ext cx="3386836" cy="190500"/>
          </a:xfrm>
          <a:prstGeom prst="rect">
            <a:avLst/>
          </a:prstGeom>
          <a:noFill/>
        </p:spPr>
        <p:txBody>
          <a:bodyPr wrap="square" anchor="t" lIns="0" rIns="0" tIns="0" bIns="0"/>
          <a:lstStyle/>
          <a:p>
            <a:pPr algn="l">
              <a:lnSpc>
                <a:spcPts val="1320"/>
              </a:lnSpc>
            </a:pPr>
            <a:r>
              <a:rPr sz="1100" b="0">
                <a:solidFill>
                  <a:srgbClr val="7A7066"/>
                </a:solidFill>
                <a:latin typeface="Nunito"/>
              </a:rPr>
              <a:t>Synthetic demo data · aura-health.makodev58.com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art, cards, screenshots)" descr="image.jpg"/>
          <p:cNvPicPr>
            <a:picLocks noChangeAspect="1"/>
          </p:cNvPicPr>
          <p:nvPr/>
        </p:nvPicPr>
        <p:blipFill>
          <a:blip r:embed="rId2"/>
          <a:stretch>
            <a:fillRect/>
          </a:stretch>
        </p:blipFill>
        <p:spPr>
          <a:xfrm>
            <a:off x="0" y="0"/>
            <a:ext cx="12192000" cy="6858000"/>
          </a:xfrm>
          <a:prstGeom prst="rect">
            <a:avLst/>
          </a:prstGeom>
        </p:spPr>
      </p:pic>
      <p:sp>
        <p:nvSpPr>
          <p:cNvPr id="3" name="Text: AURA HEALTH"/>
          <p:cNvSpPr txBox="1"/>
          <p:nvPr/>
        </p:nvSpPr>
        <p:spPr>
          <a:xfrm>
            <a:off x="977900" y="384175"/>
            <a:ext cx="1531421" cy="222250"/>
          </a:xfrm>
          <a:prstGeom prst="rect">
            <a:avLst/>
          </a:prstGeom>
          <a:noFill/>
        </p:spPr>
        <p:txBody>
          <a:bodyPr wrap="square" anchor="t" lIns="0" rIns="0" tIns="0" bIns="0"/>
          <a:lstStyle/>
          <a:p>
            <a:pPr algn="l">
              <a:lnSpc>
                <a:spcPts val="1560"/>
              </a:lnSpc>
            </a:pPr>
            <a:r>
              <a:rPr sz="1300" b="1" spc="182">
                <a:solidFill>
                  <a:srgbClr val="2A2320"/>
                </a:solidFill>
                <a:latin typeface="Nunito"/>
              </a:rPr>
              <a:t>AURA HEALTH</a:t>
            </a:r>
          </a:p>
        </p:txBody>
      </p:sp>
      <p:sp>
        <p:nvSpPr>
          <p:cNvPr id="4" name="Text: SOMETHING CHANGES"/>
          <p:cNvSpPr txBox="1"/>
          <p:nvPr/>
        </p:nvSpPr>
        <p:spPr>
          <a:xfrm>
            <a:off x="609600" y="952500"/>
            <a:ext cx="3987800" cy="203200"/>
          </a:xfrm>
          <a:prstGeom prst="rect">
            <a:avLst/>
          </a:prstGeom>
          <a:noFill/>
        </p:spPr>
        <p:txBody>
          <a:bodyPr wrap="square" anchor="t" lIns="0" rIns="0" tIns="0" bIns="0"/>
          <a:lstStyle/>
          <a:p>
            <a:pPr algn="l">
              <a:lnSpc>
                <a:spcPts val="1439"/>
              </a:lnSpc>
            </a:pPr>
            <a:r>
              <a:rPr sz="1200" b="1" spc="168">
                <a:solidFill>
                  <a:srgbClr val="9C5700"/>
                </a:solidFill>
                <a:latin typeface="Nunito"/>
              </a:rPr>
              <a:t>SOMETHING CHANGES</a:t>
            </a:r>
          </a:p>
        </p:txBody>
      </p:sp>
      <p:sp>
        <p:nvSpPr>
          <p:cNvPr id="5" name="Text: A simulated three-day flu"/>
          <p:cNvSpPr txBox="1"/>
          <p:nvPr/>
        </p:nvSpPr>
        <p:spPr>
          <a:xfrm>
            <a:off x="609600" y="1384300"/>
            <a:ext cx="3987800" cy="810220"/>
          </a:xfrm>
          <a:prstGeom prst="rect">
            <a:avLst/>
          </a:prstGeom>
          <a:noFill/>
        </p:spPr>
        <p:txBody>
          <a:bodyPr wrap="square" anchor="t" lIns="0" rIns="0" tIns="0" bIns="0"/>
          <a:lstStyle/>
          <a:p>
            <a:pPr algn="l">
              <a:lnSpc>
                <a:spcPts val="3190"/>
              </a:lnSpc>
            </a:pPr>
            <a:r>
              <a:rPr sz="2900" b="1" spc="-44">
                <a:solidFill>
                  <a:srgbClr val="2A2320"/>
                </a:solidFill>
                <a:latin typeface="Nunito"/>
              </a:rPr>
              <a:t>A simulated three-day flu</a:t>
            </a:r>
          </a:p>
        </p:txBody>
      </p:sp>
      <p:sp>
        <p:nvSpPr>
          <p:cNvPr id="6" name="Text: AURA notices resting heart rate is highe"/>
          <p:cNvSpPr txBox="1"/>
          <p:nvPr/>
        </p:nvSpPr>
        <p:spPr>
          <a:xfrm>
            <a:off x="609600" y="2448520"/>
            <a:ext cx="3987800" cy="995362"/>
          </a:xfrm>
          <a:prstGeom prst="rect">
            <a:avLst/>
          </a:prstGeom>
          <a:noFill/>
        </p:spPr>
        <p:txBody>
          <a:bodyPr wrap="square" anchor="t" lIns="0" rIns="0" tIns="0" bIns="0"/>
          <a:lstStyle/>
          <a:p>
            <a:pPr algn="l">
              <a:lnSpc>
                <a:spcPts val="1960"/>
              </a:lnSpc>
            </a:pPr>
            <a:r>
              <a:rPr sz="1400" b="0">
                <a:solidFill>
                  <a:srgbClr val="4A413B"/>
                </a:solidFill>
                <a:latin typeface="Nunito"/>
              </a:rPr>
              <a:t>AURA notices resting heart rate is higher than in the person's </a:t>
            </a:r>
            <a:r>
              <a:rPr sz="1400" b="1">
                <a:solidFill>
                  <a:srgbClr val="2A2320"/>
                </a:solidFill>
                <a:latin typeface="Nunito"/>
              </a:rPr>
              <a:t>recent</a:t>
            </a:r>
            <a:r>
              <a:rPr sz="1400" b="0">
                <a:solidFill>
                  <a:srgbClr val="4A413B"/>
                </a:solidFill>
                <a:latin typeface="Nunito"/>
              </a:rPr>
              <a:t> records, and says exactly that: a recent change, not a change from their usual.</a:t>
            </a:r>
          </a:p>
        </p:txBody>
      </p:sp>
      <p:sp>
        <p:nvSpPr>
          <p:cNvPr id="7" name="Text: When a change shows up, it offers a smal"/>
          <p:cNvSpPr txBox="1"/>
          <p:nvPr/>
        </p:nvSpPr>
        <p:spPr>
          <a:xfrm>
            <a:off x="609600" y="3583582"/>
            <a:ext cx="3987800" cy="497681"/>
          </a:xfrm>
          <a:prstGeom prst="rect">
            <a:avLst/>
          </a:prstGeom>
          <a:noFill/>
        </p:spPr>
        <p:txBody>
          <a:bodyPr wrap="square" anchor="t" lIns="0" rIns="0" tIns="0" bIns="0"/>
          <a:lstStyle/>
          <a:p>
            <a:pPr algn="l">
              <a:lnSpc>
                <a:spcPts val="1960"/>
              </a:lnSpc>
            </a:pPr>
            <a:r>
              <a:rPr sz="1400" b="0">
                <a:solidFill>
                  <a:srgbClr val="4A413B"/>
                </a:solidFill>
                <a:latin typeface="Nunito"/>
              </a:rPr>
              <a:t>When a change shows up, it offers </a:t>
            </a:r>
            <a:r>
              <a:rPr sz="1400" b="1">
                <a:solidFill>
                  <a:srgbClr val="2A2320"/>
                </a:solidFill>
                <a:latin typeface="Nunito"/>
              </a:rPr>
              <a:t>a small idea for today</a:t>
            </a:r>
            <a:r>
              <a:rPr sz="1400" b="0">
                <a:solidFill>
                  <a:srgbClr val="4A413B"/>
                </a:solidFill>
                <a:latin typeface="Nunito"/>
              </a:rPr>
              <a:t>. Optional, never about medication.</a:t>
            </a:r>
          </a:p>
        </p:txBody>
      </p:sp>
      <p:sp>
        <p:nvSpPr>
          <p:cNvPr id="8" name="Text: Healthcare track · Challenge Statement 2"/>
          <p:cNvSpPr txBox="1"/>
          <p:nvPr/>
        </p:nvSpPr>
        <p:spPr>
          <a:xfrm>
            <a:off x="609600" y="6388100"/>
            <a:ext cx="3591560" cy="190500"/>
          </a:xfrm>
          <a:prstGeom prst="rect">
            <a:avLst/>
          </a:prstGeom>
          <a:noFill/>
        </p:spPr>
        <p:txBody>
          <a:bodyPr wrap="square" anchor="t" lIns="0" rIns="0" tIns="0" bIns="0"/>
          <a:lstStyle/>
          <a:p>
            <a:pPr algn="l">
              <a:lnSpc>
                <a:spcPts val="1320"/>
              </a:lnSpc>
            </a:pPr>
            <a:r>
              <a:rPr sz="1100" b="0">
                <a:solidFill>
                  <a:srgbClr val="7A7066"/>
                </a:solidFill>
                <a:latin typeface="Nunito"/>
              </a:rPr>
              <a:t>Healthcare track · Challenge Statement 2 · Scenario 1</a:t>
            </a:r>
          </a:p>
        </p:txBody>
      </p:sp>
      <p:sp>
        <p:nvSpPr>
          <p:cNvPr id="9" name="Text: Synthetic demo data · aura-health.makode"/>
          <p:cNvSpPr txBox="1"/>
          <p:nvPr/>
        </p:nvSpPr>
        <p:spPr>
          <a:xfrm>
            <a:off x="8350250" y="6388100"/>
            <a:ext cx="3386836" cy="190500"/>
          </a:xfrm>
          <a:prstGeom prst="rect">
            <a:avLst/>
          </a:prstGeom>
          <a:noFill/>
        </p:spPr>
        <p:txBody>
          <a:bodyPr wrap="square" anchor="t" lIns="0" rIns="0" tIns="0" bIns="0"/>
          <a:lstStyle/>
          <a:p>
            <a:pPr algn="l">
              <a:lnSpc>
                <a:spcPts val="1320"/>
              </a:lnSpc>
            </a:pPr>
            <a:r>
              <a:rPr sz="1100" b="0">
                <a:solidFill>
                  <a:srgbClr val="7A7066"/>
                </a:solidFill>
                <a:latin typeface="Nunito"/>
              </a:rPr>
              <a:t>Synthetic demo data · aura-health.makodev58.com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art, cards, screenshots)" descr="image.jpg"/>
          <p:cNvPicPr>
            <a:picLocks noChangeAspect="1"/>
          </p:cNvPicPr>
          <p:nvPr/>
        </p:nvPicPr>
        <p:blipFill>
          <a:blip r:embed="rId2"/>
          <a:stretch>
            <a:fillRect/>
          </a:stretch>
        </p:blipFill>
        <p:spPr>
          <a:xfrm>
            <a:off x="0" y="0"/>
            <a:ext cx="12192000" cy="6858000"/>
          </a:xfrm>
          <a:prstGeom prst="rect">
            <a:avLst/>
          </a:prstGeom>
        </p:spPr>
      </p:pic>
      <p:sp>
        <p:nvSpPr>
          <p:cNvPr id="3" name="Text: AURA HEALTH"/>
          <p:cNvSpPr txBox="1"/>
          <p:nvPr/>
        </p:nvSpPr>
        <p:spPr>
          <a:xfrm>
            <a:off x="977900" y="384175"/>
            <a:ext cx="1531421" cy="222250"/>
          </a:xfrm>
          <a:prstGeom prst="rect">
            <a:avLst/>
          </a:prstGeom>
          <a:noFill/>
        </p:spPr>
        <p:txBody>
          <a:bodyPr wrap="square" anchor="t" lIns="0" rIns="0" tIns="0" bIns="0"/>
          <a:lstStyle/>
          <a:p>
            <a:pPr algn="l">
              <a:lnSpc>
                <a:spcPts val="1560"/>
              </a:lnSpc>
            </a:pPr>
            <a:r>
              <a:rPr sz="1300" b="1" spc="182">
                <a:solidFill>
                  <a:srgbClr val="2A2320"/>
                </a:solidFill>
                <a:latin typeface="Nunito"/>
              </a:rPr>
              <a:t>AURA HEALTH</a:t>
            </a:r>
          </a:p>
        </p:txBody>
      </p:sp>
      <p:sp>
        <p:nvSpPr>
          <p:cNvPr id="4" name="Text: SAFETY FIRST"/>
          <p:cNvSpPr txBox="1"/>
          <p:nvPr/>
        </p:nvSpPr>
        <p:spPr>
          <a:xfrm>
            <a:off x="609600" y="952500"/>
            <a:ext cx="5440680" cy="203200"/>
          </a:xfrm>
          <a:prstGeom prst="rect">
            <a:avLst/>
          </a:prstGeom>
          <a:noFill/>
        </p:spPr>
        <p:txBody>
          <a:bodyPr wrap="square" anchor="t" lIns="0" rIns="0" tIns="0" bIns="0"/>
          <a:lstStyle/>
          <a:p>
            <a:pPr algn="l">
              <a:lnSpc>
                <a:spcPts val="1439"/>
              </a:lnSpc>
            </a:pPr>
            <a:r>
              <a:rPr sz="1200" b="1" spc="168">
                <a:solidFill>
                  <a:srgbClr val="9C5700"/>
                </a:solidFill>
                <a:latin typeface="Nunito"/>
              </a:rPr>
              <a:t>SAFETY FIRST</a:t>
            </a:r>
          </a:p>
        </p:txBody>
      </p:sp>
      <p:sp>
        <p:nvSpPr>
          <p:cNvPr id="5" name="Text: Anything a patient types is safety-check"/>
          <p:cNvSpPr txBox="1"/>
          <p:nvPr/>
        </p:nvSpPr>
        <p:spPr>
          <a:xfrm>
            <a:off x="609600" y="1384300"/>
            <a:ext cx="5440680" cy="810220"/>
          </a:xfrm>
          <a:prstGeom prst="rect">
            <a:avLst/>
          </a:prstGeom>
          <a:noFill/>
        </p:spPr>
        <p:txBody>
          <a:bodyPr wrap="square" anchor="t" lIns="0" rIns="0" tIns="0" bIns="0"/>
          <a:lstStyle/>
          <a:p>
            <a:pPr algn="l">
              <a:lnSpc>
                <a:spcPts val="3190"/>
              </a:lnSpc>
            </a:pPr>
            <a:r>
              <a:rPr sz="2900" b="1" spc="-44">
                <a:solidFill>
                  <a:srgbClr val="2A2320"/>
                </a:solidFill>
                <a:latin typeface="Nunito"/>
              </a:rPr>
              <a:t>Anything a patient types is safety-checked first</a:t>
            </a:r>
          </a:p>
        </p:txBody>
      </p:sp>
      <p:sp>
        <p:nvSpPr>
          <p:cNvPr id="6" name="Text: If there is a concern, fixed safety reso"/>
          <p:cNvSpPr txBox="1"/>
          <p:nvPr/>
        </p:nvSpPr>
        <p:spPr>
          <a:xfrm>
            <a:off x="876300" y="2512020"/>
            <a:ext cx="5163312" cy="853380"/>
          </a:xfrm>
          <a:prstGeom prst="rect">
            <a:avLst/>
          </a:prstGeom>
          <a:noFill/>
        </p:spPr>
        <p:txBody>
          <a:bodyPr wrap="square" anchor="t" lIns="0" rIns="0" tIns="0" bIns="0"/>
          <a:lstStyle/>
          <a:p>
            <a:pPr algn="l">
              <a:lnSpc>
                <a:spcPts val="2240"/>
              </a:lnSpc>
            </a:pPr>
            <a:r>
              <a:rPr sz="1600" b="0">
                <a:solidFill>
                  <a:srgbClr val="2A2320"/>
                </a:solidFill>
                <a:latin typeface="Nunito"/>
              </a:rPr>
              <a:t>If there is a concern, fixed safety resources take over the screen and the AI steps back. They are never AI-written.</a:t>
            </a:r>
          </a:p>
        </p:txBody>
      </p:sp>
      <p:sp>
        <p:nvSpPr>
          <p:cNvPr id="7" name="Text: The patient can't dismiss them. The clin"/>
          <p:cNvSpPr txBox="1"/>
          <p:nvPr/>
        </p:nvSpPr>
        <p:spPr>
          <a:xfrm>
            <a:off x="876300" y="3530500"/>
            <a:ext cx="5163312" cy="568920"/>
          </a:xfrm>
          <a:prstGeom prst="rect">
            <a:avLst/>
          </a:prstGeom>
          <a:noFill/>
        </p:spPr>
        <p:txBody>
          <a:bodyPr wrap="square" anchor="t" lIns="0" rIns="0" tIns="0" bIns="0"/>
          <a:lstStyle/>
          <a:p>
            <a:pPr algn="l">
              <a:lnSpc>
                <a:spcPts val="2240"/>
              </a:lnSpc>
            </a:pPr>
            <a:r>
              <a:rPr sz="1600" b="0">
                <a:solidFill>
                  <a:srgbClr val="2A2320"/>
                </a:solidFill>
                <a:latin typeface="Nunito"/>
              </a:rPr>
              <a:t>The patient can't dismiss them. The clinician sees the same safety state when they open the record.</a:t>
            </a:r>
          </a:p>
        </p:txBody>
      </p:sp>
      <p:sp>
        <p:nvSpPr>
          <p:cNvPr id="8" name="Text: No alerts are sent in this prototype: wh"/>
          <p:cNvSpPr txBox="1"/>
          <p:nvPr/>
        </p:nvSpPr>
        <p:spPr>
          <a:xfrm>
            <a:off x="876300" y="4264521"/>
            <a:ext cx="5163312" cy="568920"/>
          </a:xfrm>
          <a:prstGeom prst="rect">
            <a:avLst/>
          </a:prstGeom>
          <a:noFill/>
        </p:spPr>
        <p:txBody>
          <a:bodyPr wrap="square" anchor="t" lIns="0" rIns="0" tIns="0" bIns="0"/>
          <a:lstStyle/>
          <a:p>
            <a:pPr algn="l">
              <a:lnSpc>
                <a:spcPts val="2240"/>
              </a:lnSpc>
            </a:pPr>
            <a:r>
              <a:rPr sz="1600" b="0">
                <a:solidFill>
                  <a:srgbClr val="2A2320"/>
                </a:solidFill>
                <a:latin typeface="Nunito"/>
              </a:rPr>
              <a:t>No alerts are sent in this prototype: who is told, and how fast, is for the care team to decide.</a:t>
            </a:r>
          </a:p>
        </p:txBody>
      </p:sp>
      <p:sp>
        <p:nvSpPr>
          <p:cNvPr id="9" name="Text: Asking to double a dose goes to safety, "/>
          <p:cNvSpPr txBox="1"/>
          <p:nvPr/>
        </p:nvSpPr>
        <p:spPr>
          <a:xfrm>
            <a:off x="876300" y="4998541"/>
            <a:ext cx="5163312" cy="568920"/>
          </a:xfrm>
          <a:prstGeom prst="rect">
            <a:avLst/>
          </a:prstGeom>
          <a:noFill/>
        </p:spPr>
        <p:txBody>
          <a:bodyPr wrap="square" anchor="t" lIns="0" rIns="0" tIns="0" bIns="0"/>
          <a:lstStyle/>
          <a:p>
            <a:pPr algn="l">
              <a:lnSpc>
                <a:spcPts val="2240"/>
              </a:lnSpc>
            </a:pPr>
            <a:r>
              <a:rPr sz="1600" b="0">
                <a:solidFill>
                  <a:srgbClr val="2A2320"/>
                </a:solidFill>
                <a:latin typeface="Nunito"/>
              </a:rPr>
              <a:t>Asking to double a dose goes to safety, not to an answer.</a:t>
            </a:r>
          </a:p>
        </p:txBody>
      </p:sp>
      <p:sp>
        <p:nvSpPr>
          <p:cNvPr id="10" name="Text: The example, masked"/>
          <p:cNvSpPr txBox="1"/>
          <p:nvPr/>
        </p:nvSpPr>
        <p:spPr>
          <a:xfrm>
            <a:off x="6343650" y="5392539"/>
            <a:ext cx="1834896" cy="248920"/>
          </a:xfrm>
          <a:prstGeom prst="rect">
            <a:avLst/>
          </a:prstGeom>
          <a:noFill/>
        </p:spPr>
        <p:txBody>
          <a:bodyPr wrap="square" anchor="t" lIns="0" rIns="0" tIns="0" bIns="0"/>
          <a:lstStyle/>
          <a:p>
            <a:pPr algn="l">
              <a:lnSpc>
                <a:spcPts val="1960"/>
              </a:lnSpc>
            </a:pPr>
            <a:r>
              <a:rPr sz="1400" b="0">
                <a:solidFill>
                  <a:srgbClr val="4A413B"/>
                </a:solidFill>
                <a:latin typeface="Nunito"/>
              </a:rPr>
              <a:t>The example, masked</a:t>
            </a:r>
          </a:p>
        </p:txBody>
      </p:sp>
      <p:sp>
        <p:nvSpPr>
          <p:cNvPr id="11" name="Text: Safety takes over"/>
          <p:cNvSpPr txBox="1"/>
          <p:nvPr/>
        </p:nvSpPr>
        <p:spPr>
          <a:xfrm>
            <a:off x="8966200" y="5392539"/>
            <a:ext cx="1451864" cy="248920"/>
          </a:xfrm>
          <a:prstGeom prst="rect">
            <a:avLst/>
          </a:prstGeom>
          <a:noFill/>
        </p:spPr>
        <p:txBody>
          <a:bodyPr wrap="square" anchor="t" lIns="0" rIns="0" tIns="0" bIns="0"/>
          <a:lstStyle/>
          <a:p>
            <a:pPr algn="l">
              <a:lnSpc>
                <a:spcPts val="1960"/>
              </a:lnSpc>
            </a:pPr>
            <a:r>
              <a:rPr sz="1400" b="0">
                <a:solidFill>
                  <a:srgbClr val="4A413B"/>
                </a:solidFill>
                <a:latin typeface="Nunito"/>
              </a:rPr>
              <a:t>Safety takes over</a:t>
            </a:r>
          </a:p>
        </p:txBody>
      </p:sp>
      <p:sp>
        <p:nvSpPr>
          <p:cNvPr id="12" name="Text: Healthcare track · Challenge Statement 2"/>
          <p:cNvSpPr txBox="1"/>
          <p:nvPr/>
        </p:nvSpPr>
        <p:spPr>
          <a:xfrm>
            <a:off x="609600" y="6388100"/>
            <a:ext cx="3591560" cy="190500"/>
          </a:xfrm>
          <a:prstGeom prst="rect">
            <a:avLst/>
          </a:prstGeom>
          <a:noFill/>
        </p:spPr>
        <p:txBody>
          <a:bodyPr wrap="square" anchor="t" lIns="0" rIns="0" tIns="0" bIns="0"/>
          <a:lstStyle/>
          <a:p>
            <a:pPr algn="l">
              <a:lnSpc>
                <a:spcPts val="1320"/>
              </a:lnSpc>
            </a:pPr>
            <a:r>
              <a:rPr sz="1100" b="0">
                <a:solidFill>
                  <a:srgbClr val="7A7066"/>
                </a:solidFill>
                <a:latin typeface="Nunito"/>
              </a:rPr>
              <a:t>Healthcare track · Challenge Statement 2 · Scenario 1</a:t>
            </a:r>
          </a:p>
        </p:txBody>
      </p:sp>
      <p:sp>
        <p:nvSpPr>
          <p:cNvPr id="13" name="Text: Synthetic demo data · aura-health.makode"/>
          <p:cNvSpPr txBox="1"/>
          <p:nvPr/>
        </p:nvSpPr>
        <p:spPr>
          <a:xfrm>
            <a:off x="8350250" y="6388100"/>
            <a:ext cx="3386836" cy="190500"/>
          </a:xfrm>
          <a:prstGeom prst="rect">
            <a:avLst/>
          </a:prstGeom>
          <a:noFill/>
        </p:spPr>
        <p:txBody>
          <a:bodyPr wrap="square" anchor="t" lIns="0" rIns="0" tIns="0" bIns="0"/>
          <a:lstStyle/>
          <a:p>
            <a:pPr algn="l">
              <a:lnSpc>
                <a:spcPts val="1320"/>
              </a:lnSpc>
            </a:pPr>
            <a:r>
              <a:rPr sz="1100" b="0">
                <a:solidFill>
                  <a:srgbClr val="7A7066"/>
                </a:solidFill>
                <a:latin typeface="Nunito"/>
              </a:rPr>
              <a:t>Synthetic demo data · aura-health.makodev58.com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 AURA Health · system architecture"/>
          <p:cNvSpPr txBox="1"/>
          <p:nvPr/>
        </p:nvSpPr>
        <p:spPr>
          <a:xfrm>
            <a:off x="508000" y="292100"/>
            <a:ext cx="11176000" cy="444500"/>
          </a:xfrm>
          <a:prstGeom prst="rect">
            <a:avLst/>
          </a:prstGeom>
          <a:noFill/>
        </p:spPr>
        <p:txBody>
          <a:bodyPr wrap="square" anchor="t" lIns="0" rIns="0" tIns="0" bIns="0"/>
          <a:lstStyle/>
          <a:p>
            <a:pPr algn="l">
              <a:spcAft>
                <a:spcPts val="1215"/>
              </a:spcAft>
            </a:pPr>
            <a:r>
              <a:rPr sz="2700" b="1">
                <a:solidFill>
                  <a:srgbClr val="2A2320"/>
                </a:solidFill>
                <a:latin typeface="Nunito"/>
              </a:rPr>
              <a:t>AURA Health · system architecture</a:t>
            </a:r>
          </a:p>
        </p:txBody>
      </p:sp>
      <p:sp>
        <p:nvSpPr>
          <p:cNvPr id="3" name="Text: Challenge 2 · Scenario 1: mental health "/>
          <p:cNvSpPr txBox="1"/>
          <p:nvPr/>
        </p:nvSpPr>
        <p:spPr>
          <a:xfrm>
            <a:off x="508000" y="774700"/>
            <a:ext cx="11176000" cy="254000"/>
          </a:xfrm>
          <a:prstGeom prst="rect">
            <a:avLst/>
          </a:prstGeom>
          <a:noFill/>
        </p:spPr>
        <p:txBody>
          <a:bodyPr wrap="square" anchor="t" lIns="0" rIns="0" tIns="0" bIns="0"/>
          <a:lstStyle/>
          <a:p>
            <a:pPr algn="l">
              <a:spcAft>
                <a:spcPts val="585"/>
              </a:spcAft>
            </a:pPr>
            <a:r>
              <a:rPr sz="1300" b="0">
                <a:solidFill>
                  <a:srgbClr val="6B6258"/>
                </a:solidFill>
                <a:latin typeface="Nunito"/>
              </a:rPr>
              <a:t>Challenge 2 · Scenario 1: mental health maintenance for working adults on antidepressants</a:t>
            </a:r>
          </a:p>
        </p:txBody>
      </p:sp>
      <p:sp>
        <p:nvSpPr>
          <p:cNvPr id="4" name="Box: Web experience"/>
          <p:cNvSpPr/>
          <p:nvPr/>
        </p:nvSpPr>
        <p:spPr>
          <a:xfrm>
            <a:off x="508000" y="1206500"/>
            <a:ext cx="2286000" cy="3175000"/>
          </a:xfrm>
          <a:prstGeom prst="roundRect">
            <a:avLst>
              <a:gd name="adj" fmla="val 6111"/>
            </a:avLst>
          </a:prstGeom>
          <a:solidFill>
            <a:srgbClr val="FFFFFF"/>
          </a:solidFill>
          <a:ln w="15875">
            <a:solidFill>
              <a:srgbClr val="CFC8BD"/>
            </a:solidFill>
            <a:prstDash val="lgDash"/>
          </a:ln>
        </p:spPr>
        <p:txBody>
          <a:bodyPr rtlCol="0" anchor="t" wrap="square" lIns="152400" rIns="152400" tIns="152400" bIns="152400"/>
          <a:lstStyle/>
          <a:p>
            <a:pPr algn="l">
              <a:spcAft>
                <a:spcPts val="630"/>
              </a:spcAft>
            </a:pPr>
            <a:r>
              <a:rPr sz="1400" b="1">
                <a:solidFill>
                  <a:srgbClr val="2A2320"/>
                </a:solidFill>
                <a:latin typeface="Nunito"/>
              </a:rPr>
              <a:t>Web experience</a:t>
            </a:r>
          </a:p>
        </p:txBody>
      </p:sp>
      <p:sp>
        <p:nvSpPr>
          <p:cNvPr id="5" name="Box: Python app · owns the state"/>
          <p:cNvSpPr/>
          <p:nvPr/>
        </p:nvSpPr>
        <p:spPr>
          <a:xfrm>
            <a:off x="3302000" y="1206500"/>
            <a:ext cx="3810000" cy="3175000"/>
          </a:xfrm>
          <a:prstGeom prst="roundRect">
            <a:avLst>
              <a:gd name="adj" fmla="val 4400"/>
            </a:avLst>
          </a:prstGeom>
          <a:solidFill>
            <a:srgbClr val="FFFFFF"/>
          </a:solidFill>
          <a:ln w="15875">
            <a:solidFill>
              <a:srgbClr val="CFC8BD"/>
            </a:solidFill>
            <a:prstDash val="lgDash"/>
          </a:ln>
        </p:spPr>
        <p:txBody>
          <a:bodyPr rtlCol="0" anchor="t" wrap="square" lIns="152400" rIns="152400" tIns="152400" bIns="152400"/>
          <a:lstStyle/>
          <a:p>
            <a:pPr algn="l">
              <a:spcAft>
                <a:spcPts val="630"/>
              </a:spcAft>
            </a:pPr>
            <a:r>
              <a:rPr sz="1400" b="1">
                <a:solidFill>
                  <a:srgbClr val="2A2320"/>
                </a:solidFill>
                <a:latin typeface="Nunito"/>
              </a:rPr>
              <a:t>Python app · owns the state</a:t>
            </a:r>
          </a:p>
        </p:txBody>
      </p:sp>
      <p:sp>
        <p:nvSpPr>
          <p:cNvPr id="6" name="Box: Bounded AI · read-only"/>
          <p:cNvSpPr/>
          <p:nvPr/>
        </p:nvSpPr>
        <p:spPr>
          <a:xfrm>
            <a:off x="7620000" y="1206500"/>
            <a:ext cx="4064000" cy="3175000"/>
          </a:xfrm>
          <a:prstGeom prst="roundRect">
            <a:avLst>
              <a:gd name="adj" fmla="val 4400"/>
            </a:avLst>
          </a:prstGeom>
          <a:solidFill>
            <a:srgbClr val="FFFFFF"/>
          </a:solidFill>
          <a:ln w="15875">
            <a:solidFill>
              <a:srgbClr val="CFC8BD"/>
            </a:solidFill>
            <a:prstDash val="lgDash"/>
          </a:ln>
        </p:spPr>
        <p:txBody>
          <a:bodyPr rtlCol="0" anchor="t" wrap="square" lIns="152400" rIns="152400" tIns="152400" bIns="152400"/>
          <a:lstStyle/>
          <a:p>
            <a:pPr algn="l">
              <a:spcAft>
                <a:spcPts val="630"/>
              </a:spcAft>
            </a:pPr>
            <a:r>
              <a:rPr sz="1400" b="1">
                <a:solidFill>
                  <a:srgbClr val="2A2320"/>
                </a:solidFill>
                <a:latin typeface="Nunito"/>
              </a:rPr>
              <a:t>Bounded AI · read-only</a:t>
            </a:r>
          </a:p>
        </p:txBody>
      </p:sp>
      <p:sp>
        <p:nvSpPr>
          <p:cNvPr id="7" name="Box: Patient companion"/>
          <p:cNvSpPr/>
          <p:nvPr/>
        </p:nvSpPr>
        <p:spPr>
          <a:xfrm>
            <a:off x="660400" y="1625600"/>
            <a:ext cx="1981200" cy="1270000"/>
          </a:xfrm>
          <a:prstGeom prst="roundRect">
            <a:avLst>
              <a:gd name="adj" fmla="val 11000"/>
            </a:avLst>
          </a:prstGeom>
          <a:solidFill>
            <a:srgbClr val="F3F0EA"/>
          </a:solidFill>
          <a:ln>
            <a:noFill/>
          </a:ln>
        </p:spPr>
        <p:txBody>
          <a:bodyPr rtlCol="0" anchor="t" wrap="square" lIns="152400" rIns="152400" tIns="152400" bIns="152400"/>
          <a:lstStyle/>
          <a:p>
            <a:pPr algn="l">
              <a:spcAft>
                <a:spcPts val="562"/>
              </a:spcAft>
            </a:pPr>
            <a:r>
              <a:rPr sz="1250" b="1">
                <a:solidFill>
                  <a:srgbClr val="2A2320"/>
                </a:solidFill>
                <a:latin typeface="Nunito"/>
              </a:rPr>
              <a:t>Patient companion</a:t>
            </a:r>
          </a:p>
          <a:p>
            <a:pPr algn="l">
              <a:spcAft>
                <a:spcPts val="250"/>
              </a:spcAft>
            </a:pPr>
            <a:r>
              <a:rPr sz="1000" b="0">
                <a:solidFill>
                  <a:srgbClr val="2A2320"/>
                </a:solidFill>
                <a:latin typeface="Nunito"/>
              </a:rPr>
              <a:t>Recap, dose + reasons</a:t>
            </a:r>
          </a:p>
          <a:p>
            <a:pPr algn="l">
              <a:spcAft>
                <a:spcPts val="250"/>
              </a:spcAft>
            </a:pPr>
            <a:r>
              <a:rPr sz="1000" b="0">
                <a:solidFill>
                  <a:srgbClr val="2A2320"/>
                </a:solidFill>
                <a:latin typeface="Nunito"/>
              </a:rPr>
              <a:t>Replies, ideas, activities</a:t>
            </a:r>
          </a:p>
          <a:p>
            <a:pPr algn="l">
              <a:spcAft>
                <a:spcPts val="250"/>
              </a:spcAft>
            </a:pPr>
            <a:r>
              <a:rPr sz="1000" b="0">
                <a:solidFill>
                  <a:srgbClr val="2A2320"/>
                </a:solidFill>
                <a:latin typeface="Nunito"/>
              </a:rPr>
              <a:t>Sharing choices</a:t>
            </a:r>
          </a:p>
        </p:txBody>
      </p:sp>
      <p:sp>
        <p:nvSpPr>
          <p:cNvPr id="8" name="Box: Clinician view"/>
          <p:cNvSpPr/>
          <p:nvPr/>
        </p:nvSpPr>
        <p:spPr>
          <a:xfrm>
            <a:off x="660400" y="2997200"/>
            <a:ext cx="1981200" cy="952500"/>
          </a:xfrm>
          <a:prstGeom prst="roundRect">
            <a:avLst>
              <a:gd name="adj" fmla="val 14666"/>
            </a:avLst>
          </a:prstGeom>
          <a:solidFill>
            <a:srgbClr val="F3F0EA"/>
          </a:solidFill>
          <a:ln>
            <a:noFill/>
          </a:ln>
        </p:spPr>
        <p:txBody>
          <a:bodyPr rtlCol="0" anchor="t" wrap="square" lIns="152400" rIns="152400" tIns="152400" bIns="152400"/>
          <a:lstStyle/>
          <a:p>
            <a:pPr algn="l">
              <a:spcAft>
                <a:spcPts val="562"/>
              </a:spcAft>
            </a:pPr>
            <a:r>
              <a:rPr sz="1250" b="1">
                <a:solidFill>
                  <a:srgbClr val="2A2320"/>
                </a:solidFill>
                <a:latin typeface="Nunito"/>
              </a:rPr>
              <a:t>Clinician view</a:t>
            </a:r>
          </a:p>
          <a:p>
            <a:pPr algn="l">
              <a:spcAft>
                <a:spcPts val="250"/>
              </a:spcAft>
            </a:pPr>
            <a:r>
              <a:rPr sz="1000" b="0">
                <a:solidFill>
                  <a:srgbClr val="2A2320"/>
                </a:solidFill>
                <a:latin typeface="Nunito"/>
              </a:rPr>
              <a:t>Findings, Ask the record</a:t>
            </a:r>
          </a:p>
          <a:p>
            <a:pPr algn="l">
              <a:spcAft>
                <a:spcPts val="250"/>
              </a:spcAft>
            </a:pPr>
            <a:r>
              <a:rPr sz="1000" b="0">
                <a:solidFill>
                  <a:srgbClr val="2A2320"/>
                </a:solidFill>
                <a:latin typeface="Nunito"/>
              </a:rPr>
              <a:t>Only what is shared</a:t>
            </a:r>
          </a:p>
        </p:txBody>
      </p:sp>
      <p:sp>
        <p:nvSpPr>
          <p:cNvPr id="9" name="Text: Presentation, not policy"/>
          <p:cNvSpPr txBox="1"/>
          <p:nvPr/>
        </p:nvSpPr>
        <p:spPr>
          <a:xfrm>
            <a:off x="660400" y="4064000"/>
            <a:ext cx="1981200" cy="254000"/>
          </a:xfrm>
          <a:prstGeom prst="rect">
            <a:avLst/>
          </a:prstGeom>
          <a:noFill/>
        </p:spPr>
        <p:txBody>
          <a:bodyPr wrap="square" anchor="t" lIns="0" rIns="0" tIns="0" bIns="0"/>
          <a:lstStyle/>
          <a:p>
            <a:pPr algn="l">
              <a:spcAft>
                <a:spcPts val="472"/>
              </a:spcAft>
            </a:pPr>
            <a:r>
              <a:rPr sz="1050" b="0">
                <a:solidFill>
                  <a:srgbClr val="6B6258"/>
                </a:solidFill>
                <a:latin typeface="Nunito"/>
              </a:rPr>
              <a:t>Presentation, not policy</a:t>
            </a:r>
          </a:p>
        </p:txBody>
      </p:sp>
      <p:sp>
        <p:nvSpPr>
          <p:cNvPr id="10" name="Box: FastAPI application services"/>
          <p:cNvSpPr/>
          <p:nvPr/>
        </p:nvSpPr>
        <p:spPr>
          <a:xfrm>
            <a:off x="3454400" y="1625600"/>
            <a:ext cx="3505200" cy="711200"/>
          </a:xfrm>
          <a:prstGeom prst="roundRect">
            <a:avLst>
              <a:gd name="adj" fmla="val 19642"/>
            </a:avLst>
          </a:prstGeom>
          <a:solidFill>
            <a:srgbClr val="DCEEF7"/>
          </a:solidFill>
          <a:ln>
            <a:noFill/>
          </a:ln>
        </p:spPr>
        <p:txBody>
          <a:bodyPr rtlCol="0" anchor="t" wrap="square" lIns="152400" rIns="152400" tIns="152400" bIns="152400"/>
          <a:lstStyle/>
          <a:p>
            <a:pPr algn="l">
              <a:spcAft>
                <a:spcPts val="607"/>
              </a:spcAft>
            </a:pPr>
            <a:r>
              <a:rPr sz="1350" b="1">
                <a:solidFill>
                  <a:srgbClr val="2A2320"/>
                </a:solidFill>
                <a:latin typeface="Nunito"/>
              </a:rPr>
              <a:t>FastAPI application services</a:t>
            </a:r>
          </a:p>
          <a:p>
            <a:pPr algn="l">
              <a:spcAft>
                <a:spcPts val="262"/>
              </a:spcAft>
            </a:pPr>
            <a:r>
              <a:rPr sz="1050" b="0">
                <a:solidFill>
                  <a:srgbClr val="2A2320"/>
                </a:solidFill>
                <a:latin typeface="Nunito"/>
              </a:rPr>
              <a:t>Atomic + idempotent events · SQLite + audit</a:t>
            </a:r>
          </a:p>
        </p:txBody>
      </p:sp>
      <p:sp>
        <p:nvSpPr>
          <p:cNvPr id="11" name="Box: Curated medication content"/>
          <p:cNvSpPr/>
          <p:nvPr/>
        </p:nvSpPr>
        <p:spPr>
          <a:xfrm>
            <a:off x="3454400" y="2438400"/>
            <a:ext cx="3505200" cy="711200"/>
          </a:xfrm>
          <a:prstGeom prst="roundRect">
            <a:avLst>
              <a:gd name="adj" fmla="val 19642"/>
            </a:avLst>
          </a:prstGeom>
          <a:solidFill>
            <a:srgbClr val="DCEEF7"/>
          </a:solidFill>
          <a:ln>
            <a:noFill/>
          </a:ln>
        </p:spPr>
        <p:txBody>
          <a:bodyPr rtlCol="0" anchor="t" wrap="square" lIns="152400" rIns="152400" tIns="152400" bIns="152400"/>
          <a:lstStyle/>
          <a:p>
            <a:pPr algn="l">
              <a:spcAft>
                <a:spcPts val="607"/>
              </a:spcAft>
            </a:pPr>
            <a:r>
              <a:rPr sz="1350" b="1">
                <a:solidFill>
                  <a:srgbClr val="2A2320"/>
                </a:solidFill>
                <a:latin typeface="Nunito"/>
              </a:rPr>
              <a:t>Curated medication content</a:t>
            </a:r>
          </a:p>
          <a:p>
            <a:pPr algn="l">
              <a:spcAft>
                <a:spcPts val="262"/>
              </a:spcAft>
            </a:pPr>
            <a:r>
              <a:rPr sz="1050" b="0">
                <a:solidFill>
                  <a:srgbClr val="2A2320"/>
                </a:solidFill>
                <a:latin typeface="Nunito"/>
              </a:rPr>
              <a:t>Typed questions: safety first, fixed answers</a:t>
            </a:r>
          </a:p>
        </p:txBody>
      </p:sp>
      <p:sp>
        <p:nvSpPr>
          <p:cNvPr id="12" name="Box: Safety engine"/>
          <p:cNvSpPr/>
          <p:nvPr/>
        </p:nvSpPr>
        <p:spPr>
          <a:xfrm>
            <a:off x="3454400" y="3251200"/>
            <a:ext cx="1701800" cy="952500"/>
          </a:xfrm>
          <a:prstGeom prst="roundRect">
            <a:avLst>
              <a:gd name="adj" fmla="val 14666"/>
            </a:avLst>
          </a:prstGeom>
          <a:solidFill>
            <a:srgbClr val="FDE3DF"/>
          </a:solidFill>
          <a:ln>
            <a:noFill/>
          </a:ln>
        </p:spPr>
        <p:txBody>
          <a:bodyPr rtlCol="0" anchor="t" wrap="square" lIns="152400" rIns="152400" tIns="152400" bIns="152400"/>
          <a:lstStyle/>
          <a:p>
            <a:pPr algn="l">
              <a:spcAft>
                <a:spcPts val="607"/>
              </a:spcAft>
            </a:pPr>
            <a:r>
              <a:rPr sz="1350" b="1">
                <a:solidFill>
                  <a:srgbClr val="2A2320"/>
                </a:solidFill>
                <a:latin typeface="Nunito"/>
              </a:rPr>
              <a:t>Safety engine</a:t>
            </a:r>
          </a:p>
          <a:p>
            <a:pPr algn="l">
              <a:spcAft>
                <a:spcPts val="262"/>
              </a:spcAft>
            </a:pPr>
            <a:r>
              <a:rPr sz="1050" b="0">
                <a:solidFill>
                  <a:srgbClr val="2A2320"/>
                </a:solidFill>
                <a:latin typeface="Nunito"/>
              </a:rPr>
              <a:t>T0–T4, fails closed</a:t>
            </a:r>
          </a:p>
        </p:txBody>
      </p:sp>
      <p:sp>
        <p:nvSpPr>
          <p:cNvPr id="13" name="Box: Longitudinal"/>
          <p:cNvSpPr/>
          <p:nvPr/>
        </p:nvSpPr>
        <p:spPr>
          <a:xfrm>
            <a:off x="5257800" y="3251200"/>
            <a:ext cx="1701800" cy="952500"/>
          </a:xfrm>
          <a:prstGeom prst="roundRect">
            <a:avLst>
              <a:gd name="adj" fmla="val 14666"/>
            </a:avLst>
          </a:prstGeom>
          <a:solidFill>
            <a:srgbClr val="DCEEF7"/>
          </a:solidFill>
          <a:ln>
            <a:noFill/>
          </a:ln>
        </p:spPr>
        <p:txBody>
          <a:bodyPr rtlCol="0" anchor="t" wrap="square" lIns="152400" rIns="152400" tIns="152400" bIns="152400"/>
          <a:lstStyle/>
          <a:p>
            <a:pPr algn="l">
              <a:spcAft>
                <a:spcPts val="607"/>
              </a:spcAft>
            </a:pPr>
            <a:r>
              <a:rPr sz="1350" b="1">
                <a:solidFill>
                  <a:srgbClr val="2A2320"/>
                </a:solidFill>
                <a:latin typeface="Nunito"/>
              </a:rPr>
              <a:t>Longitudinal</a:t>
            </a:r>
          </a:p>
          <a:p>
            <a:pPr algn="l">
              <a:spcAft>
                <a:spcPts val="262"/>
              </a:spcAft>
            </a:pPr>
            <a:r>
              <a:rPr sz="1050" b="0">
                <a:solidFill>
                  <a:srgbClr val="2A2320"/>
                </a:solidFill>
                <a:latin typeface="Nunito"/>
              </a:rPr>
              <a:t>Personal + recent baselines</a:t>
            </a:r>
          </a:p>
        </p:txBody>
      </p:sp>
      <p:sp>
        <p:nvSpPr>
          <p:cNvPr id="14" name="Box: Aura-Agent + patient-scoped tools"/>
          <p:cNvSpPr/>
          <p:nvPr/>
        </p:nvSpPr>
        <p:spPr>
          <a:xfrm>
            <a:off x="7772400" y="1625600"/>
            <a:ext cx="3759200" cy="825500"/>
          </a:xfrm>
          <a:prstGeom prst="roundRect">
            <a:avLst>
              <a:gd name="adj" fmla="val 16923"/>
            </a:avLst>
          </a:prstGeom>
          <a:solidFill>
            <a:srgbClr val="E8E1F3"/>
          </a:solidFill>
          <a:ln>
            <a:noFill/>
          </a:ln>
        </p:spPr>
        <p:txBody>
          <a:bodyPr rtlCol="0" anchor="t" wrap="square" lIns="152400" rIns="152400" tIns="152400" bIns="152400"/>
          <a:lstStyle/>
          <a:p>
            <a:pPr algn="l">
              <a:spcAft>
                <a:spcPts val="607"/>
              </a:spcAft>
            </a:pPr>
            <a:r>
              <a:rPr sz="1350" b="1">
                <a:solidFill>
                  <a:srgbClr val="2A2320"/>
                </a:solidFill>
                <a:latin typeface="Nunito"/>
              </a:rPr>
              <a:t>Aura-Agent + patient-scoped tools</a:t>
            </a:r>
          </a:p>
          <a:p>
            <a:pPr algn="l">
              <a:spcAft>
                <a:spcPts val="262"/>
              </a:spcAft>
            </a:pPr>
            <a:r>
              <a:rPr sz="1050" b="0">
                <a:solidFill>
                  <a:srgbClr val="2A2320"/>
                </a:solidFill>
                <a:latin typeface="Nunito"/>
              </a:rPr>
              <a:t>The model chooses tools, dates and comparisons</a:t>
            </a:r>
          </a:p>
        </p:txBody>
      </p:sp>
      <p:sp>
        <p:nvSpPr>
          <p:cNvPr id="15" name="Box: Ground · verify · recheck"/>
          <p:cNvSpPr/>
          <p:nvPr/>
        </p:nvSpPr>
        <p:spPr>
          <a:xfrm>
            <a:off x="7772400" y="2832100"/>
            <a:ext cx="3759200" cy="825500"/>
          </a:xfrm>
          <a:prstGeom prst="roundRect">
            <a:avLst>
              <a:gd name="adj" fmla="val 16923"/>
            </a:avLst>
          </a:prstGeom>
          <a:solidFill>
            <a:srgbClr val="E8E1F3"/>
          </a:solidFill>
          <a:ln>
            <a:noFill/>
          </a:ln>
        </p:spPr>
        <p:txBody>
          <a:bodyPr rtlCol="0" anchor="t" wrap="square" lIns="152400" rIns="152400" tIns="152400" bIns="152400"/>
          <a:lstStyle/>
          <a:p>
            <a:pPr algn="l">
              <a:spcAft>
                <a:spcPts val="607"/>
              </a:spcAft>
            </a:pPr>
            <a:r>
              <a:rPr sz="1350" b="1">
                <a:solidFill>
                  <a:srgbClr val="2A2320"/>
                </a:solidFill>
                <a:latin typeface="Nunito"/>
              </a:rPr>
              <a:t>Ground · verify · recheck</a:t>
            </a:r>
          </a:p>
          <a:p>
            <a:pPr algn="l">
              <a:spcAft>
                <a:spcPts val="262"/>
              </a:spcAft>
            </a:pPr>
            <a:r>
              <a:rPr sz="1050" b="0">
                <a:solidFill>
                  <a:srgbClr val="2A2320"/>
                </a:solidFill>
                <a:latin typeface="Nunito"/>
              </a:rPr>
              <a:t>Cited answer, or a labelled fallback + trace</a:t>
            </a:r>
          </a:p>
        </p:txBody>
      </p:sp>
      <p:sp>
        <p:nvSpPr>
          <p:cNvPr id="16" name="Text: Model gateway: provider configurable"/>
          <p:cNvSpPr txBox="1"/>
          <p:nvPr/>
        </p:nvSpPr>
        <p:spPr>
          <a:xfrm>
            <a:off x="7772400" y="3746500"/>
            <a:ext cx="3759200" cy="635000"/>
          </a:xfrm>
          <a:prstGeom prst="rect">
            <a:avLst/>
          </a:prstGeom>
          <a:noFill/>
        </p:spPr>
        <p:txBody>
          <a:bodyPr wrap="square" anchor="t" lIns="0" rIns="0" tIns="0" bIns="0"/>
          <a:lstStyle/>
          <a:p>
            <a:pPr algn="l">
              <a:spcAft>
                <a:spcPts val="495"/>
              </a:spcAft>
            </a:pPr>
            <a:r>
              <a:rPr sz="1100" b="1">
                <a:solidFill>
                  <a:srgbClr val="2A2320"/>
                </a:solidFill>
                <a:latin typeface="Nunito"/>
              </a:rPr>
              <a:t>Model gateway: provider configurable</a:t>
            </a:r>
          </a:p>
          <a:p>
            <a:pPr algn="l">
              <a:spcAft>
                <a:spcPts val="262"/>
              </a:spcAft>
            </a:pPr>
            <a:r>
              <a:rPr sz="1050" b="0">
                <a:solidFill>
                  <a:srgbClr val="6B6258"/>
                </a:solidFill>
                <a:latin typeface="Nunito"/>
              </a:rPr>
              <a:t>Operator picks model + reasoning level</a:t>
            </a:r>
          </a:p>
          <a:p>
            <a:pPr algn="l">
              <a:spcAft>
                <a:spcPts val="262"/>
              </a:spcAft>
            </a:pPr>
            <a:r>
              <a:rPr sz="1050" b="0">
                <a:solidFill>
                  <a:srgbClr val="6B6258"/>
                </a:solidFill>
                <a:latin typeface="Nunito"/>
              </a:rPr>
              <a:t>Synthetic data only</a:t>
            </a:r>
          </a:p>
        </p:txBody>
      </p:sp>
      <p:sp>
        <p:nvSpPr>
          <p:cNvPr id="17" name="Box: Independent safety display"/>
          <p:cNvSpPr/>
          <p:nvPr/>
        </p:nvSpPr>
        <p:spPr>
          <a:xfrm>
            <a:off x="3162300" y="4826000"/>
            <a:ext cx="2286000" cy="1270000"/>
          </a:xfrm>
          <a:prstGeom prst="roundRect">
            <a:avLst>
              <a:gd name="adj" fmla="val 11000"/>
            </a:avLst>
          </a:prstGeom>
          <a:solidFill>
            <a:srgbClr val="FDE3DF"/>
          </a:solidFill>
          <a:ln>
            <a:noFill/>
          </a:ln>
        </p:spPr>
        <p:txBody>
          <a:bodyPr rtlCol="0" anchor="t" wrap="square" lIns="152400" rIns="152400" tIns="152400" bIns="152400"/>
          <a:lstStyle/>
          <a:p>
            <a:pPr algn="l">
              <a:spcAft>
                <a:spcPts val="562"/>
              </a:spcAft>
            </a:pPr>
            <a:r>
              <a:rPr sz="1250" b="1">
                <a:solidFill>
                  <a:srgbClr val="2A2320"/>
                </a:solidFill>
                <a:latin typeface="Nunito"/>
              </a:rPr>
              <a:t>Independent safety display</a:t>
            </a:r>
          </a:p>
          <a:p>
            <a:pPr algn="l">
              <a:spcAft>
                <a:spcPts val="250"/>
              </a:spcAft>
            </a:pPr>
            <a:r>
              <a:rPr sz="1000" b="0">
                <a:solidFill>
                  <a:srgbClr val="2A2320"/>
                </a:solidFill>
                <a:latin typeface="Nunito"/>
              </a:rPr>
              <a:t>Pinned resources + fallback</a:t>
            </a:r>
          </a:p>
          <a:p>
            <a:pPr algn="l">
              <a:spcAft>
                <a:spcPts val="250"/>
              </a:spcAft>
            </a:pPr>
            <a:r>
              <a:rPr sz="1000" b="0">
                <a:solidFill>
                  <a:srgbClr val="2A2320"/>
                </a:solidFill>
                <a:latin typeface="Nunito"/>
              </a:rPr>
              <a:t>Never AI-written</a:t>
            </a:r>
          </a:p>
        </p:txBody>
      </p:sp>
      <p:sp>
        <p:nvSpPr>
          <p:cNvPr id="18" name="Box: Separate simulation plane"/>
          <p:cNvSpPr/>
          <p:nvPr/>
        </p:nvSpPr>
        <p:spPr>
          <a:xfrm>
            <a:off x="5715000" y="4826000"/>
            <a:ext cx="2667000" cy="1270000"/>
          </a:xfrm>
          <a:prstGeom prst="roundRect">
            <a:avLst>
              <a:gd name="adj" fmla="val 11000"/>
            </a:avLst>
          </a:prstGeom>
          <a:solidFill>
            <a:srgbClr val="FFF0D0"/>
          </a:solidFill>
          <a:ln>
            <a:noFill/>
          </a:ln>
        </p:spPr>
        <p:txBody>
          <a:bodyPr rtlCol="0" anchor="t" wrap="square" lIns="152400" rIns="152400" tIns="152400" bIns="152400"/>
          <a:lstStyle/>
          <a:p>
            <a:pPr algn="l">
              <a:spcAft>
                <a:spcPts val="562"/>
              </a:spcAft>
            </a:pPr>
            <a:r>
              <a:rPr sz="1250" b="1">
                <a:solidFill>
                  <a:srgbClr val="2A2320"/>
                </a:solidFill>
                <a:latin typeface="Nunito"/>
              </a:rPr>
              <a:t>Separate simulation plane</a:t>
            </a:r>
          </a:p>
          <a:p>
            <a:pPr algn="l">
              <a:spcAft>
                <a:spcPts val="250"/>
              </a:spcAft>
            </a:pPr>
            <a:r>
              <a:rPr sz="1000" b="0">
                <a:solidFill>
                  <a:srgbClr val="2A2320"/>
                </a:solidFill>
                <a:latin typeface="Nunito"/>
              </a:rPr>
              <a:t>Plans + seeded synthetic data</a:t>
            </a:r>
          </a:p>
          <a:p>
            <a:pPr algn="l">
              <a:spcAft>
                <a:spcPts val="250"/>
              </a:spcAft>
            </a:pPr>
            <a:r>
              <a:rPr sz="1000" b="0">
                <a:solidFill>
                  <a:srgbClr val="2A2320"/>
                </a:solidFill>
                <a:latin typeface="Nunito"/>
              </a:rPr>
              <a:t>Only observable events enter</a:t>
            </a:r>
          </a:p>
        </p:txBody>
      </p:sp>
      <p:cxnSp>
        <p:nvCxnSpPr>
          <p:cNvPr id="19" name="Arrow: Web experience → Python app · owns th"/>
          <p:cNvCxnSpPr>
            <a:stCxn id="4" idx="3"/>
            <a:endCxn id="5" idx="1"/>
          </p:cNvCxnSpPr>
          <p:nvPr/>
        </p:nvCxnSpPr>
        <p:spPr>
          <a:xfrm>
            <a:off x="2794000" y="2794000"/>
            <a:ext cx="508000" cy="1"/>
          </a:xfrm>
          <a:prstGeom prst="line">
            <a:avLst/>
          </a:prstGeom>
          <a:ln w="25400">
            <a:solidFill>
              <a:srgbClr val="6B6258"/>
            </a:solidFill>
            <a:headEnd type="triangle" w="med" len="med"/>
            <a:tailEnd type="triangle" w="med" len="med"/>
          </a:ln>
        </p:spPr>
      </p:cxnSp>
      <p:cxnSp>
        <p:nvCxnSpPr>
          <p:cNvPr id="20" name="Arrow: Python app · owns th → Bounded AI · read-on"/>
          <p:cNvCxnSpPr>
            <a:stCxn id="5" idx="3"/>
            <a:endCxn id="6" idx="1"/>
          </p:cNvCxnSpPr>
          <p:nvPr/>
        </p:nvCxnSpPr>
        <p:spPr>
          <a:xfrm>
            <a:off x="7112000" y="2794000"/>
            <a:ext cx="508000" cy="1"/>
          </a:xfrm>
          <a:prstGeom prst="line">
            <a:avLst/>
          </a:prstGeom>
          <a:ln w="25400">
            <a:solidFill>
              <a:srgbClr val="6B6258"/>
            </a:solidFill>
            <a:headEnd type="triangle" w="med" len="med"/>
            <a:tailEnd type="triangle" w="med" len="med"/>
          </a:ln>
        </p:spPr>
      </p:cxnSp>
      <p:cxnSp>
        <p:nvCxnSpPr>
          <p:cNvPr id="21" name="Arrow: Aura-Agent + patient → Ground · verify · re"/>
          <p:cNvCxnSpPr>
            <a:stCxn id="14" idx="2"/>
            <a:endCxn id="15" idx="0"/>
          </p:cNvCxnSpPr>
          <p:nvPr/>
        </p:nvCxnSpPr>
        <p:spPr>
          <a:xfrm>
            <a:off x="9652000" y="2451100"/>
            <a:ext cx="1" cy="381000"/>
          </a:xfrm>
          <a:prstGeom prst="line">
            <a:avLst/>
          </a:prstGeom>
          <a:ln w="25400">
            <a:solidFill>
              <a:srgbClr val="6B6258"/>
            </a:solidFill>
            <a:tailEnd type="triangle" w="med" len="med"/>
          </a:ln>
        </p:spPr>
      </p:cxnSp>
      <p:cxnSp>
        <p:nvCxnSpPr>
          <p:cNvPr id="22" name="Arrow: Safety engine → Independent safety d"/>
          <p:cNvCxnSpPr>
            <a:stCxn id="12" idx="2"/>
            <a:endCxn id="17" idx="0"/>
          </p:cNvCxnSpPr>
          <p:nvPr/>
        </p:nvCxnSpPr>
        <p:spPr>
          <a:xfrm>
            <a:off x="4305300" y="4203700"/>
            <a:ext cx="1" cy="622300"/>
          </a:xfrm>
          <a:prstGeom prst="line">
            <a:avLst/>
          </a:prstGeom>
          <a:ln w="25400">
            <a:solidFill>
              <a:srgbClr val="6B6258"/>
            </a:solidFill>
            <a:tailEnd type="triangle" w="med" len="med"/>
          </a:ln>
        </p:spPr>
      </p:cxnSp>
      <p:cxnSp>
        <p:nvCxnSpPr>
          <p:cNvPr id="23" name="Arrow: Separate simulation  → Python app · owns th"/>
          <p:cNvCxnSpPr>
            <a:stCxn id="18" idx="0"/>
            <a:endCxn id="5" idx="2"/>
          </p:cNvCxnSpPr>
          <p:nvPr/>
        </p:nvCxnSpPr>
        <p:spPr>
          <a:xfrm rot="5400000" flipH="1">
            <a:off x="5905500" y="3683000"/>
            <a:ext cx="444500" cy="1841500"/>
          </a:xfrm>
          <a:prstGeom prst="bentConnector3">
            <a:avLst>
              <a:gd name="adj1" fmla="val 50000"/>
            </a:avLst>
          </a:prstGeom>
          <a:ln w="25400">
            <a:solidFill>
              <a:srgbClr val="6B6258"/>
            </a:solidFill>
            <a:tailEnd type="triangle" w="med" len="med"/>
          </a:ln>
        </p:spPr>
      </p:cxnSp>
      <p:sp>
        <p:nvSpPr>
          <p:cNvPr id="24" name="Text: inputs"/>
          <p:cNvSpPr txBox="1"/>
          <p:nvPr/>
        </p:nvSpPr>
        <p:spPr>
          <a:xfrm>
            <a:off x="2806700" y="2476500"/>
            <a:ext cx="482600" cy="368300"/>
          </a:xfrm>
          <a:prstGeom prst="rect">
            <a:avLst/>
          </a:prstGeom>
          <a:noFill/>
        </p:spPr>
        <p:txBody>
          <a:bodyPr wrap="square" anchor="t" lIns="0" rIns="0" tIns="0" bIns="0"/>
          <a:lstStyle/>
          <a:p>
            <a:pPr algn="ctr">
              <a:spcAft>
                <a:spcPts val="360"/>
              </a:spcAft>
            </a:pPr>
            <a:r>
              <a:rPr sz="800" b="0">
                <a:solidFill>
                  <a:srgbClr val="6B6258"/>
                </a:solidFill>
                <a:latin typeface="Nunito"/>
              </a:rPr>
              <a:t>inputs</a:t>
            </a:r>
          </a:p>
          <a:p>
            <a:pPr algn="ctr">
              <a:spcAft>
                <a:spcPts val="200"/>
              </a:spcAft>
            </a:pPr>
            <a:r>
              <a:rPr sz="800" b="0">
                <a:solidFill>
                  <a:srgbClr val="6B6258"/>
                </a:solidFill>
                <a:latin typeface="Nunito"/>
              </a:rPr>
              <a:t>views</a:t>
            </a:r>
          </a:p>
        </p:txBody>
      </p:sp>
      <p:sp>
        <p:nvSpPr>
          <p:cNvPr id="25" name="Text: request"/>
          <p:cNvSpPr txBox="1"/>
          <p:nvPr/>
        </p:nvSpPr>
        <p:spPr>
          <a:xfrm>
            <a:off x="7124700" y="2463800"/>
            <a:ext cx="482600" cy="406400"/>
          </a:xfrm>
          <a:prstGeom prst="rect">
            <a:avLst/>
          </a:prstGeom>
          <a:noFill/>
        </p:spPr>
        <p:txBody>
          <a:bodyPr wrap="square" anchor="t" lIns="0" rIns="0" tIns="0" bIns="0"/>
          <a:lstStyle/>
          <a:p>
            <a:pPr algn="ctr">
              <a:spcAft>
                <a:spcPts val="360"/>
              </a:spcAft>
            </a:pPr>
            <a:r>
              <a:rPr sz="800" b="0">
                <a:solidFill>
                  <a:srgbClr val="6B6258"/>
                </a:solidFill>
                <a:latin typeface="Nunito"/>
              </a:rPr>
              <a:t>request</a:t>
            </a:r>
          </a:p>
          <a:p>
            <a:pPr algn="ctr">
              <a:spcAft>
                <a:spcPts val="200"/>
              </a:spcAft>
            </a:pPr>
            <a:r>
              <a:rPr sz="800" b="0">
                <a:solidFill>
                  <a:srgbClr val="6B6258"/>
                </a:solidFill>
                <a:latin typeface="Nunito"/>
              </a:rPr>
              <a:t>result</a:t>
            </a:r>
          </a:p>
        </p:txBody>
      </p:sp>
      <p:sp>
        <p:nvSpPr>
          <p:cNvPr id="26" name="Text: Observable events"/>
          <p:cNvSpPr txBox="1"/>
          <p:nvPr/>
        </p:nvSpPr>
        <p:spPr>
          <a:xfrm>
            <a:off x="7137400" y="4445000"/>
            <a:ext cx="1460500" cy="368300"/>
          </a:xfrm>
          <a:prstGeom prst="rect">
            <a:avLst/>
          </a:prstGeom>
          <a:noFill/>
        </p:spPr>
        <p:txBody>
          <a:bodyPr wrap="square" anchor="t" lIns="0" rIns="0" tIns="0" bIns="0"/>
          <a:lstStyle/>
          <a:p>
            <a:pPr algn="l">
              <a:spcAft>
                <a:spcPts val="405"/>
              </a:spcAft>
            </a:pPr>
            <a:r>
              <a:rPr sz="900" b="0">
                <a:solidFill>
                  <a:srgbClr val="6B6258"/>
                </a:solidFill>
                <a:latin typeface="Nunito"/>
              </a:rPr>
              <a:t>Observable events</a:t>
            </a:r>
          </a:p>
          <a:p>
            <a:pPr algn="l">
              <a:spcAft>
                <a:spcPts val="225"/>
              </a:spcAft>
            </a:pPr>
            <a:r>
              <a:rPr sz="900" b="0">
                <a:solidFill>
                  <a:srgbClr val="6B6258"/>
                </a:solidFill>
                <a:latin typeface="Nunito"/>
              </a:rPr>
              <a:t>via app ingestion</a:t>
            </a:r>
          </a:p>
        </p:txBody>
      </p:sp>
      <p:sp>
        <p:nvSpPr>
          <p:cNvPr id="27" name="Text: Signals propose. Rules decide. AI words "/>
          <p:cNvSpPr txBox="1"/>
          <p:nvPr/>
        </p:nvSpPr>
        <p:spPr>
          <a:xfrm>
            <a:off x="508000" y="4826000"/>
            <a:ext cx="2413000" cy="1143000"/>
          </a:xfrm>
          <a:prstGeom prst="rect">
            <a:avLst/>
          </a:prstGeom>
          <a:noFill/>
        </p:spPr>
        <p:txBody>
          <a:bodyPr wrap="square" anchor="t" lIns="0" rIns="0" tIns="0" bIns="0"/>
          <a:lstStyle/>
          <a:p>
            <a:pPr algn="l">
              <a:spcAft>
                <a:spcPts val="675"/>
              </a:spcAft>
            </a:pPr>
            <a:r>
              <a:rPr sz="1500" b="1">
                <a:solidFill>
                  <a:srgbClr val="2A2320"/>
                </a:solidFill>
                <a:latin typeface="Nunito"/>
              </a:rPr>
              <a:t>Signals propose. Rules decide. AI words it.</a:t>
            </a:r>
          </a:p>
        </p:txBody>
      </p:sp>
      <p:sp>
        <p:nvSpPr>
          <p:cNvPr id="28" name="Box: Patient-controlled sharing"/>
          <p:cNvSpPr/>
          <p:nvPr/>
        </p:nvSpPr>
        <p:spPr>
          <a:xfrm>
            <a:off x="8509000" y="4826000"/>
            <a:ext cx="2286000" cy="1270000"/>
          </a:xfrm>
          <a:prstGeom prst="roundRect">
            <a:avLst>
              <a:gd name="adj" fmla="val 11000"/>
            </a:avLst>
          </a:prstGeom>
          <a:solidFill>
            <a:srgbClr val="FFF0D0"/>
          </a:solidFill>
          <a:ln>
            <a:noFill/>
          </a:ln>
        </p:spPr>
        <p:txBody>
          <a:bodyPr rtlCol="0" anchor="t" wrap="square" lIns="152400" rIns="152400" tIns="152400" bIns="152400"/>
          <a:lstStyle/>
          <a:p>
            <a:pPr algn="l">
              <a:spcAft>
                <a:spcPts val="562"/>
              </a:spcAft>
            </a:pPr>
            <a:r>
              <a:rPr sz="1250" b="1">
                <a:solidFill>
                  <a:srgbClr val="2A2320"/>
                </a:solidFill>
                <a:latin typeface="Nunito"/>
              </a:rPr>
              <a:t>Patient-controlled sharing</a:t>
            </a:r>
          </a:p>
          <a:p>
            <a:pPr algn="l">
              <a:spcAft>
                <a:spcPts val="250"/>
              </a:spcAft>
            </a:pPr>
            <a:r>
              <a:rPr sz="1000" b="0">
                <a:solidFill>
                  <a:srgbClr val="2A2320"/>
                </a:solidFill>
                <a:latin typeface="Nunito"/>
              </a:rPr>
              <a:t>Minimum always; notes, readings,</a:t>
            </a:r>
          </a:p>
          <a:p>
            <a:pPr algn="l">
              <a:spcAft>
                <a:spcPts val="250"/>
              </a:spcAft>
            </a:pPr>
            <a:r>
              <a:rPr sz="1000" b="0">
                <a:solidFill>
                  <a:srgbClr val="2A2320"/>
                </a:solidFill>
                <a:latin typeface="Nunito"/>
              </a:rPr>
              <a:t>daily check-ins opt-in</a:t>
            </a:r>
          </a:p>
        </p:txBody>
      </p:sp>
      <p:cxnSp>
        <p:nvCxnSpPr>
          <p:cNvPr id="29" name="Arrow: Patient-controlled s → Bounded AI · read-on"/>
          <p:cNvCxnSpPr>
            <a:stCxn id="28" idx="0"/>
            <a:endCxn id="6" idx="2"/>
          </p:cNvCxnSpPr>
          <p:nvPr/>
        </p:nvCxnSpPr>
        <p:spPr>
          <a:xfrm flipV="1">
            <a:off x="9652000" y="4381500"/>
            <a:ext cx="1" cy="444500"/>
          </a:xfrm>
          <a:prstGeom prst="line">
            <a:avLst/>
          </a:prstGeom>
          <a:ln w="25400">
            <a:solidFill>
              <a:srgbClr val="6B6258"/>
            </a:solidFill>
            <a:tailEnd type="triangle" w="med" len="med"/>
          </a:ln>
        </p:spPr>
      </p:cxnSp>
      <p:sp>
        <p:nvSpPr>
          <p:cNvPr id="30" name="Text: limits what clinician"/>
          <p:cNvSpPr txBox="1"/>
          <p:nvPr/>
        </p:nvSpPr>
        <p:spPr>
          <a:xfrm>
            <a:off x="9715500" y="4445000"/>
            <a:ext cx="1905000" cy="368300"/>
          </a:xfrm>
          <a:prstGeom prst="rect">
            <a:avLst/>
          </a:prstGeom>
          <a:noFill/>
        </p:spPr>
        <p:txBody>
          <a:bodyPr wrap="square" anchor="t" lIns="0" rIns="0" tIns="0" bIns="0"/>
          <a:lstStyle/>
          <a:p>
            <a:pPr algn="l">
              <a:spcAft>
                <a:spcPts val="360"/>
              </a:spcAft>
            </a:pPr>
            <a:r>
              <a:rPr sz="800" b="0">
                <a:solidFill>
                  <a:srgbClr val="6B6258"/>
                </a:solidFill>
                <a:latin typeface="Nunito"/>
              </a:rPr>
              <a:t>limits what clinician</a:t>
            </a:r>
          </a:p>
          <a:p>
            <a:pPr algn="l">
              <a:spcAft>
                <a:spcPts val="200"/>
              </a:spcAft>
            </a:pPr>
            <a:r>
              <a:rPr sz="800" b="0">
                <a:solidFill>
                  <a:srgbClr val="6B6258"/>
                </a:solidFill>
                <a:latin typeface="Nunito"/>
              </a:rPr>
              <a:t>runs can read</a:t>
            </a:r>
          </a:p>
        </p:txBody>
      </p:sp>
      <p:sp>
        <p:nvSpPr>
          <p:cNvPr id="31" name="Text: One application · synthetic workspaces ·"/>
          <p:cNvSpPr txBox="1"/>
          <p:nvPr/>
        </p:nvSpPr>
        <p:spPr>
          <a:xfrm>
            <a:off x="508000" y="6254750"/>
            <a:ext cx="11176000" cy="254000"/>
          </a:xfrm>
          <a:prstGeom prst="rect">
            <a:avLst/>
          </a:prstGeom>
          <a:noFill/>
        </p:spPr>
        <p:txBody>
          <a:bodyPr wrap="square" anchor="t" lIns="0" rIns="0" tIns="0" bIns="0"/>
          <a:lstStyle/>
          <a:p>
            <a:pPr algn="l">
              <a:spcAft>
                <a:spcPts val="427"/>
              </a:spcAft>
            </a:pPr>
            <a:r>
              <a:rPr sz="950" b="0">
                <a:solidFill>
                  <a:srgbClr val="6B6258"/>
                </a:solidFill>
                <a:latin typeface="Nunito"/>
              </a:rPr>
              <a:t>One application · synthetic workspaces · development storage · demo roles, no clinical authentication · visit preview Not sent · institutional hosting is future 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 Aura-Agent · investigate, cite, check"/>
          <p:cNvSpPr txBox="1"/>
          <p:nvPr/>
        </p:nvSpPr>
        <p:spPr>
          <a:xfrm>
            <a:off x="508000" y="292100"/>
            <a:ext cx="11176000" cy="444500"/>
          </a:xfrm>
          <a:prstGeom prst="rect">
            <a:avLst/>
          </a:prstGeom>
          <a:noFill/>
        </p:spPr>
        <p:txBody>
          <a:bodyPr wrap="square" anchor="t" lIns="0" rIns="0" tIns="0" bIns="0"/>
          <a:lstStyle/>
          <a:p>
            <a:pPr algn="l">
              <a:spcAft>
                <a:spcPts val="1215"/>
              </a:spcAft>
            </a:pPr>
            <a:r>
              <a:rPr sz="2700" b="1">
                <a:solidFill>
                  <a:srgbClr val="2A2320"/>
                </a:solidFill>
                <a:latin typeface="Nunito"/>
              </a:rPr>
              <a:t>Aura-Agent · investigate, cite, check</a:t>
            </a:r>
          </a:p>
        </p:txBody>
      </p:sp>
      <p:sp>
        <p:nvSpPr>
          <p:cNvPr id="3" name="Text: Challenge 2 · Scenario 1: mental health "/>
          <p:cNvSpPr txBox="1"/>
          <p:nvPr/>
        </p:nvSpPr>
        <p:spPr>
          <a:xfrm>
            <a:off x="508000" y="774700"/>
            <a:ext cx="11176000" cy="254000"/>
          </a:xfrm>
          <a:prstGeom prst="rect">
            <a:avLst/>
          </a:prstGeom>
          <a:noFill/>
        </p:spPr>
        <p:txBody>
          <a:bodyPr wrap="square" anchor="t" lIns="0" rIns="0" tIns="0" bIns="0"/>
          <a:lstStyle/>
          <a:p>
            <a:pPr algn="l">
              <a:spcAft>
                <a:spcPts val="585"/>
              </a:spcAft>
            </a:pPr>
            <a:r>
              <a:rPr sz="1300" b="0">
                <a:solidFill>
                  <a:srgbClr val="6B6258"/>
                </a:solidFill>
                <a:latin typeface="Nunito"/>
              </a:rPr>
              <a:t>Challenge 2 · Scenario 1: mental health maintenance for working adults on antidepressants</a:t>
            </a:r>
          </a:p>
        </p:txBody>
      </p:sp>
      <p:sp>
        <p:nvSpPr>
          <p:cNvPr id="4" name="Box: 1 · Guard the request"/>
          <p:cNvSpPr/>
          <p:nvPr/>
        </p:nvSpPr>
        <p:spPr>
          <a:xfrm>
            <a:off x="508000" y="1270000"/>
            <a:ext cx="3048000" cy="1206500"/>
          </a:xfrm>
          <a:prstGeom prst="roundRect">
            <a:avLst>
              <a:gd name="adj" fmla="val 11578"/>
            </a:avLst>
          </a:prstGeom>
          <a:solidFill>
            <a:srgbClr val="DCEEF7"/>
          </a:solidFill>
          <a:ln>
            <a:noFill/>
          </a:ln>
        </p:spPr>
        <p:txBody>
          <a:bodyPr rtlCol="0" anchor="t" wrap="square" lIns="152400" rIns="152400" tIns="152400" bIns="152400"/>
          <a:lstStyle/>
          <a:p>
            <a:pPr algn="l">
              <a:spcAft>
                <a:spcPts val="607"/>
              </a:spcAft>
            </a:pPr>
            <a:r>
              <a:rPr sz="1350" b="1">
                <a:solidFill>
                  <a:srgbClr val="2A2320"/>
                </a:solidFill>
                <a:latin typeface="Nunito"/>
              </a:rPr>
              <a:t>1 · Guard the request</a:t>
            </a:r>
          </a:p>
          <a:p>
            <a:pPr algn="l">
              <a:spcAft>
                <a:spcPts val="275"/>
              </a:spcAft>
            </a:pPr>
            <a:r>
              <a:rPr sz="1100" b="0">
                <a:solidFill>
                  <a:srgbClr val="2A2320"/>
                </a:solidFill>
                <a:latin typeface="Nunito"/>
              </a:rPr>
              <a:t>Skill, selected patient, current safety</a:t>
            </a:r>
          </a:p>
          <a:p>
            <a:pPr algn="l">
              <a:spcAft>
                <a:spcPts val="275"/>
              </a:spcAft>
            </a:pPr>
            <a:r>
              <a:rPr sz="1100" b="0">
                <a:solidFill>
                  <a:srgbClr val="2A2320"/>
                </a:solidFill>
                <a:latin typeface="Nunito"/>
              </a:rPr>
              <a:t>Read-only record + permitted window</a:t>
            </a:r>
          </a:p>
        </p:txBody>
      </p:sp>
      <p:sp>
        <p:nvSpPr>
          <p:cNvPr id="5" name="Box: 2 · Model chooses a step"/>
          <p:cNvSpPr/>
          <p:nvPr/>
        </p:nvSpPr>
        <p:spPr>
          <a:xfrm>
            <a:off x="4572000" y="1270000"/>
            <a:ext cx="3048000" cy="1206500"/>
          </a:xfrm>
          <a:prstGeom prst="roundRect">
            <a:avLst>
              <a:gd name="adj" fmla="val 11578"/>
            </a:avLst>
          </a:prstGeom>
          <a:solidFill>
            <a:srgbClr val="E8E1F3"/>
          </a:solidFill>
          <a:ln>
            <a:noFill/>
          </a:ln>
        </p:spPr>
        <p:txBody>
          <a:bodyPr rtlCol="0" anchor="t" wrap="square" lIns="152400" rIns="152400" tIns="152400" bIns="152400"/>
          <a:lstStyle/>
          <a:p>
            <a:pPr algn="l">
              <a:spcAft>
                <a:spcPts val="607"/>
              </a:spcAft>
            </a:pPr>
            <a:r>
              <a:rPr sz="1350" b="1">
                <a:solidFill>
                  <a:srgbClr val="2A2320"/>
                </a:solidFill>
                <a:latin typeface="Nunito"/>
              </a:rPr>
              <a:t>2 · Model chooses a step</a:t>
            </a:r>
          </a:p>
          <a:p>
            <a:pPr algn="l">
              <a:spcAft>
                <a:spcPts val="275"/>
              </a:spcAft>
            </a:pPr>
            <a:r>
              <a:rPr sz="1100" b="0">
                <a:solidFill>
                  <a:srgbClr val="2A2320"/>
                </a:solidFill>
                <a:latin typeface="Nunito"/>
              </a:rPr>
              <a:t>Which tool? Which dates? Which signal?</a:t>
            </a:r>
          </a:p>
          <a:p>
            <a:pPr algn="l">
              <a:spcAft>
                <a:spcPts val="275"/>
              </a:spcAft>
            </a:pPr>
            <a:r>
              <a:rPr sz="1100" b="0">
                <a:solidFill>
                  <a:srgbClr val="2A2320"/>
                </a:solidFill>
                <a:latin typeface="Nunito"/>
              </a:rPr>
              <a:t>Read more, or draft a cited answer</a:t>
            </a:r>
          </a:p>
        </p:txBody>
      </p:sp>
      <p:sp>
        <p:nvSpPr>
          <p:cNvPr id="6" name="Box: 3 · Execute scoped tools"/>
          <p:cNvSpPr/>
          <p:nvPr/>
        </p:nvSpPr>
        <p:spPr>
          <a:xfrm>
            <a:off x="8636000" y="1270000"/>
            <a:ext cx="3048000" cy="1206500"/>
          </a:xfrm>
          <a:prstGeom prst="roundRect">
            <a:avLst>
              <a:gd name="adj" fmla="val 11578"/>
            </a:avLst>
          </a:prstGeom>
          <a:solidFill>
            <a:srgbClr val="DCEEF7"/>
          </a:solidFill>
          <a:ln>
            <a:noFill/>
          </a:ln>
        </p:spPr>
        <p:txBody>
          <a:bodyPr rtlCol="0" anchor="t" wrap="square" lIns="152400" rIns="152400" tIns="152400" bIns="152400"/>
          <a:lstStyle/>
          <a:p>
            <a:pPr algn="l">
              <a:spcAft>
                <a:spcPts val="607"/>
              </a:spcAft>
            </a:pPr>
            <a:r>
              <a:rPr sz="1350" b="1">
                <a:solidFill>
                  <a:srgbClr val="2A2320"/>
                </a:solidFill>
                <a:latin typeface="Nunito"/>
              </a:rPr>
              <a:t>3 · Execute scoped tools</a:t>
            </a:r>
          </a:p>
          <a:p>
            <a:pPr algn="l">
              <a:spcAft>
                <a:spcPts val="275"/>
              </a:spcAft>
            </a:pPr>
            <a:r>
              <a:rPr sz="1100" b="0">
                <a:solidFill>
                  <a:srgbClr val="2A2320"/>
                </a:solidFill>
                <a:latin typeface="Nunito"/>
              </a:rPr>
              <a:t>Series, context, gaps, routine records</a:t>
            </a:r>
          </a:p>
          <a:p>
            <a:pPr algn="l">
              <a:spcAft>
                <a:spcPts val="275"/>
              </a:spcAft>
            </a:pPr>
            <a:r>
              <a:rPr sz="1100" b="0">
                <a:solidFill>
                  <a:srgbClr val="2A2320"/>
                </a:solidFill>
                <a:latin typeface="Nunito"/>
              </a:rPr>
              <a:t>Return facts, sources and calculations</a:t>
            </a:r>
          </a:p>
        </p:txBody>
      </p:sp>
      <p:sp>
        <p:nvSpPr>
          <p:cNvPr id="7" name="Box: “When did sleep timing change, and was a"/>
          <p:cNvSpPr/>
          <p:nvPr/>
        </p:nvSpPr>
        <p:spPr>
          <a:xfrm>
            <a:off x="508000" y="2984500"/>
            <a:ext cx="3048000" cy="1206500"/>
          </a:xfrm>
          <a:prstGeom prst="roundRect">
            <a:avLst>
              <a:gd name="adj" fmla="val 11578"/>
            </a:avLst>
          </a:prstGeom>
          <a:solidFill>
            <a:srgbClr val="F3F0EA"/>
          </a:solidFill>
          <a:ln>
            <a:noFill/>
          </a:ln>
        </p:spPr>
        <p:txBody>
          <a:bodyPr rtlCol="0" anchor="t" wrap="square" lIns="152400" rIns="152400" tIns="152400" bIns="152400"/>
          <a:lstStyle/>
          <a:p>
            <a:pPr algn="l">
              <a:spcAft>
                <a:spcPts val="540"/>
              </a:spcAft>
            </a:pPr>
            <a:r>
              <a:rPr sz="1200" b="1">
                <a:solidFill>
                  <a:srgbClr val="2A2320"/>
                </a:solidFill>
                <a:latin typeface="Nunito"/>
              </a:rPr>
              <a:t>“When did sleep timing change, and was anything reported around then?”</a:t>
            </a:r>
          </a:p>
          <a:p>
            <a:pPr algn="l">
              <a:spcAft>
                <a:spcPts val="250"/>
              </a:spcAft>
            </a:pPr>
            <a:r>
              <a:rPr sz="1000" b="0">
                <a:solidFill>
                  <a:srgbClr val="2A2320"/>
                </a:solidFill>
                <a:latin typeface="Nunito"/>
              </a:rPr>
              <a:t>A clinician's question. Patient-typed text is safety-checked first.</a:t>
            </a:r>
          </a:p>
        </p:txBody>
      </p:sp>
      <p:sp>
        <p:nvSpPr>
          <p:cNvPr id="8" name="Box: 4 · Ground and verify"/>
          <p:cNvSpPr/>
          <p:nvPr/>
        </p:nvSpPr>
        <p:spPr>
          <a:xfrm>
            <a:off x="4572000" y="2984500"/>
            <a:ext cx="3048000" cy="1206500"/>
          </a:xfrm>
          <a:prstGeom prst="roundRect">
            <a:avLst>
              <a:gd name="adj" fmla="val 11578"/>
            </a:avLst>
          </a:prstGeom>
          <a:solidFill>
            <a:srgbClr val="E8E1F3"/>
          </a:solidFill>
          <a:ln>
            <a:noFill/>
          </a:ln>
        </p:spPr>
        <p:txBody>
          <a:bodyPr rtlCol="0" anchor="t" wrap="square" lIns="152400" rIns="152400" tIns="152400" bIns="152400"/>
          <a:lstStyle/>
          <a:p>
            <a:pPr algn="l">
              <a:spcAft>
                <a:spcPts val="607"/>
              </a:spcAft>
            </a:pPr>
            <a:r>
              <a:rPr sz="1350" b="1">
                <a:solidFill>
                  <a:srgbClr val="2A2320"/>
                </a:solidFill>
                <a:latin typeface="Nunito"/>
              </a:rPr>
              <a:t>4 · Ground and verify</a:t>
            </a:r>
          </a:p>
          <a:p>
            <a:pPr algn="l">
              <a:spcAft>
                <a:spcPts val="275"/>
              </a:spcAft>
            </a:pPr>
            <a:r>
              <a:rPr sz="1100" b="0">
                <a:solidFill>
                  <a:srgbClr val="2A2320"/>
                </a:solidFill>
                <a:latin typeface="Nunito"/>
              </a:rPr>
              <a:t>Exact facts, citations, allowed claims</a:t>
            </a:r>
          </a:p>
          <a:p>
            <a:pPr algn="l">
              <a:spcAft>
                <a:spcPts val="275"/>
              </a:spcAft>
            </a:pPr>
            <a:r>
              <a:rPr sz="1100" b="0">
                <a:solidFill>
                  <a:srgbClr val="2A2320"/>
                </a:solidFill>
                <a:latin typeface="Nunito"/>
              </a:rPr>
              <a:t>Live drafts: separate verification call</a:t>
            </a:r>
          </a:p>
        </p:txBody>
      </p:sp>
      <p:sp>
        <p:nvSpPr>
          <p:cNvPr id="9" name="Box: 5 · Recheck current state"/>
          <p:cNvSpPr/>
          <p:nvPr/>
        </p:nvSpPr>
        <p:spPr>
          <a:xfrm>
            <a:off x="8636000" y="2984500"/>
            <a:ext cx="3048000" cy="1206500"/>
          </a:xfrm>
          <a:prstGeom prst="roundRect">
            <a:avLst>
              <a:gd name="adj" fmla="val 11578"/>
            </a:avLst>
          </a:prstGeom>
          <a:solidFill>
            <a:srgbClr val="DCEEF7"/>
          </a:solidFill>
          <a:ln>
            <a:noFill/>
          </a:ln>
        </p:spPr>
        <p:txBody>
          <a:bodyPr rtlCol="0" anchor="t" wrap="square" lIns="152400" rIns="152400" tIns="152400" bIns="152400"/>
          <a:lstStyle/>
          <a:p>
            <a:pPr algn="l">
              <a:spcAft>
                <a:spcPts val="607"/>
              </a:spcAft>
            </a:pPr>
            <a:r>
              <a:rPr sz="1350" b="1">
                <a:solidFill>
                  <a:srgbClr val="2A2320"/>
                </a:solidFill>
                <a:latin typeface="Nunito"/>
              </a:rPr>
              <a:t>5 · Recheck current state</a:t>
            </a:r>
          </a:p>
          <a:p>
            <a:pPr algn="l">
              <a:spcAft>
                <a:spcPts val="275"/>
              </a:spcAft>
            </a:pPr>
            <a:r>
              <a:rPr sz="1100" b="0">
                <a:solidFill>
                  <a:srgbClr val="2A2320"/>
                </a:solidFill>
                <a:latin typeface="Nunito"/>
              </a:rPr>
              <a:t>Record, safety + provider revision</a:t>
            </a:r>
          </a:p>
          <a:p>
            <a:pPr algn="l">
              <a:spcAft>
                <a:spcPts val="275"/>
              </a:spcAft>
            </a:pPr>
            <a:r>
              <a:rPr sz="1100" b="0">
                <a:solidFill>
                  <a:srgbClr val="2A2320"/>
                </a:solidFill>
                <a:latin typeface="Nunito"/>
              </a:rPr>
              <a:t>Unsafe or stale results are withheld</a:t>
            </a:r>
          </a:p>
        </p:txBody>
      </p:sp>
      <p:sp>
        <p:nvSpPr>
          <p:cNvPr id="10" name="Box: 6 · Persist and display"/>
          <p:cNvSpPr/>
          <p:nvPr/>
        </p:nvSpPr>
        <p:spPr>
          <a:xfrm>
            <a:off x="8636000" y="4699000"/>
            <a:ext cx="3048000" cy="1206500"/>
          </a:xfrm>
          <a:prstGeom prst="roundRect">
            <a:avLst>
              <a:gd name="adj" fmla="val 11578"/>
            </a:avLst>
          </a:prstGeom>
          <a:solidFill>
            <a:srgbClr val="F3F0EA"/>
          </a:solidFill>
          <a:ln>
            <a:noFill/>
          </a:ln>
        </p:spPr>
        <p:txBody>
          <a:bodyPr rtlCol="0" anchor="t" wrap="square" lIns="152400" rIns="152400" tIns="152400" bIns="152400"/>
          <a:lstStyle/>
          <a:p>
            <a:pPr algn="l">
              <a:spcAft>
                <a:spcPts val="607"/>
              </a:spcAft>
            </a:pPr>
            <a:r>
              <a:rPr sz="1350" b="1">
                <a:solidFill>
                  <a:srgbClr val="2A2320"/>
                </a:solidFill>
                <a:latin typeface="Nunito"/>
              </a:rPr>
              <a:t>6 · Persist and display</a:t>
            </a:r>
          </a:p>
          <a:p>
            <a:pPr algn="l">
              <a:spcAft>
                <a:spcPts val="275"/>
              </a:spcAft>
            </a:pPr>
            <a:r>
              <a:rPr sz="1100" b="0">
                <a:solidFill>
                  <a:srgbClr val="2A2320"/>
                </a:solidFill>
                <a:latin typeface="Nunito"/>
              </a:rPr>
              <a:t>Answer, sources, How AURA looked</a:t>
            </a:r>
          </a:p>
          <a:p>
            <a:pPr algn="l">
              <a:spcAft>
                <a:spcPts val="275"/>
              </a:spcAft>
            </a:pPr>
            <a:r>
              <a:rPr sz="1100" b="0">
                <a:solidFill>
                  <a:srgbClr val="2A2320"/>
                </a:solidFill>
                <a:latin typeface="Nunito"/>
              </a:rPr>
              <a:t>No care-action or treatment-write tools</a:t>
            </a:r>
          </a:p>
        </p:txBody>
      </p:sp>
      <p:cxnSp>
        <p:nvCxnSpPr>
          <p:cNvPr id="11" name="Arrow: “When did sleep timi → 1 · Guard the reques"/>
          <p:cNvCxnSpPr>
            <a:stCxn id="7" idx="0"/>
            <a:endCxn id="4" idx="2"/>
          </p:cNvCxnSpPr>
          <p:nvPr/>
        </p:nvCxnSpPr>
        <p:spPr>
          <a:xfrm flipV="1">
            <a:off x="2032000" y="2476500"/>
            <a:ext cx="1" cy="508000"/>
          </a:xfrm>
          <a:prstGeom prst="line">
            <a:avLst/>
          </a:prstGeom>
          <a:ln w="25400">
            <a:solidFill>
              <a:srgbClr val="6B6258"/>
            </a:solidFill>
            <a:tailEnd type="triangle" w="med" len="med"/>
          </a:ln>
        </p:spPr>
      </p:cxnSp>
      <p:cxnSp>
        <p:nvCxnSpPr>
          <p:cNvPr id="12" name="Arrow: 1 · Guard the reques → 2 · Model chooses a "/>
          <p:cNvCxnSpPr>
            <a:stCxn id="4" idx="3"/>
            <a:endCxn id="5" idx="1"/>
          </p:cNvCxnSpPr>
          <p:nvPr/>
        </p:nvCxnSpPr>
        <p:spPr>
          <a:xfrm>
            <a:off x="3556000" y="1873250"/>
            <a:ext cx="1016000" cy="1"/>
          </a:xfrm>
          <a:prstGeom prst="line">
            <a:avLst/>
          </a:prstGeom>
          <a:ln w="25400">
            <a:solidFill>
              <a:srgbClr val="6B6258"/>
            </a:solidFill>
            <a:tailEnd type="triangle" w="med" len="med"/>
          </a:ln>
        </p:spPr>
      </p:cxnSp>
      <p:cxnSp>
        <p:nvCxnSpPr>
          <p:cNvPr id="13" name="Arrow: 2 · Model chooses a  → 3 · Execute scoped t"/>
          <p:cNvCxnSpPr>
            <a:stCxn id="5" idx="3"/>
            <a:endCxn id="6" idx="1"/>
          </p:cNvCxnSpPr>
          <p:nvPr/>
        </p:nvCxnSpPr>
        <p:spPr>
          <a:xfrm>
            <a:off x="7620000" y="1873250"/>
            <a:ext cx="1016000" cy="1"/>
          </a:xfrm>
          <a:prstGeom prst="line">
            <a:avLst/>
          </a:prstGeom>
          <a:ln w="25400">
            <a:solidFill>
              <a:srgbClr val="6B6258"/>
            </a:solidFill>
            <a:headEnd type="triangle" w="med" len="med"/>
            <a:tailEnd type="triangle" w="med" len="med"/>
          </a:ln>
        </p:spPr>
      </p:cxnSp>
      <p:cxnSp>
        <p:nvCxnSpPr>
          <p:cNvPr id="14" name="Arrow: 2 · Model chooses a  → 4 · Ground and verif"/>
          <p:cNvCxnSpPr>
            <a:stCxn id="5" idx="2"/>
            <a:endCxn id="8" idx="0"/>
          </p:cNvCxnSpPr>
          <p:nvPr/>
        </p:nvCxnSpPr>
        <p:spPr>
          <a:xfrm>
            <a:off x="6096000" y="2476500"/>
            <a:ext cx="1" cy="508000"/>
          </a:xfrm>
          <a:prstGeom prst="line">
            <a:avLst/>
          </a:prstGeom>
          <a:ln w="25400">
            <a:solidFill>
              <a:srgbClr val="6B6258"/>
            </a:solidFill>
            <a:tailEnd type="triangle" w="med" len="med"/>
          </a:ln>
        </p:spPr>
      </p:cxnSp>
      <p:cxnSp>
        <p:nvCxnSpPr>
          <p:cNvPr id="15" name="Arrow: 4 · Ground and verif → 5 · Recheck current "/>
          <p:cNvCxnSpPr>
            <a:stCxn id="8" idx="3"/>
            <a:endCxn id="9" idx="1"/>
          </p:cNvCxnSpPr>
          <p:nvPr/>
        </p:nvCxnSpPr>
        <p:spPr>
          <a:xfrm>
            <a:off x="7620000" y="3587750"/>
            <a:ext cx="1016000" cy="1"/>
          </a:xfrm>
          <a:prstGeom prst="line">
            <a:avLst/>
          </a:prstGeom>
          <a:ln w="25400">
            <a:solidFill>
              <a:srgbClr val="6B6258"/>
            </a:solidFill>
            <a:tailEnd type="triangle" w="med" len="med"/>
          </a:ln>
        </p:spPr>
      </p:cxnSp>
      <p:cxnSp>
        <p:nvCxnSpPr>
          <p:cNvPr id="16" name="Arrow: 5 · Recheck current  → 6 · Persist and disp"/>
          <p:cNvCxnSpPr>
            <a:stCxn id="9" idx="2"/>
            <a:endCxn id="10" idx="0"/>
          </p:cNvCxnSpPr>
          <p:nvPr/>
        </p:nvCxnSpPr>
        <p:spPr>
          <a:xfrm>
            <a:off x="10160000" y="4191000"/>
            <a:ext cx="1" cy="508000"/>
          </a:xfrm>
          <a:prstGeom prst="line">
            <a:avLst/>
          </a:prstGeom>
          <a:ln w="25400">
            <a:solidFill>
              <a:srgbClr val="6B6258"/>
            </a:solidFill>
            <a:tailEnd type="triangle" w="med" len="med"/>
          </a:ln>
        </p:spPr>
      </p:cxnSp>
      <p:sp>
        <p:nvSpPr>
          <p:cNvPr id="17" name="Text: tool calls,"/>
          <p:cNvSpPr txBox="1"/>
          <p:nvPr/>
        </p:nvSpPr>
        <p:spPr>
          <a:xfrm>
            <a:off x="7620000" y="1244600"/>
            <a:ext cx="1016000" cy="381000"/>
          </a:xfrm>
          <a:prstGeom prst="rect">
            <a:avLst/>
          </a:prstGeom>
          <a:noFill/>
        </p:spPr>
        <p:txBody>
          <a:bodyPr wrap="square" anchor="t" lIns="0" rIns="0" tIns="0" bIns="0"/>
          <a:lstStyle/>
          <a:p>
            <a:pPr algn="ctr">
              <a:spcAft>
                <a:spcPts val="405"/>
              </a:spcAft>
            </a:pPr>
            <a:r>
              <a:rPr sz="900" b="0">
                <a:solidFill>
                  <a:srgbClr val="6B6258"/>
                </a:solidFill>
                <a:latin typeface="Nunito"/>
              </a:rPr>
              <a:t>tool calls,</a:t>
            </a:r>
          </a:p>
          <a:p>
            <a:pPr algn="ctr">
              <a:spcAft>
                <a:spcPts val="225"/>
              </a:spcAft>
            </a:pPr>
            <a:r>
              <a:rPr sz="900" b="0">
                <a:solidFill>
                  <a:srgbClr val="6B6258"/>
                </a:solidFill>
                <a:latin typeface="Nunito"/>
              </a:rPr>
              <a:t>facts back</a:t>
            </a:r>
          </a:p>
        </p:txBody>
      </p:sp>
      <p:sp>
        <p:nvSpPr>
          <p:cNvPr id="18" name="Text: cited draft"/>
          <p:cNvSpPr txBox="1"/>
          <p:nvPr/>
        </p:nvSpPr>
        <p:spPr>
          <a:xfrm>
            <a:off x="6134100" y="2540000"/>
            <a:ext cx="1651000" cy="381000"/>
          </a:xfrm>
          <a:prstGeom prst="rect">
            <a:avLst/>
          </a:prstGeom>
          <a:noFill/>
        </p:spPr>
        <p:txBody>
          <a:bodyPr wrap="square" anchor="t" lIns="0" rIns="0" tIns="0" bIns="0"/>
          <a:lstStyle/>
          <a:p>
            <a:pPr algn="l">
              <a:spcAft>
                <a:spcPts val="405"/>
              </a:spcAft>
            </a:pPr>
            <a:r>
              <a:rPr sz="900" b="0">
                <a:solidFill>
                  <a:srgbClr val="6B6258"/>
                </a:solidFill>
                <a:latin typeface="Nunito"/>
              </a:rPr>
              <a:t>cited draft</a:t>
            </a:r>
          </a:p>
          <a:p>
            <a:pPr algn="l">
              <a:spcAft>
                <a:spcPts val="225"/>
              </a:spcAft>
            </a:pPr>
            <a:r>
              <a:rPr sz="900" b="0">
                <a:solidFill>
                  <a:srgbClr val="6B6258"/>
                </a:solidFill>
                <a:latin typeface="Nunito"/>
              </a:rPr>
              <a:t>when ready</a:t>
            </a:r>
          </a:p>
        </p:txBody>
      </p:sp>
      <p:sp>
        <p:nvSpPr>
          <p:cNvPr id="19" name="Text: Loop budgets: 8 model steps · 24 tool ca"/>
          <p:cNvSpPr txBox="1"/>
          <p:nvPr/>
        </p:nvSpPr>
        <p:spPr>
          <a:xfrm>
            <a:off x="508000" y="4762500"/>
            <a:ext cx="7493000" cy="381000"/>
          </a:xfrm>
          <a:prstGeom prst="rect">
            <a:avLst/>
          </a:prstGeom>
          <a:noFill/>
        </p:spPr>
        <p:txBody>
          <a:bodyPr wrap="square" anchor="t" lIns="0" rIns="0" tIns="0" bIns="0"/>
          <a:lstStyle/>
          <a:p>
            <a:pPr algn="l">
              <a:spcAft>
                <a:spcPts val="630"/>
              </a:spcAft>
            </a:pPr>
            <a:r>
              <a:rPr sz="1400" b="1">
                <a:solidFill>
                  <a:srgbClr val="2A2320"/>
                </a:solidFill>
                <a:latin typeface="Nunito"/>
              </a:rPr>
              <a:t>Loop budgets: 8 model steps · 24 tool calls · 90 seconds</a:t>
            </a:r>
          </a:p>
        </p:txBody>
      </p:sp>
      <p:sp>
        <p:nvSpPr>
          <p:cNvPr id="20" name="Text: Time checked between calls; provider tim"/>
          <p:cNvSpPr txBox="1"/>
          <p:nvPr/>
        </p:nvSpPr>
        <p:spPr>
          <a:xfrm>
            <a:off x="508000" y="5156200"/>
            <a:ext cx="7493000" cy="1270000"/>
          </a:xfrm>
          <a:prstGeom prst="rect">
            <a:avLst/>
          </a:prstGeom>
          <a:noFill/>
        </p:spPr>
        <p:txBody>
          <a:bodyPr wrap="square" anchor="t" lIns="0" rIns="0" tIns="0" bIns="0"/>
          <a:lstStyle/>
          <a:p>
            <a:pPr algn="l">
              <a:spcAft>
                <a:spcPts val="495"/>
              </a:spcAft>
            </a:pPr>
            <a:r>
              <a:rPr sz="1100" b="0">
                <a:solidFill>
                  <a:srgbClr val="6B6258"/>
                </a:solidFill>
                <a:latin typeface="Nunito"/>
              </a:rPr>
              <a:t>Time checked between calls; provider timeout 30 s. Verifier is separate.</a:t>
            </a:r>
          </a:p>
          <a:p>
            <a:pPr algn="l">
              <a:spcAft>
                <a:spcPts val="275"/>
              </a:spcAft>
            </a:pPr>
            <a:r>
              <a:rPr sz="1100" b="0">
                <a:solidFill>
                  <a:srgbClr val="6B6258"/>
                </a:solidFill>
                <a:latin typeface="Nunito"/>
              </a:rPr>
              <a:t>Failed drafts use related facts when available; blocked/stale requests show no answer.</a:t>
            </a:r>
          </a:p>
          <a:p>
            <a:pPr algn="l">
              <a:spcAft>
                <a:spcPts val="275"/>
              </a:spcAft>
            </a:pPr>
            <a:r>
              <a:rPr sz="1100" b="0">
                <a:solidFill>
                  <a:srgbClr val="6B6258"/>
                </a:solidFill>
                <a:latin typeface="Nunito"/>
              </a:rPr>
              <a:t>The trail shows actions, not hidden reasoning. Verification is not clinical validation.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 Safety policy has the final say"/>
          <p:cNvSpPr txBox="1"/>
          <p:nvPr/>
        </p:nvSpPr>
        <p:spPr>
          <a:xfrm>
            <a:off x="508000" y="292100"/>
            <a:ext cx="11176000" cy="444500"/>
          </a:xfrm>
          <a:prstGeom prst="rect">
            <a:avLst/>
          </a:prstGeom>
          <a:noFill/>
        </p:spPr>
        <p:txBody>
          <a:bodyPr wrap="square" anchor="t" lIns="0" rIns="0" tIns="0" bIns="0"/>
          <a:lstStyle/>
          <a:p>
            <a:pPr algn="l">
              <a:spcAft>
                <a:spcPts val="1215"/>
              </a:spcAft>
            </a:pPr>
            <a:r>
              <a:rPr sz="2700" b="1">
                <a:solidFill>
                  <a:srgbClr val="2A2320"/>
                </a:solidFill>
                <a:latin typeface="Nunito"/>
              </a:rPr>
              <a:t>Safety policy has the final say</a:t>
            </a:r>
          </a:p>
        </p:txBody>
      </p:sp>
      <p:sp>
        <p:nvSpPr>
          <p:cNvPr id="3" name="Text: Challenge 2 · Scenario 1: mental health "/>
          <p:cNvSpPr txBox="1"/>
          <p:nvPr/>
        </p:nvSpPr>
        <p:spPr>
          <a:xfrm>
            <a:off x="508000" y="774700"/>
            <a:ext cx="11176000" cy="254000"/>
          </a:xfrm>
          <a:prstGeom prst="rect">
            <a:avLst/>
          </a:prstGeom>
          <a:noFill/>
        </p:spPr>
        <p:txBody>
          <a:bodyPr wrap="square" anchor="t" lIns="0" rIns="0" tIns="0" bIns="0"/>
          <a:lstStyle/>
          <a:p>
            <a:pPr algn="l">
              <a:spcAft>
                <a:spcPts val="585"/>
              </a:spcAft>
            </a:pPr>
            <a:r>
              <a:rPr sz="1300" b="0">
                <a:solidFill>
                  <a:srgbClr val="6B6258"/>
                </a:solidFill>
                <a:latin typeface="Nunito"/>
              </a:rPr>
              <a:t>Challenge 2 · Scenario 1: mental health maintenance for working adults on antidepressants</a:t>
            </a:r>
          </a:p>
        </p:txBody>
      </p:sp>
      <p:sp>
        <p:nvSpPr>
          <p:cNvPr id="4" name="Box: Patient input"/>
          <p:cNvSpPr/>
          <p:nvPr/>
        </p:nvSpPr>
        <p:spPr>
          <a:xfrm>
            <a:off x="508000" y="1270000"/>
            <a:ext cx="2660650" cy="1270000"/>
          </a:xfrm>
          <a:prstGeom prst="roundRect">
            <a:avLst>
              <a:gd name="adj" fmla="val 11000"/>
            </a:avLst>
          </a:prstGeom>
          <a:solidFill>
            <a:srgbClr val="F3F0EA"/>
          </a:solidFill>
          <a:ln>
            <a:noFill/>
          </a:ln>
        </p:spPr>
        <p:txBody>
          <a:bodyPr rtlCol="0" anchor="t" wrap="square" lIns="152400" rIns="152400" tIns="152400" bIns="152400"/>
          <a:lstStyle/>
          <a:p>
            <a:pPr algn="l">
              <a:spcAft>
                <a:spcPts val="607"/>
              </a:spcAft>
            </a:pPr>
            <a:r>
              <a:rPr sz="1350" b="1">
                <a:solidFill>
                  <a:srgbClr val="2A2320"/>
                </a:solidFill>
                <a:latin typeface="Nunito"/>
              </a:rPr>
              <a:t>Patient input</a:t>
            </a:r>
          </a:p>
          <a:p>
            <a:pPr algn="l">
              <a:spcAft>
                <a:spcPts val="275"/>
              </a:spcAft>
            </a:pPr>
            <a:r>
              <a:rPr sz="1100" b="0">
                <a:solidFill>
                  <a:srgbClr val="2A2320"/>
                </a:solidFill>
                <a:latin typeface="Nunito"/>
              </a:rPr>
              <a:t>Typed notes and medication questions</a:t>
            </a:r>
          </a:p>
          <a:p>
            <a:pPr algn="l">
              <a:spcAft>
                <a:spcPts val="275"/>
              </a:spcAft>
            </a:pPr>
            <a:r>
              <a:rPr sz="1100" b="0">
                <a:solidFill>
                  <a:srgbClr val="2A2320"/>
                </a:solidFill>
                <a:latin typeface="Nunito"/>
              </a:rPr>
              <a:t>Safety-relevant path first</a:t>
            </a:r>
          </a:p>
        </p:txBody>
      </p:sp>
      <p:sp>
        <p:nvSpPr>
          <p:cNvPr id="5" name="Box: Safety gate + proposals"/>
          <p:cNvSpPr/>
          <p:nvPr/>
        </p:nvSpPr>
        <p:spPr>
          <a:xfrm>
            <a:off x="3346450" y="1270000"/>
            <a:ext cx="2660650" cy="1270000"/>
          </a:xfrm>
          <a:prstGeom prst="roundRect">
            <a:avLst>
              <a:gd name="adj" fmla="val 11000"/>
            </a:avLst>
          </a:prstGeom>
          <a:solidFill>
            <a:srgbClr val="E8E1F3"/>
          </a:solidFill>
          <a:ln>
            <a:noFill/>
          </a:ln>
        </p:spPr>
        <p:txBody>
          <a:bodyPr rtlCol="0" anchor="t" wrap="square" lIns="152400" rIns="152400" tIns="152400" bIns="152400"/>
          <a:lstStyle/>
          <a:p>
            <a:pPr algn="l">
              <a:spcAft>
                <a:spcPts val="607"/>
              </a:spcAft>
            </a:pPr>
            <a:r>
              <a:rPr sz="1350" b="1">
                <a:solidFill>
                  <a:srgbClr val="2A2320"/>
                </a:solidFill>
                <a:latin typeface="Nunito"/>
              </a:rPr>
              <a:t>Safety gate + proposals</a:t>
            </a:r>
          </a:p>
          <a:p>
            <a:pPr algn="l">
              <a:spcAft>
                <a:spcPts val="275"/>
              </a:spcAft>
            </a:pPr>
            <a:r>
              <a:rPr sz="1100" b="0">
                <a:solidFill>
                  <a:srgbClr val="2A2320"/>
                </a:solidFill>
                <a:latin typeface="Nunito"/>
              </a:rPr>
              <a:t>Demo fixtures or rules + model</a:t>
            </a:r>
          </a:p>
          <a:p>
            <a:pPr algn="l">
              <a:spcAft>
                <a:spcPts val="275"/>
              </a:spcAft>
            </a:pPr>
            <a:r>
              <a:rPr sz="1100" b="0">
                <a:solidFill>
                  <a:srgbClr val="2A2320"/>
                </a:solidFill>
                <a:latin typeface="Nunito"/>
              </a:rPr>
              <a:t>Raise-only detector proposals</a:t>
            </a:r>
          </a:p>
        </p:txBody>
      </p:sp>
      <p:sp>
        <p:nvSpPr>
          <p:cNvPr id="6" name="Box: Deterministic safety controller"/>
          <p:cNvSpPr/>
          <p:nvPr/>
        </p:nvSpPr>
        <p:spPr>
          <a:xfrm>
            <a:off x="6184900" y="1270000"/>
            <a:ext cx="2660650" cy="1270000"/>
          </a:xfrm>
          <a:prstGeom prst="roundRect">
            <a:avLst>
              <a:gd name="adj" fmla="val 11000"/>
            </a:avLst>
          </a:prstGeom>
          <a:solidFill>
            <a:srgbClr val="FDE3DF"/>
          </a:solidFill>
          <a:ln>
            <a:noFill/>
          </a:ln>
        </p:spPr>
        <p:txBody>
          <a:bodyPr rtlCol="0" anchor="t" wrap="square" lIns="152400" rIns="152400" tIns="152400" bIns="152400"/>
          <a:lstStyle/>
          <a:p>
            <a:pPr algn="l">
              <a:spcAft>
                <a:spcPts val="607"/>
              </a:spcAft>
            </a:pPr>
            <a:r>
              <a:rPr sz="1350" b="1">
                <a:solidFill>
                  <a:srgbClr val="2A2320"/>
                </a:solidFill>
                <a:latin typeface="Nunito"/>
              </a:rPr>
              <a:t>Deterministic safety controller</a:t>
            </a:r>
          </a:p>
          <a:p>
            <a:pPr algn="l">
              <a:spcAft>
                <a:spcPts val="275"/>
              </a:spcAft>
            </a:pPr>
            <a:r>
              <a:rPr sz="1100" b="0">
                <a:solidFill>
                  <a:srgbClr val="2A2320"/>
                </a:solidFill>
                <a:latin typeface="Nunito"/>
              </a:rPr>
              <a:t>T0–T4 transitions and actions</a:t>
            </a:r>
          </a:p>
          <a:p>
            <a:pPr algn="l">
              <a:spcAft>
                <a:spcPts val="275"/>
              </a:spcAft>
            </a:pPr>
            <a:r>
              <a:rPr sz="1100" b="0">
                <a:solidFill>
                  <a:srgbClr val="2A2320"/>
                </a:solidFill>
                <a:latin typeface="Nunito"/>
              </a:rPr>
              <a:t>Fail closed when degraded</a:t>
            </a:r>
          </a:p>
        </p:txBody>
      </p:sp>
      <p:sp>
        <p:nvSpPr>
          <p:cNvPr id="7" name="Box: Registry + built-in bundle"/>
          <p:cNvSpPr/>
          <p:nvPr/>
        </p:nvSpPr>
        <p:spPr>
          <a:xfrm>
            <a:off x="9023350" y="1270000"/>
            <a:ext cx="2660650" cy="1270000"/>
          </a:xfrm>
          <a:prstGeom prst="roundRect">
            <a:avLst>
              <a:gd name="adj" fmla="val 11000"/>
            </a:avLst>
          </a:prstGeom>
          <a:solidFill>
            <a:srgbClr val="FDE3DF"/>
          </a:solidFill>
          <a:ln>
            <a:noFill/>
          </a:ln>
        </p:spPr>
        <p:txBody>
          <a:bodyPr rtlCol="0" anchor="t" wrap="square" lIns="152400" rIns="152400" tIns="152400" bIns="152400"/>
          <a:lstStyle/>
          <a:p>
            <a:pPr algn="l">
              <a:spcAft>
                <a:spcPts val="607"/>
              </a:spcAft>
            </a:pPr>
            <a:r>
              <a:rPr sz="1350" b="1">
                <a:solidFill>
                  <a:srgbClr val="2A2320"/>
                </a:solidFill>
                <a:latin typeface="Nunito"/>
              </a:rPr>
              <a:t>Registry + built-in bundle</a:t>
            </a:r>
          </a:p>
          <a:p>
            <a:pPr algn="l">
              <a:spcAft>
                <a:spcPts val="275"/>
              </a:spcAft>
            </a:pPr>
            <a:r>
              <a:rPr sz="1100" b="0">
                <a:solidFill>
                  <a:srgbClr val="2A2320"/>
                </a:solidFill>
                <a:latin typeface="Nunito"/>
              </a:rPr>
              <a:t>Lookup failure: built-in fallback</a:t>
            </a:r>
          </a:p>
          <a:p>
            <a:pPr algn="l">
              <a:spcAft>
                <a:spcPts val="275"/>
              </a:spcAft>
            </a:pPr>
            <a:r>
              <a:rPr sz="1100" b="0">
                <a:solidFill>
                  <a:srgbClr val="2A2320"/>
                </a:solidFill>
                <a:latin typeface="Nunito"/>
              </a:rPr>
              <a:t>Stale/unverified: visible + notice</a:t>
            </a:r>
          </a:p>
        </p:txBody>
      </p:sp>
      <p:sp>
        <p:nvSpPr>
          <p:cNvPr id="8" name="Box: Longitudinal communication"/>
          <p:cNvSpPr/>
          <p:nvPr/>
        </p:nvSpPr>
        <p:spPr>
          <a:xfrm>
            <a:off x="3346450" y="3048000"/>
            <a:ext cx="2660650" cy="1270000"/>
          </a:xfrm>
          <a:prstGeom prst="roundRect">
            <a:avLst>
              <a:gd name="adj" fmla="val 11000"/>
            </a:avLst>
          </a:prstGeom>
          <a:solidFill>
            <a:srgbClr val="DCEEF7"/>
          </a:solidFill>
          <a:ln>
            <a:noFill/>
          </a:ln>
        </p:spPr>
        <p:txBody>
          <a:bodyPr rtlCol="0" anchor="t" wrap="square" lIns="152400" rIns="152400" tIns="152400" bIns="152400"/>
          <a:lstStyle/>
          <a:p>
            <a:pPr algn="l">
              <a:spcAft>
                <a:spcPts val="607"/>
              </a:spcAft>
            </a:pPr>
            <a:r>
              <a:rPr sz="1350" b="1">
                <a:solidFill>
                  <a:srgbClr val="2A2320"/>
                </a:solidFill>
                <a:latin typeface="Nunito"/>
              </a:rPr>
              <a:t>Longitudinal communication</a:t>
            </a:r>
          </a:p>
          <a:p>
            <a:pPr algn="l">
              <a:spcAft>
                <a:spcPts val="275"/>
              </a:spcAft>
            </a:pPr>
            <a:r>
              <a:rPr sz="1100" b="0">
                <a:solidFill>
                  <a:srgbClr val="2A2320"/>
                </a:solidFill>
                <a:latin typeface="Nunito"/>
              </a:rPr>
              <a:t>Stay quiet / check in / clarify</a:t>
            </a:r>
          </a:p>
          <a:p>
            <a:pPr algn="l">
              <a:spcAft>
                <a:spcPts val="275"/>
              </a:spcAft>
            </a:pPr>
            <a:r>
              <a:rPr sz="1100" b="0">
                <a:solidFill>
                  <a:srgbClr val="2A2320"/>
                </a:solidFill>
                <a:latin typeface="Nunito"/>
              </a:rPr>
              <a:t>Describes personal changes</a:t>
            </a:r>
          </a:p>
        </p:txBody>
      </p:sp>
      <p:sp>
        <p:nvSpPr>
          <p:cNvPr id="9" name="Box: Safety overrides ordinary messages"/>
          <p:cNvSpPr/>
          <p:nvPr/>
        </p:nvSpPr>
        <p:spPr>
          <a:xfrm>
            <a:off x="6184900" y="3048000"/>
            <a:ext cx="2660650" cy="1270000"/>
          </a:xfrm>
          <a:prstGeom prst="roundRect">
            <a:avLst>
              <a:gd name="adj" fmla="val 11000"/>
            </a:avLst>
          </a:prstGeom>
          <a:solidFill>
            <a:srgbClr val="FDE3DF"/>
          </a:solidFill>
          <a:ln>
            <a:noFill/>
          </a:ln>
        </p:spPr>
        <p:txBody>
          <a:bodyPr rtlCol="0" anchor="t" wrap="square" lIns="152400" rIns="152400" tIns="152400" bIns="152400"/>
          <a:lstStyle/>
          <a:p>
            <a:pPr algn="l">
              <a:spcAft>
                <a:spcPts val="562"/>
              </a:spcAft>
            </a:pPr>
            <a:r>
              <a:rPr sz="1250" b="1">
                <a:solidFill>
                  <a:srgbClr val="2A2320"/>
                </a:solidFill>
                <a:latin typeface="Nunito"/>
              </a:rPr>
              <a:t>Safety overrides ordinary messages</a:t>
            </a:r>
          </a:p>
          <a:p>
            <a:pPr algn="l">
              <a:spcAft>
                <a:spcPts val="275"/>
              </a:spcAft>
            </a:pPr>
            <a:r>
              <a:rPr sz="1100" b="0">
                <a:solidFill>
                  <a:srgbClr val="2A2320"/>
                </a:solidFill>
                <a:latin typeface="Nunito"/>
              </a:rPr>
              <a:t>Applies the authoritative state</a:t>
            </a:r>
          </a:p>
          <a:p>
            <a:pPr algn="l">
              <a:spcAft>
                <a:spcPts val="275"/>
              </a:spcAft>
            </a:pPr>
            <a:r>
              <a:rPr sz="1100" b="0">
                <a:solidFill>
                  <a:srgbClr val="2A2320"/>
                </a:solidFill>
                <a:latin typeface="Nunito"/>
              </a:rPr>
              <a:t>The app does not assign tiers</a:t>
            </a:r>
          </a:p>
        </p:txBody>
      </p:sp>
      <p:sp>
        <p:nvSpPr>
          <p:cNvPr id="10" name="Box: Pinned safety resources"/>
          <p:cNvSpPr/>
          <p:nvPr/>
        </p:nvSpPr>
        <p:spPr>
          <a:xfrm>
            <a:off x="9023350" y="3048000"/>
            <a:ext cx="2660650" cy="1270000"/>
          </a:xfrm>
          <a:prstGeom prst="roundRect">
            <a:avLst>
              <a:gd name="adj" fmla="val 11000"/>
            </a:avLst>
          </a:prstGeom>
          <a:solidFill>
            <a:srgbClr val="FDE3DF"/>
          </a:solidFill>
          <a:ln>
            <a:noFill/>
          </a:ln>
        </p:spPr>
        <p:txBody>
          <a:bodyPr rtlCol="0" anchor="t" wrap="square" lIns="152400" rIns="152400" tIns="152400" bIns="152400"/>
          <a:lstStyle/>
          <a:p>
            <a:pPr algn="l">
              <a:spcAft>
                <a:spcPts val="607"/>
              </a:spcAft>
            </a:pPr>
            <a:r>
              <a:rPr sz="1350" b="1">
                <a:solidFill>
                  <a:srgbClr val="2A2320"/>
                </a:solidFill>
                <a:latin typeface="Nunito"/>
              </a:rPr>
              <a:t>Pinned safety resources</a:t>
            </a:r>
          </a:p>
          <a:p>
            <a:pPr algn="l">
              <a:spcAft>
                <a:spcPts val="275"/>
              </a:spcAft>
            </a:pPr>
            <a:r>
              <a:rPr sz="1100" b="0">
                <a:solidFill>
                  <a:srgbClr val="2A2320"/>
                </a:solidFill>
                <a:latin typeface="Nunito"/>
              </a:rPr>
              <a:t>Shown outside generated text</a:t>
            </a:r>
          </a:p>
          <a:p>
            <a:pPr algn="l">
              <a:spcAft>
                <a:spcPts val="275"/>
              </a:spcAft>
            </a:pPr>
            <a:r>
              <a:rPr sz="1100" b="0">
                <a:solidFill>
                  <a:srgbClr val="2A2320"/>
                </a:solidFill>
                <a:latin typeface="Nunito"/>
              </a:rPr>
              <a:t>Resource rendering uses no model</a:t>
            </a:r>
          </a:p>
        </p:txBody>
      </p:sp>
      <p:sp>
        <p:nvSpPr>
          <p:cNvPr id="11" name="Box: Render the allowed interaction"/>
          <p:cNvSpPr/>
          <p:nvPr/>
        </p:nvSpPr>
        <p:spPr>
          <a:xfrm>
            <a:off x="6184900" y="4826000"/>
            <a:ext cx="2660650" cy="1333500"/>
          </a:xfrm>
          <a:prstGeom prst="roundRect">
            <a:avLst>
              <a:gd name="adj" fmla="val 10476"/>
            </a:avLst>
          </a:prstGeom>
          <a:solidFill>
            <a:srgbClr val="F3F0EA"/>
          </a:solidFill>
          <a:ln>
            <a:noFill/>
          </a:ln>
        </p:spPr>
        <p:txBody>
          <a:bodyPr rtlCol="0" anchor="t" wrap="square" lIns="152400" rIns="152400" tIns="152400" bIns="152400"/>
          <a:lstStyle/>
          <a:p>
            <a:pPr algn="l">
              <a:spcAft>
                <a:spcPts val="607"/>
              </a:spcAft>
            </a:pPr>
            <a:r>
              <a:rPr sz="1350" b="1">
                <a:solidFill>
                  <a:srgbClr val="2A2320"/>
                </a:solidFill>
                <a:latin typeface="Nunito"/>
              </a:rPr>
              <a:t>Render the allowed interaction</a:t>
            </a:r>
          </a:p>
          <a:p>
            <a:pPr algn="l">
              <a:spcAft>
                <a:spcPts val="262"/>
              </a:spcAft>
            </a:pPr>
            <a:r>
              <a:rPr sz="1050" b="0">
                <a:solidFill>
                  <a:srgbClr val="2A2320"/>
                </a:solidFill>
                <a:latin typeface="Nunito"/>
              </a:rPr>
              <a:t>Approved wording + checks</a:t>
            </a:r>
          </a:p>
          <a:p>
            <a:pPr algn="l">
              <a:spcAft>
                <a:spcPts val="262"/>
              </a:spcAft>
            </a:pPr>
            <a:r>
              <a:rPr sz="1050" b="0">
                <a:solidFill>
                  <a:srgbClr val="2A2320"/>
                </a:solidFill>
                <a:latin typeface="Nunito"/>
              </a:rPr>
              <a:t>T4 / offline / degraded:</a:t>
            </a:r>
          </a:p>
          <a:p>
            <a:pPr algn="l">
              <a:spcAft>
                <a:spcPts val="262"/>
              </a:spcAft>
            </a:pPr>
            <a:r>
              <a:rPr sz="1050" b="0">
                <a:solidFill>
                  <a:srgbClr val="2A2320"/>
                </a:solidFill>
                <a:latin typeface="Nunito"/>
              </a:rPr>
              <a:t>fixed wording</a:t>
            </a:r>
          </a:p>
        </p:txBody>
      </p:sp>
      <p:cxnSp>
        <p:nvCxnSpPr>
          <p:cNvPr id="12" name="Arrow: Patient input → Safety gate + propos"/>
          <p:cNvCxnSpPr>
            <a:stCxn id="4" idx="3"/>
            <a:endCxn id="5" idx="1"/>
          </p:cNvCxnSpPr>
          <p:nvPr/>
        </p:nvCxnSpPr>
        <p:spPr>
          <a:xfrm>
            <a:off x="3168650" y="1905000"/>
            <a:ext cx="177800" cy="1"/>
          </a:xfrm>
          <a:prstGeom prst="line">
            <a:avLst/>
          </a:prstGeom>
          <a:ln w="25400">
            <a:solidFill>
              <a:srgbClr val="6B6258"/>
            </a:solidFill>
            <a:tailEnd type="triangle" w="med" len="med"/>
          </a:ln>
        </p:spPr>
      </p:cxnSp>
      <p:cxnSp>
        <p:nvCxnSpPr>
          <p:cNvPr id="13" name="Arrow: Safety gate + propos → Deterministic safety"/>
          <p:cNvCxnSpPr>
            <a:stCxn id="5" idx="3"/>
            <a:endCxn id="6" idx="1"/>
          </p:cNvCxnSpPr>
          <p:nvPr/>
        </p:nvCxnSpPr>
        <p:spPr>
          <a:xfrm>
            <a:off x="6007100" y="1905000"/>
            <a:ext cx="177800" cy="1"/>
          </a:xfrm>
          <a:prstGeom prst="line">
            <a:avLst/>
          </a:prstGeom>
          <a:ln w="25400">
            <a:solidFill>
              <a:srgbClr val="6B6258"/>
            </a:solidFill>
            <a:tailEnd type="triangle" w="med" len="med"/>
          </a:ln>
        </p:spPr>
      </p:cxnSp>
      <p:cxnSp>
        <p:nvCxnSpPr>
          <p:cNvPr id="14" name="Arrow: Deterministic safety → Registry + built-in "/>
          <p:cNvCxnSpPr>
            <a:stCxn id="6" idx="3"/>
            <a:endCxn id="7" idx="1"/>
          </p:cNvCxnSpPr>
          <p:nvPr/>
        </p:nvCxnSpPr>
        <p:spPr>
          <a:xfrm>
            <a:off x="8845550" y="1905000"/>
            <a:ext cx="177800" cy="1"/>
          </a:xfrm>
          <a:prstGeom prst="line">
            <a:avLst/>
          </a:prstGeom>
          <a:ln w="25400">
            <a:solidFill>
              <a:srgbClr val="6B6258"/>
            </a:solidFill>
            <a:tailEnd type="triangle" w="med" len="med"/>
          </a:ln>
        </p:spPr>
      </p:cxnSp>
      <p:cxnSp>
        <p:nvCxnSpPr>
          <p:cNvPr id="15" name="Arrow: Deterministic safety → Safety overrides ord"/>
          <p:cNvCxnSpPr>
            <a:stCxn id="6" idx="2"/>
            <a:endCxn id="9" idx="0"/>
          </p:cNvCxnSpPr>
          <p:nvPr/>
        </p:nvCxnSpPr>
        <p:spPr>
          <a:xfrm>
            <a:off x="7515225" y="2540000"/>
            <a:ext cx="1" cy="508000"/>
          </a:xfrm>
          <a:prstGeom prst="line">
            <a:avLst/>
          </a:prstGeom>
          <a:ln w="25400">
            <a:solidFill>
              <a:srgbClr val="6B6258"/>
            </a:solidFill>
            <a:tailEnd type="triangle" w="med" len="med"/>
          </a:ln>
        </p:spPr>
      </p:cxnSp>
      <p:cxnSp>
        <p:nvCxnSpPr>
          <p:cNvPr id="16" name="Arrow: Longitudinal communi → Safety overrides ord"/>
          <p:cNvCxnSpPr>
            <a:stCxn id="8" idx="3"/>
            <a:endCxn id="9" idx="1"/>
          </p:cNvCxnSpPr>
          <p:nvPr/>
        </p:nvCxnSpPr>
        <p:spPr>
          <a:xfrm>
            <a:off x="6007100" y="3683000"/>
            <a:ext cx="177800" cy="1"/>
          </a:xfrm>
          <a:prstGeom prst="line">
            <a:avLst/>
          </a:prstGeom>
          <a:ln w="25400">
            <a:solidFill>
              <a:srgbClr val="6B6258"/>
            </a:solidFill>
            <a:tailEnd type="triangle" w="med" len="med"/>
          </a:ln>
        </p:spPr>
      </p:cxnSp>
      <p:cxnSp>
        <p:nvCxnSpPr>
          <p:cNvPr id="17" name="Arrow: Registry + built-in  → Pinned safety resour"/>
          <p:cNvCxnSpPr>
            <a:stCxn id="7" idx="2"/>
            <a:endCxn id="10" idx="0"/>
          </p:cNvCxnSpPr>
          <p:nvPr/>
        </p:nvCxnSpPr>
        <p:spPr>
          <a:xfrm>
            <a:off x="10353675" y="2540000"/>
            <a:ext cx="1" cy="508000"/>
          </a:xfrm>
          <a:prstGeom prst="line">
            <a:avLst/>
          </a:prstGeom>
          <a:ln w="25400">
            <a:solidFill>
              <a:srgbClr val="6B6258"/>
            </a:solidFill>
            <a:tailEnd type="triangle" w="med" len="med"/>
          </a:ln>
        </p:spPr>
      </p:cxnSp>
      <p:cxnSp>
        <p:nvCxnSpPr>
          <p:cNvPr id="18" name="Arrow: Safety overrides ord → Render the allowed i"/>
          <p:cNvCxnSpPr>
            <a:stCxn id="9" idx="2"/>
            <a:endCxn id="11" idx="0"/>
          </p:cNvCxnSpPr>
          <p:nvPr/>
        </p:nvCxnSpPr>
        <p:spPr>
          <a:xfrm>
            <a:off x="7515225" y="4318000"/>
            <a:ext cx="1" cy="508000"/>
          </a:xfrm>
          <a:prstGeom prst="line">
            <a:avLst/>
          </a:prstGeom>
          <a:ln w="25400">
            <a:solidFill>
              <a:srgbClr val="6B6258"/>
            </a:solidFill>
            <a:tailEnd type="triangle" w="med" len="med"/>
          </a:ln>
        </p:spPr>
      </p:cxnSp>
      <p:sp>
        <p:nvSpPr>
          <p:cNvPr id="19" name="Text: The patient can't dismiss safety content"/>
          <p:cNvSpPr txBox="1"/>
          <p:nvPr/>
        </p:nvSpPr>
        <p:spPr>
          <a:xfrm>
            <a:off x="508000" y="4826000"/>
            <a:ext cx="5334000" cy="1206500"/>
          </a:xfrm>
          <a:prstGeom prst="rect">
            <a:avLst/>
          </a:prstGeom>
          <a:noFill/>
        </p:spPr>
        <p:txBody>
          <a:bodyPr wrap="square" anchor="t" lIns="0" rIns="0" tIns="0" bIns="0"/>
          <a:lstStyle/>
          <a:p>
            <a:pPr algn="l">
              <a:spcAft>
                <a:spcPts val="540"/>
              </a:spcAft>
            </a:pPr>
            <a:r>
              <a:rPr sz="1200" b="0">
                <a:solidFill>
                  <a:srgbClr val="2A2320"/>
                </a:solidFill>
                <a:latin typeface="Nunito"/>
              </a:rPr>
              <a:t>The patient can't dismiss safety content. The clinician sees the same state when they open the record. No alerts are sent in this prototype.</a:t>
            </a:r>
          </a:p>
          <a:p>
            <a:pPr algn="l">
              <a:spcAft>
                <a:spcPts val="262"/>
              </a:spcAft>
            </a:pPr>
            <a:r>
              <a:rPr sz="1050" b="0">
                <a:solidFill>
                  <a:srgbClr val="6B6258"/>
                </a:solidFill>
                <a:latin typeface="Nunito"/>
              </a:rPr>
              <a:t>Assessment may call a model; failure holds input and restricts ordinary output.</a:t>
            </a:r>
          </a:p>
          <a:p>
            <a:pPr algn="l">
              <a:spcAft>
                <a:spcPts val="262"/>
              </a:spcAft>
            </a:pPr>
            <a:r>
              <a:rPr sz="1050" b="0">
                <a:solidFill>
                  <a:srgbClr val="6B6258"/>
                </a:solidFill>
                <a:latin typeface="Nunito"/>
              </a:rPr>
              <a:t>Resources need review · no emergency monitoring or suicide-risk determination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art, cards, screenshots)" descr="image.jpg"/>
          <p:cNvPicPr>
            <a:picLocks noChangeAspect="1"/>
          </p:cNvPicPr>
          <p:nvPr/>
        </p:nvPicPr>
        <p:blipFill>
          <a:blip r:embed="rId2"/>
          <a:stretch>
            <a:fillRect/>
          </a:stretch>
        </p:blipFill>
        <p:spPr>
          <a:xfrm>
            <a:off x="0" y="0"/>
            <a:ext cx="12192000" cy="6858000"/>
          </a:xfrm>
          <a:prstGeom prst="rect">
            <a:avLst/>
          </a:prstGeom>
        </p:spPr>
      </p:pic>
      <p:sp>
        <p:nvSpPr>
          <p:cNvPr id="3" name="Text: AURA HEALTH"/>
          <p:cNvSpPr txBox="1"/>
          <p:nvPr/>
        </p:nvSpPr>
        <p:spPr>
          <a:xfrm>
            <a:off x="977900" y="384175"/>
            <a:ext cx="1531421" cy="222250"/>
          </a:xfrm>
          <a:prstGeom prst="rect">
            <a:avLst/>
          </a:prstGeom>
          <a:noFill/>
        </p:spPr>
        <p:txBody>
          <a:bodyPr wrap="square" anchor="t" lIns="0" rIns="0" tIns="0" bIns="0"/>
          <a:lstStyle/>
          <a:p>
            <a:pPr algn="l">
              <a:lnSpc>
                <a:spcPts val="1560"/>
              </a:lnSpc>
            </a:pPr>
            <a:r>
              <a:rPr sz="1300" b="1" spc="182">
                <a:solidFill>
                  <a:srgbClr val="2A2320"/>
                </a:solidFill>
                <a:latin typeface="Nunito"/>
              </a:rPr>
              <a:t>AURA HEALTH</a:t>
            </a:r>
          </a:p>
        </p:txBody>
      </p:sp>
      <p:sp>
        <p:nvSpPr>
          <p:cNvPr id="4" name="Text: KEY DESIGN TRADE-OFFS"/>
          <p:cNvSpPr txBox="1"/>
          <p:nvPr/>
        </p:nvSpPr>
        <p:spPr>
          <a:xfrm>
            <a:off x="609600" y="952500"/>
            <a:ext cx="11437112" cy="203200"/>
          </a:xfrm>
          <a:prstGeom prst="rect">
            <a:avLst/>
          </a:prstGeom>
          <a:noFill/>
        </p:spPr>
        <p:txBody>
          <a:bodyPr wrap="square" anchor="t" lIns="0" rIns="0" tIns="0" bIns="0"/>
          <a:lstStyle/>
          <a:p>
            <a:pPr algn="l">
              <a:lnSpc>
                <a:spcPts val="1439"/>
              </a:lnSpc>
            </a:pPr>
            <a:r>
              <a:rPr sz="1200" b="1" spc="168">
                <a:solidFill>
                  <a:srgbClr val="9C5700"/>
                </a:solidFill>
                <a:latin typeface="Nunito"/>
              </a:rPr>
              <a:t>KEY DESIGN TRADE-OFFS</a:t>
            </a:r>
          </a:p>
        </p:txBody>
      </p:sp>
      <p:sp>
        <p:nvSpPr>
          <p:cNvPr id="5" name="Text: Signals propose, rules decide, AI words "/>
          <p:cNvSpPr txBox="1"/>
          <p:nvPr/>
        </p:nvSpPr>
        <p:spPr>
          <a:xfrm>
            <a:off x="609600" y="1244600"/>
            <a:ext cx="11437112" cy="405130"/>
          </a:xfrm>
          <a:prstGeom prst="rect">
            <a:avLst/>
          </a:prstGeom>
          <a:noFill/>
        </p:spPr>
        <p:txBody>
          <a:bodyPr wrap="square" anchor="t" lIns="0" rIns="0" tIns="0" bIns="0"/>
          <a:lstStyle/>
          <a:p>
            <a:pPr algn="l">
              <a:lnSpc>
                <a:spcPts val="3190"/>
              </a:lnSpc>
            </a:pPr>
            <a:r>
              <a:rPr sz="2900" b="1" spc="-44">
                <a:solidFill>
                  <a:srgbClr val="2A2320"/>
                </a:solidFill>
                <a:latin typeface="Nunito"/>
              </a:rPr>
              <a:t>Signals propose, rules decide, AI words it</a:t>
            </a:r>
          </a:p>
        </p:txBody>
      </p:sp>
      <p:sp>
        <p:nvSpPr>
          <p:cNvPr id="6" name="Text: Deterministic state, flexible language —"/>
          <p:cNvSpPr txBox="1"/>
          <p:nvPr/>
        </p:nvSpPr>
        <p:spPr>
          <a:xfrm>
            <a:off x="876300" y="1903710"/>
            <a:ext cx="9654032" cy="568920"/>
          </a:xfrm>
          <a:prstGeom prst="rect">
            <a:avLst/>
          </a:prstGeom>
          <a:noFill/>
        </p:spPr>
        <p:txBody>
          <a:bodyPr wrap="square" anchor="t" lIns="0" rIns="0" tIns="0" bIns="0"/>
          <a:lstStyle/>
          <a:p>
            <a:pPr algn="l">
              <a:lnSpc>
                <a:spcPts val="2240"/>
              </a:lnSpc>
            </a:pPr>
            <a:r>
              <a:rPr sz="1600" b="1">
                <a:solidFill>
                  <a:srgbClr val="2A2320"/>
                </a:solidFill>
                <a:latin typeface="Nunito"/>
              </a:rPr>
              <a:t>Deterministic state, flexible language</a:t>
            </a:r>
            <a:r>
              <a:rPr sz="1600" b="0">
                <a:solidFill>
                  <a:srgbClr val="2A2320"/>
                </a:solidFill>
                <a:latin typeface="Nunito"/>
              </a:rPr>
              <a:t> — engines own personal baselines and safety; AI writes words and investigates.</a:t>
            </a:r>
          </a:p>
        </p:txBody>
      </p:sp>
      <p:sp>
        <p:nvSpPr>
          <p:cNvPr id="7" name="Text: Quiet patient surface, deep clinician in"/>
          <p:cNvSpPr txBox="1"/>
          <p:nvPr/>
        </p:nvSpPr>
        <p:spPr>
          <a:xfrm>
            <a:off x="876300" y="2637730"/>
            <a:ext cx="9654032" cy="568920"/>
          </a:xfrm>
          <a:prstGeom prst="rect">
            <a:avLst/>
          </a:prstGeom>
          <a:noFill/>
        </p:spPr>
        <p:txBody>
          <a:bodyPr wrap="square" anchor="t" lIns="0" rIns="0" tIns="0" bIns="0"/>
          <a:lstStyle/>
          <a:p>
            <a:pPr algn="l">
              <a:lnSpc>
                <a:spcPts val="2240"/>
              </a:lnSpc>
            </a:pPr>
            <a:r>
              <a:rPr sz="1600" b="1">
                <a:solidFill>
                  <a:srgbClr val="2A2320"/>
                </a:solidFill>
                <a:latin typeface="Nunito"/>
              </a:rPr>
              <a:t>Quiet patient surface, deep clinician inspection</a:t>
            </a:r>
            <a:r>
              <a:rPr sz="1600" b="0">
                <a:solidFill>
                  <a:srgbClr val="2A2320"/>
                </a:solidFill>
                <a:latin typeface="Nunito"/>
              </a:rPr>
              <a:t> — one record, two views; the patient decides what the clinician sees.</a:t>
            </a:r>
          </a:p>
        </p:txBody>
      </p:sp>
      <p:sp>
        <p:nvSpPr>
          <p:cNvPr id="8" name="Text: Strict checks, honest fallback — numbers"/>
          <p:cNvSpPr txBox="1"/>
          <p:nvPr/>
        </p:nvSpPr>
        <p:spPr>
          <a:xfrm>
            <a:off x="876300" y="3371750"/>
            <a:ext cx="9654032" cy="568920"/>
          </a:xfrm>
          <a:prstGeom prst="rect">
            <a:avLst/>
          </a:prstGeom>
          <a:noFill/>
        </p:spPr>
        <p:txBody>
          <a:bodyPr wrap="square" anchor="t" lIns="0" rIns="0" tIns="0" bIns="0"/>
          <a:lstStyle/>
          <a:p>
            <a:pPr algn="l">
              <a:lnSpc>
                <a:spcPts val="2240"/>
              </a:lnSpc>
            </a:pPr>
            <a:r>
              <a:rPr sz="1600" b="1">
                <a:solidFill>
                  <a:srgbClr val="2A2320"/>
                </a:solidFill>
                <a:latin typeface="Nunito"/>
              </a:rPr>
              <a:t>Strict checks, honest fallback</a:t>
            </a:r>
            <a:r>
              <a:rPr sz="1600" b="0">
                <a:solidFill>
                  <a:srgbClr val="2A2320"/>
                </a:solidFill>
                <a:latin typeface="Nunito"/>
              </a:rPr>
              <a:t> — numbers, dates and citations are checked plus an independent verifier; failures show related facts and say why.</a:t>
            </a:r>
          </a:p>
        </p:txBody>
      </p:sp>
      <p:sp>
        <p:nvSpPr>
          <p:cNvPr id="9" name="Text: Curated medication information — AI only"/>
          <p:cNvSpPr txBox="1"/>
          <p:nvPr/>
        </p:nvSpPr>
        <p:spPr>
          <a:xfrm>
            <a:off x="876300" y="4105771"/>
            <a:ext cx="8042656" cy="284480"/>
          </a:xfrm>
          <a:prstGeom prst="rect">
            <a:avLst/>
          </a:prstGeom>
          <a:noFill/>
        </p:spPr>
        <p:txBody>
          <a:bodyPr wrap="square" anchor="t" lIns="0" rIns="0" tIns="0" bIns="0"/>
          <a:lstStyle/>
          <a:p>
            <a:pPr algn="l">
              <a:lnSpc>
                <a:spcPts val="2240"/>
              </a:lnSpc>
            </a:pPr>
            <a:r>
              <a:rPr sz="1600" b="1">
                <a:solidFill>
                  <a:srgbClr val="2A2320"/>
                </a:solidFill>
                <a:latin typeface="Nunito"/>
              </a:rPr>
              <a:t>Curated medication information</a:t>
            </a:r>
            <a:r>
              <a:rPr sz="1600" b="0">
                <a:solidFill>
                  <a:srgbClr val="2A2320"/>
                </a:solidFill>
                <a:latin typeface="Nunito"/>
              </a:rPr>
              <a:t> — AI only matches a question to an approved topic.</a:t>
            </a:r>
          </a:p>
        </p:txBody>
      </p:sp>
      <p:sp>
        <p:nvSpPr>
          <p:cNvPr id="10" name="Text: Synthetic data now, private hosting late"/>
          <p:cNvSpPr txBox="1"/>
          <p:nvPr/>
        </p:nvSpPr>
        <p:spPr>
          <a:xfrm>
            <a:off x="876300" y="4555331"/>
            <a:ext cx="9654032" cy="568920"/>
          </a:xfrm>
          <a:prstGeom prst="rect">
            <a:avLst/>
          </a:prstGeom>
          <a:noFill/>
        </p:spPr>
        <p:txBody>
          <a:bodyPr wrap="square" anchor="t" lIns="0" rIns="0" tIns="0" bIns="0"/>
          <a:lstStyle/>
          <a:p>
            <a:pPr algn="l">
              <a:lnSpc>
                <a:spcPts val="2240"/>
              </a:lnSpc>
            </a:pPr>
            <a:r>
              <a:rPr sz="1600" b="1">
                <a:solidFill>
                  <a:srgbClr val="2A2320"/>
                </a:solidFill>
                <a:latin typeface="Nunito"/>
              </a:rPr>
              <a:t>Synthetic data now, private hosting later</a:t>
            </a:r>
            <a:r>
              <a:rPr sz="1600" b="0">
                <a:solidFill>
                  <a:srgbClr val="2A2320"/>
                </a:solidFill>
                <a:latin typeface="Nunito"/>
              </a:rPr>
              <a:t> — a hospital would run the model on its own infrastructure.</a:t>
            </a:r>
          </a:p>
        </p:txBody>
      </p:sp>
      <p:sp>
        <p:nvSpPr>
          <p:cNvPr id="11" name="Text: Healthcare track · Challenge Statement 2"/>
          <p:cNvSpPr txBox="1"/>
          <p:nvPr/>
        </p:nvSpPr>
        <p:spPr>
          <a:xfrm>
            <a:off x="609600" y="6388100"/>
            <a:ext cx="3591560" cy="190500"/>
          </a:xfrm>
          <a:prstGeom prst="rect">
            <a:avLst/>
          </a:prstGeom>
          <a:noFill/>
        </p:spPr>
        <p:txBody>
          <a:bodyPr wrap="square" anchor="t" lIns="0" rIns="0" tIns="0" bIns="0"/>
          <a:lstStyle/>
          <a:p>
            <a:pPr algn="l">
              <a:lnSpc>
                <a:spcPts val="1320"/>
              </a:lnSpc>
            </a:pPr>
            <a:r>
              <a:rPr sz="1100" b="0">
                <a:solidFill>
                  <a:srgbClr val="7A7066"/>
                </a:solidFill>
                <a:latin typeface="Nunito"/>
              </a:rPr>
              <a:t>Healthcare track · Challenge Statement 2 · Scenario 1</a:t>
            </a:r>
          </a:p>
        </p:txBody>
      </p:sp>
      <p:sp>
        <p:nvSpPr>
          <p:cNvPr id="12" name="Text: Synthetic demo data · aura-health.makode"/>
          <p:cNvSpPr txBox="1"/>
          <p:nvPr/>
        </p:nvSpPr>
        <p:spPr>
          <a:xfrm>
            <a:off x="8350250" y="6388100"/>
            <a:ext cx="3386836" cy="190500"/>
          </a:xfrm>
          <a:prstGeom prst="rect">
            <a:avLst/>
          </a:prstGeom>
          <a:noFill/>
        </p:spPr>
        <p:txBody>
          <a:bodyPr wrap="square" anchor="t" lIns="0" rIns="0" tIns="0" bIns="0"/>
          <a:lstStyle/>
          <a:p>
            <a:pPr algn="l">
              <a:lnSpc>
                <a:spcPts val="1320"/>
              </a:lnSpc>
            </a:pPr>
            <a:r>
              <a:rPr sz="1100" b="0">
                <a:solidFill>
                  <a:srgbClr val="7A7066"/>
                </a:solidFill>
                <a:latin typeface="Nunito"/>
              </a:rPr>
              <a:t>Synthetic demo data · aura-health.makodev58.com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art, cards, screenshots)" descr="image.jpg"/>
          <p:cNvPicPr>
            <a:picLocks noChangeAspect="1"/>
          </p:cNvPicPr>
          <p:nvPr/>
        </p:nvPicPr>
        <p:blipFill>
          <a:blip r:embed="rId2"/>
          <a:stretch>
            <a:fillRect/>
          </a:stretch>
        </p:blipFill>
        <p:spPr>
          <a:xfrm>
            <a:off x="0" y="0"/>
            <a:ext cx="12192000" cy="6858000"/>
          </a:xfrm>
          <a:prstGeom prst="rect">
            <a:avLst/>
          </a:prstGeom>
        </p:spPr>
      </p:pic>
      <p:sp>
        <p:nvSpPr>
          <p:cNvPr id="3" name="Text: AURA HEALTH"/>
          <p:cNvSpPr txBox="1"/>
          <p:nvPr/>
        </p:nvSpPr>
        <p:spPr>
          <a:xfrm>
            <a:off x="977900" y="384175"/>
            <a:ext cx="1531421" cy="222250"/>
          </a:xfrm>
          <a:prstGeom prst="rect">
            <a:avLst/>
          </a:prstGeom>
          <a:noFill/>
        </p:spPr>
        <p:txBody>
          <a:bodyPr wrap="square" anchor="t" lIns="0" rIns="0" tIns="0" bIns="0"/>
          <a:lstStyle/>
          <a:p>
            <a:pPr algn="l">
              <a:lnSpc>
                <a:spcPts val="1560"/>
              </a:lnSpc>
            </a:pPr>
            <a:r>
              <a:rPr sz="1300" b="1" spc="182">
                <a:solidFill>
                  <a:srgbClr val="2A2320"/>
                </a:solidFill>
                <a:latin typeface="Nunito"/>
              </a:rPr>
              <a:t>AURA HEALTH</a:t>
            </a:r>
          </a:p>
        </p:txBody>
      </p:sp>
      <p:sp>
        <p:nvSpPr>
          <p:cNvPr id="4" name="Text: FIT WITH THE CHALLENGE"/>
          <p:cNvSpPr txBox="1"/>
          <p:nvPr/>
        </p:nvSpPr>
        <p:spPr>
          <a:xfrm>
            <a:off x="609600" y="825500"/>
            <a:ext cx="11437112" cy="203200"/>
          </a:xfrm>
          <a:prstGeom prst="rect">
            <a:avLst/>
          </a:prstGeom>
          <a:noFill/>
        </p:spPr>
        <p:txBody>
          <a:bodyPr wrap="square" anchor="t" lIns="0" rIns="0" tIns="0" bIns="0"/>
          <a:lstStyle/>
          <a:p>
            <a:pPr algn="l">
              <a:lnSpc>
                <a:spcPts val="1439"/>
              </a:lnSpc>
            </a:pPr>
            <a:r>
              <a:rPr sz="1200" b="1" spc="168">
                <a:solidFill>
                  <a:srgbClr val="9C5700"/>
                </a:solidFill>
                <a:latin typeface="Nunito"/>
              </a:rPr>
              <a:t>FIT WITH THE CHALLENGE</a:t>
            </a:r>
          </a:p>
        </p:txBody>
      </p:sp>
      <p:sp>
        <p:nvSpPr>
          <p:cNvPr id="5" name="Text: Six features the challenge asks for"/>
          <p:cNvSpPr txBox="1"/>
          <p:nvPr/>
        </p:nvSpPr>
        <p:spPr>
          <a:xfrm>
            <a:off x="609600" y="1117600"/>
            <a:ext cx="11437112" cy="349250"/>
          </a:xfrm>
          <a:prstGeom prst="rect">
            <a:avLst/>
          </a:prstGeom>
          <a:noFill/>
        </p:spPr>
        <p:txBody>
          <a:bodyPr wrap="square" anchor="t" lIns="0" rIns="0" tIns="0" bIns="0"/>
          <a:lstStyle/>
          <a:p>
            <a:pPr algn="l">
              <a:lnSpc>
                <a:spcPts val="2750"/>
              </a:lnSpc>
            </a:pPr>
            <a:r>
              <a:rPr sz="2500" b="1" spc="-38">
                <a:solidFill>
                  <a:srgbClr val="2A2320"/>
                </a:solidFill>
                <a:latin typeface="Nunito"/>
              </a:rPr>
              <a:t>Six features the challenge asks for</a:t>
            </a:r>
          </a:p>
        </p:txBody>
      </p:sp>
      <p:sp>
        <p:nvSpPr>
          <p:cNvPr id="6" name="Text: Medication understanding"/>
          <p:cNvSpPr txBox="1"/>
          <p:nvPr/>
        </p:nvSpPr>
        <p:spPr>
          <a:xfrm>
            <a:off x="749300" y="1682750"/>
            <a:ext cx="2508504" cy="445690"/>
          </a:xfrm>
          <a:prstGeom prst="rect">
            <a:avLst/>
          </a:prstGeom>
          <a:noFill/>
        </p:spPr>
        <p:txBody>
          <a:bodyPr wrap="square" anchor="t" lIns="0" rIns="0" tIns="0" bIns="0"/>
          <a:lstStyle/>
          <a:p>
            <a:pPr algn="l">
              <a:lnSpc>
                <a:spcPts val="1755"/>
              </a:lnSpc>
            </a:pPr>
            <a:r>
              <a:rPr sz="1350" b="1">
                <a:solidFill>
                  <a:srgbClr val="2A2320"/>
                </a:solidFill>
                <a:latin typeface="Nunito"/>
              </a:rPr>
              <a:t>Medication understanding</a:t>
            </a:r>
          </a:p>
        </p:txBody>
      </p:sp>
      <p:sp>
        <p:nvSpPr>
          <p:cNvPr id="7" name="Text: Approved information about the person's "/>
          <p:cNvSpPr txBox="1"/>
          <p:nvPr/>
        </p:nvSpPr>
        <p:spPr>
          <a:xfrm>
            <a:off x="3416300" y="1682750"/>
            <a:ext cx="6853936" cy="445690"/>
          </a:xfrm>
          <a:prstGeom prst="rect">
            <a:avLst/>
          </a:prstGeom>
          <a:noFill/>
        </p:spPr>
        <p:txBody>
          <a:bodyPr wrap="square" anchor="t" lIns="0" rIns="0" tIns="0" bIns="0"/>
          <a:lstStyle/>
          <a:p>
            <a:pPr algn="l">
              <a:lnSpc>
                <a:spcPts val="1755"/>
              </a:lnSpc>
            </a:pPr>
            <a:r>
              <a:rPr sz="1350" b="0">
                <a:solidFill>
                  <a:srgbClr val="2A2320"/>
                </a:solidFill>
                <a:latin typeface="Nunito"/>
              </a:rPr>
              <a:t>Approved information about the person's own prescription; AI matches a question to an approved topic; honest “check with your pharmacist” when it can't answer</a:t>
            </a:r>
          </a:p>
        </p:txBody>
      </p:sp>
      <p:sp>
        <p:nvSpPr>
          <p:cNvPr id="8" name="Text: Built"/>
          <p:cNvSpPr txBox="1"/>
          <p:nvPr/>
        </p:nvSpPr>
        <p:spPr>
          <a:xfrm>
            <a:off x="10664444" y="1720850"/>
            <a:ext cx="375412" cy="189865"/>
          </a:xfrm>
          <a:prstGeom prst="rect">
            <a:avLst/>
          </a:prstGeom>
          <a:noFill/>
        </p:spPr>
        <p:txBody>
          <a:bodyPr wrap="square" anchor="t" lIns="0" rIns="0" tIns="0" bIns="0"/>
          <a:lstStyle/>
          <a:p>
            <a:pPr algn="ctr">
              <a:lnSpc>
                <a:spcPts val="1495"/>
              </a:lnSpc>
            </a:pPr>
            <a:r>
              <a:rPr sz="1150" b="1">
                <a:solidFill>
                  <a:srgbClr val="2F6B3D"/>
                </a:solidFill>
                <a:latin typeface="Nunito"/>
              </a:rPr>
              <a:t>Built</a:t>
            </a:r>
          </a:p>
        </p:txBody>
      </p:sp>
      <p:sp>
        <p:nvSpPr>
          <p:cNvPr id="9" name="Text: Medication management"/>
          <p:cNvSpPr txBox="1"/>
          <p:nvPr/>
        </p:nvSpPr>
        <p:spPr>
          <a:xfrm>
            <a:off x="749300" y="2407840"/>
            <a:ext cx="2508504" cy="266005"/>
          </a:xfrm>
          <a:prstGeom prst="rect">
            <a:avLst/>
          </a:prstGeom>
          <a:noFill/>
        </p:spPr>
        <p:txBody>
          <a:bodyPr wrap="square" anchor="t" lIns="0" rIns="0" tIns="0" bIns="0"/>
          <a:lstStyle/>
          <a:p>
            <a:pPr algn="l">
              <a:lnSpc>
                <a:spcPts val="1755"/>
              </a:lnSpc>
            </a:pPr>
            <a:r>
              <a:rPr sz="1350" b="1">
                <a:solidFill>
                  <a:srgbClr val="2A2320"/>
                </a:solidFill>
                <a:latin typeface="Nunito"/>
              </a:rPr>
              <a:t>Medication management</a:t>
            </a:r>
          </a:p>
        </p:txBody>
      </p:sp>
      <p:sp>
        <p:nvSpPr>
          <p:cNvPr id="10" name="Text: One tap a day: taken, not yet, skipped ("/>
          <p:cNvSpPr txBox="1"/>
          <p:nvPr/>
        </p:nvSpPr>
        <p:spPr>
          <a:xfrm>
            <a:off x="3416300" y="2407840"/>
            <a:ext cx="6853936" cy="266005"/>
          </a:xfrm>
          <a:prstGeom prst="rect">
            <a:avLst/>
          </a:prstGeom>
          <a:noFill/>
        </p:spPr>
        <p:txBody>
          <a:bodyPr wrap="square" anchor="t" lIns="0" rIns="0" tIns="0" bIns="0"/>
          <a:lstStyle/>
          <a:p>
            <a:pPr algn="l">
              <a:lnSpc>
                <a:spcPts val="1755"/>
              </a:lnSpc>
            </a:pPr>
            <a:r>
              <a:rPr sz="1350" b="0">
                <a:solidFill>
                  <a:srgbClr val="2A2320"/>
                </a:solidFill>
                <a:latin typeface="Nunito"/>
              </a:rPr>
              <a:t>One tap a day: taken, not yet, skipped (no push reminders yet)</a:t>
            </a:r>
          </a:p>
        </p:txBody>
      </p:sp>
      <p:sp>
        <p:nvSpPr>
          <p:cNvPr id="11" name="Text: In the demo"/>
          <p:cNvSpPr txBox="1"/>
          <p:nvPr/>
        </p:nvSpPr>
        <p:spPr>
          <a:xfrm>
            <a:off x="10410190" y="2445940"/>
            <a:ext cx="883920" cy="189865"/>
          </a:xfrm>
          <a:prstGeom prst="rect">
            <a:avLst/>
          </a:prstGeom>
          <a:noFill/>
        </p:spPr>
        <p:txBody>
          <a:bodyPr wrap="square" anchor="t" lIns="0" rIns="0" tIns="0" bIns="0"/>
          <a:lstStyle/>
          <a:p>
            <a:pPr algn="ctr">
              <a:lnSpc>
                <a:spcPts val="1495"/>
              </a:lnSpc>
            </a:pPr>
            <a:r>
              <a:rPr sz="1150" b="1">
                <a:solidFill>
                  <a:srgbClr val="2F6B3D"/>
                </a:solidFill>
                <a:latin typeface="Nunito"/>
              </a:rPr>
              <a:t>In the demo</a:t>
            </a:r>
          </a:p>
        </p:txBody>
      </p:sp>
      <p:sp>
        <p:nvSpPr>
          <p:cNvPr id="12" name="Text: Adherence support"/>
          <p:cNvSpPr txBox="1"/>
          <p:nvPr/>
        </p:nvSpPr>
        <p:spPr>
          <a:xfrm>
            <a:off x="749300" y="2953246"/>
            <a:ext cx="2508504" cy="266005"/>
          </a:xfrm>
          <a:prstGeom prst="rect">
            <a:avLst/>
          </a:prstGeom>
          <a:noFill/>
        </p:spPr>
        <p:txBody>
          <a:bodyPr wrap="square" anchor="t" lIns="0" rIns="0" tIns="0" bIns="0"/>
          <a:lstStyle/>
          <a:p>
            <a:pPr algn="l">
              <a:lnSpc>
                <a:spcPts val="1755"/>
              </a:lnSpc>
            </a:pPr>
            <a:r>
              <a:rPr sz="1350" b="1">
                <a:solidFill>
                  <a:srgbClr val="2A2320"/>
                </a:solidFill>
                <a:latin typeface="Nunito"/>
              </a:rPr>
              <a:t>Adherence support</a:t>
            </a:r>
          </a:p>
        </p:txBody>
      </p:sp>
      <p:sp>
        <p:nvSpPr>
          <p:cNvPr id="13" name="Text: “What got in the way?” reasons, carried "/>
          <p:cNvSpPr txBox="1"/>
          <p:nvPr/>
        </p:nvSpPr>
        <p:spPr>
          <a:xfrm>
            <a:off x="3416300" y="2953246"/>
            <a:ext cx="6853936" cy="266005"/>
          </a:xfrm>
          <a:prstGeom prst="rect">
            <a:avLst/>
          </a:prstGeom>
          <a:noFill/>
        </p:spPr>
        <p:txBody>
          <a:bodyPr wrap="square" anchor="t" lIns="0" rIns="0" tIns="0" bIns="0"/>
          <a:lstStyle/>
          <a:p>
            <a:pPr algn="l">
              <a:lnSpc>
                <a:spcPts val="1755"/>
              </a:lnSpc>
            </a:pPr>
            <a:r>
              <a:rPr sz="1350" b="0">
                <a:solidFill>
                  <a:srgbClr val="2A2320"/>
                </a:solidFill>
                <a:latin typeface="Nunito"/>
              </a:rPr>
              <a:t>“What got in the way?” reasons, carried to the visit note</a:t>
            </a:r>
          </a:p>
        </p:txBody>
      </p:sp>
      <p:sp>
        <p:nvSpPr>
          <p:cNvPr id="14" name="Text: In the demo"/>
          <p:cNvSpPr txBox="1"/>
          <p:nvPr/>
        </p:nvSpPr>
        <p:spPr>
          <a:xfrm>
            <a:off x="10410190" y="2991346"/>
            <a:ext cx="883920" cy="189865"/>
          </a:xfrm>
          <a:prstGeom prst="rect">
            <a:avLst/>
          </a:prstGeom>
          <a:noFill/>
        </p:spPr>
        <p:txBody>
          <a:bodyPr wrap="square" anchor="t" lIns="0" rIns="0" tIns="0" bIns="0"/>
          <a:lstStyle/>
          <a:p>
            <a:pPr algn="ctr">
              <a:lnSpc>
                <a:spcPts val="1495"/>
              </a:lnSpc>
            </a:pPr>
            <a:r>
              <a:rPr sz="1150" b="1">
                <a:solidFill>
                  <a:srgbClr val="2F6B3D"/>
                </a:solidFill>
                <a:latin typeface="Nunito"/>
              </a:rPr>
              <a:t>In the demo</a:t>
            </a:r>
          </a:p>
        </p:txBody>
      </p:sp>
      <p:sp>
        <p:nvSpPr>
          <p:cNvPr id="15" name="Text: Health tracking"/>
          <p:cNvSpPr txBox="1"/>
          <p:nvPr/>
        </p:nvSpPr>
        <p:spPr>
          <a:xfrm>
            <a:off x="749300" y="3498651"/>
            <a:ext cx="2508504" cy="266005"/>
          </a:xfrm>
          <a:prstGeom prst="rect">
            <a:avLst/>
          </a:prstGeom>
          <a:noFill/>
        </p:spPr>
        <p:txBody>
          <a:bodyPr wrap="square" anchor="t" lIns="0" rIns="0" tIns="0" bIns="0"/>
          <a:lstStyle/>
          <a:p>
            <a:pPr algn="l">
              <a:lnSpc>
                <a:spcPts val="1755"/>
              </a:lnSpc>
            </a:pPr>
            <a:r>
              <a:rPr sz="1350" b="1">
                <a:solidFill>
                  <a:srgbClr val="2A2320"/>
                </a:solidFill>
                <a:latin typeface="Nunito"/>
              </a:rPr>
              <a:t>Health tracking</a:t>
            </a:r>
          </a:p>
        </p:txBody>
      </p:sp>
      <p:sp>
        <p:nvSpPr>
          <p:cNvPr id="16" name="Text: Wearable signals against the person's ow"/>
          <p:cNvSpPr txBox="1"/>
          <p:nvPr/>
        </p:nvSpPr>
        <p:spPr>
          <a:xfrm>
            <a:off x="3416300" y="3498651"/>
            <a:ext cx="6853936" cy="266005"/>
          </a:xfrm>
          <a:prstGeom prst="rect">
            <a:avLst/>
          </a:prstGeom>
          <a:noFill/>
        </p:spPr>
        <p:txBody>
          <a:bodyPr wrap="square" anchor="t" lIns="0" rIns="0" tIns="0" bIns="0"/>
          <a:lstStyle/>
          <a:p>
            <a:pPr algn="l">
              <a:lnSpc>
                <a:spcPts val="1755"/>
              </a:lnSpc>
            </a:pPr>
            <a:r>
              <a:rPr sz="1350" b="0">
                <a:solidFill>
                  <a:srgbClr val="2A2320"/>
                </a:solidFill>
                <a:latin typeface="Nunito"/>
              </a:rPr>
              <a:t>Wearable signals against the person's own usual and recent pattern</a:t>
            </a:r>
          </a:p>
        </p:txBody>
      </p:sp>
      <p:sp>
        <p:nvSpPr>
          <p:cNvPr id="17" name="Text: Built"/>
          <p:cNvSpPr txBox="1"/>
          <p:nvPr/>
        </p:nvSpPr>
        <p:spPr>
          <a:xfrm>
            <a:off x="10664444" y="3536751"/>
            <a:ext cx="375412" cy="189865"/>
          </a:xfrm>
          <a:prstGeom prst="rect">
            <a:avLst/>
          </a:prstGeom>
          <a:noFill/>
        </p:spPr>
        <p:txBody>
          <a:bodyPr wrap="square" anchor="t" lIns="0" rIns="0" tIns="0" bIns="0"/>
          <a:lstStyle/>
          <a:p>
            <a:pPr algn="ctr">
              <a:lnSpc>
                <a:spcPts val="1495"/>
              </a:lnSpc>
            </a:pPr>
            <a:r>
              <a:rPr sz="1150" b="1">
                <a:solidFill>
                  <a:srgbClr val="2F6B3D"/>
                </a:solidFill>
                <a:latin typeface="Nunito"/>
              </a:rPr>
              <a:t>Built</a:t>
            </a:r>
          </a:p>
        </p:txBody>
      </p:sp>
      <p:sp>
        <p:nvSpPr>
          <p:cNvPr id="18" name="Text: Preventive health"/>
          <p:cNvSpPr txBox="1"/>
          <p:nvPr/>
        </p:nvSpPr>
        <p:spPr>
          <a:xfrm>
            <a:off x="749300" y="4044057"/>
            <a:ext cx="2508504" cy="266005"/>
          </a:xfrm>
          <a:prstGeom prst="rect">
            <a:avLst/>
          </a:prstGeom>
          <a:noFill/>
        </p:spPr>
        <p:txBody>
          <a:bodyPr wrap="square" anchor="t" lIns="0" rIns="0" tIns="0" bIns="0"/>
          <a:lstStyle/>
          <a:p>
            <a:pPr algn="l">
              <a:lnSpc>
                <a:spcPts val="1755"/>
              </a:lnSpc>
            </a:pPr>
            <a:r>
              <a:rPr sz="1350" b="1">
                <a:solidFill>
                  <a:srgbClr val="2A2320"/>
                </a:solidFill>
                <a:latin typeface="Nunito"/>
              </a:rPr>
              <a:t>Preventive health</a:t>
            </a:r>
          </a:p>
        </p:txBody>
      </p:sp>
      <p:sp>
        <p:nvSpPr>
          <p:cNvPr id="19" name="Text: Refill and medication-review dates; scre"/>
          <p:cNvSpPr txBox="1"/>
          <p:nvPr/>
        </p:nvSpPr>
        <p:spPr>
          <a:xfrm>
            <a:off x="3416300" y="4044057"/>
            <a:ext cx="6853936" cy="266005"/>
          </a:xfrm>
          <a:prstGeom prst="rect">
            <a:avLst/>
          </a:prstGeom>
          <a:noFill/>
        </p:spPr>
        <p:txBody>
          <a:bodyPr wrap="square" anchor="t" lIns="0" rIns="0" tIns="0" bIns="0"/>
          <a:lstStyle/>
          <a:p>
            <a:pPr algn="l">
              <a:lnSpc>
                <a:spcPts val="1755"/>
              </a:lnSpc>
            </a:pPr>
            <a:r>
              <a:rPr sz="1350" b="0">
                <a:solidFill>
                  <a:srgbClr val="2A2320"/>
                </a:solidFill>
                <a:latin typeface="Nunito"/>
              </a:rPr>
              <a:t>Refill and medication-review dates; screenings and vaccinations not yet</a:t>
            </a:r>
          </a:p>
        </p:txBody>
      </p:sp>
      <p:sp>
        <p:nvSpPr>
          <p:cNvPr id="20" name="Text: Partial"/>
          <p:cNvSpPr txBox="1"/>
          <p:nvPr/>
        </p:nvSpPr>
        <p:spPr>
          <a:xfrm>
            <a:off x="10598404" y="4082157"/>
            <a:ext cx="507492" cy="189865"/>
          </a:xfrm>
          <a:prstGeom prst="rect">
            <a:avLst/>
          </a:prstGeom>
          <a:noFill/>
        </p:spPr>
        <p:txBody>
          <a:bodyPr wrap="square" anchor="t" lIns="0" rIns="0" tIns="0" bIns="0"/>
          <a:lstStyle/>
          <a:p>
            <a:pPr algn="ctr">
              <a:lnSpc>
                <a:spcPts val="1495"/>
              </a:lnSpc>
            </a:pPr>
            <a:r>
              <a:rPr sz="1150" b="1">
                <a:solidFill>
                  <a:srgbClr val="8A5A00"/>
                </a:solidFill>
                <a:latin typeface="Nunito"/>
              </a:rPr>
              <a:t>Partial</a:t>
            </a:r>
          </a:p>
        </p:txBody>
      </p:sp>
      <p:sp>
        <p:nvSpPr>
          <p:cNvPr id="21" name="Text: Healthcare preparation"/>
          <p:cNvSpPr txBox="1"/>
          <p:nvPr/>
        </p:nvSpPr>
        <p:spPr>
          <a:xfrm>
            <a:off x="749300" y="4589462"/>
            <a:ext cx="2508504" cy="266005"/>
          </a:xfrm>
          <a:prstGeom prst="rect">
            <a:avLst/>
          </a:prstGeom>
          <a:noFill/>
        </p:spPr>
        <p:txBody>
          <a:bodyPr wrap="square" anchor="t" lIns="0" rIns="0" tIns="0" bIns="0"/>
          <a:lstStyle/>
          <a:p>
            <a:pPr algn="l">
              <a:lnSpc>
                <a:spcPts val="1755"/>
              </a:lnSpc>
            </a:pPr>
            <a:r>
              <a:rPr sz="1350" b="1">
                <a:solidFill>
                  <a:srgbClr val="2A2320"/>
                </a:solidFill>
                <a:latin typeface="Nunito"/>
              </a:rPr>
              <a:t>Healthcare preparation</a:t>
            </a:r>
          </a:p>
        </p:txBody>
      </p:sp>
      <p:sp>
        <p:nvSpPr>
          <p:cNvPr id="22" name="Text: Visit note with changes and missed doses"/>
          <p:cNvSpPr txBox="1"/>
          <p:nvPr/>
        </p:nvSpPr>
        <p:spPr>
          <a:xfrm>
            <a:off x="3416300" y="4589462"/>
            <a:ext cx="6853936" cy="266005"/>
          </a:xfrm>
          <a:prstGeom prst="rect">
            <a:avLst/>
          </a:prstGeom>
          <a:noFill/>
        </p:spPr>
        <p:txBody>
          <a:bodyPr wrap="square" anchor="t" lIns="0" rIns="0" tIns="0" bIns="0"/>
          <a:lstStyle/>
          <a:p>
            <a:pPr algn="l">
              <a:lnSpc>
                <a:spcPts val="1755"/>
              </a:lnSpc>
            </a:pPr>
            <a:r>
              <a:rPr sz="1350" b="0">
                <a:solidFill>
                  <a:srgbClr val="2A2320"/>
                </a:solidFill>
                <a:latin typeface="Nunito"/>
              </a:rPr>
              <a:t>Visit note with changes and missed doses, Not sent until the patient decides</a:t>
            </a:r>
          </a:p>
        </p:txBody>
      </p:sp>
      <p:sp>
        <p:nvSpPr>
          <p:cNvPr id="23" name="Text: Built"/>
          <p:cNvSpPr txBox="1"/>
          <p:nvPr/>
        </p:nvSpPr>
        <p:spPr>
          <a:xfrm>
            <a:off x="10664444" y="4627562"/>
            <a:ext cx="375412" cy="189865"/>
          </a:xfrm>
          <a:prstGeom prst="rect">
            <a:avLst/>
          </a:prstGeom>
          <a:noFill/>
        </p:spPr>
        <p:txBody>
          <a:bodyPr wrap="square" anchor="t" lIns="0" rIns="0" tIns="0" bIns="0"/>
          <a:lstStyle/>
          <a:p>
            <a:pPr algn="ctr">
              <a:lnSpc>
                <a:spcPts val="1495"/>
              </a:lnSpc>
            </a:pPr>
            <a:r>
              <a:rPr sz="1150" b="1">
                <a:solidFill>
                  <a:srgbClr val="2F6B3D"/>
                </a:solidFill>
                <a:latin typeface="Nunito"/>
              </a:rPr>
              <a:t>Built</a:t>
            </a:r>
          </a:p>
        </p:txBody>
      </p:sp>
      <p:sp>
        <p:nvSpPr>
          <p:cNvPr id="24" name="Text: Deliberately different: AURA describes c"/>
          <p:cNvSpPr txBox="1"/>
          <p:nvPr/>
        </p:nvSpPr>
        <p:spPr>
          <a:xfrm>
            <a:off x="609600" y="5071367"/>
            <a:ext cx="11437112" cy="248920"/>
          </a:xfrm>
          <a:prstGeom prst="rect">
            <a:avLst/>
          </a:prstGeom>
          <a:noFill/>
        </p:spPr>
        <p:txBody>
          <a:bodyPr wrap="square" anchor="t" lIns="0" rIns="0" tIns="0" bIns="0"/>
          <a:lstStyle/>
          <a:p>
            <a:pPr algn="l">
              <a:lnSpc>
                <a:spcPts val="1960"/>
              </a:lnSpc>
            </a:pPr>
            <a:r>
              <a:rPr sz="1400" b="1">
                <a:solidFill>
                  <a:srgbClr val="2A2320"/>
                </a:solidFill>
                <a:latin typeface="Nunito"/>
              </a:rPr>
              <a:t>Deliberately different:</a:t>
            </a:r>
            <a:r>
              <a:rPr sz="1400" b="0">
                <a:solidFill>
                  <a:srgbClr val="4A413B"/>
                </a:solidFill>
                <a:latin typeface="Nunito"/>
              </a:rPr>
              <a:t> AURA describes changes; it does not predict relapse or give medication advice.</a:t>
            </a:r>
          </a:p>
        </p:txBody>
      </p:sp>
      <p:sp>
        <p:nvSpPr>
          <p:cNvPr id="25" name="Text: Healthcare track · Challenge Statement 2"/>
          <p:cNvSpPr txBox="1"/>
          <p:nvPr/>
        </p:nvSpPr>
        <p:spPr>
          <a:xfrm>
            <a:off x="609600" y="6388100"/>
            <a:ext cx="3591560" cy="190500"/>
          </a:xfrm>
          <a:prstGeom prst="rect">
            <a:avLst/>
          </a:prstGeom>
          <a:noFill/>
        </p:spPr>
        <p:txBody>
          <a:bodyPr wrap="square" anchor="t" lIns="0" rIns="0" tIns="0" bIns="0"/>
          <a:lstStyle/>
          <a:p>
            <a:pPr algn="l">
              <a:lnSpc>
                <a:spcPts val="1320"/>
              </a:lnSpc>
            </a:pPr>
            <a:r>
              <a:rPr sz="1100" b="0">
                <a:solidFill>
                  <a:srgbClr val="7A7066"/>
                </a:solidFill>
                <a:latin typeface="Nunito"/>
              </a:rPr>
              <a:t>Healthcare track · Challenge Statement 2 · Scenario 1</a:t>
            </a:r>
          </a:p>
        </p:txBody>
      </p:sp>
      <p:sp>
        <p:nvSpPr>
          <p:cNvPr id="26" name="Text: Synthetic demo data · aura-health.makode"/>
          <p:cNvSpPr txBox="1"/>
          <p:nvPr/>
        </p:nvSpPr>
        <p:spPr>
          <a:xfrm>
            <a:off x="8350250" y="6388100"/>
            <a:ext cx="3386836" cy="190500"/>
          </a:xfrm>
          <a:prstGeom prst="rect">
            <a:avLst/>
          </a:prstGeom>
          <a:noFill/>
        </p:spPr>
        <p:txBody>
          <a:bodyPr wrap="square" anchor="t" lIns="0" rIns="0" tIns="0" bIns="0"/>
          <a:lstStyle/>
          <a:p>
            <a:pPr algn="l">
              <a:lnSpc>
                <a:spcPts val="1320"/>
              </a:lnSpc>
            </a:pPr>
            <a:r>
              <a:rPr sz="1100" b="0">
                <a:solidFill>
                  <a:srgbClr val="7A7066"/>
                </a:solidFill>
                <a:latin typeface="Nunito"/>
              </a:rPr>
              <a:t>Synthetic demo data · aura-health.makodev58.com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art, cards, screenshots)" descr="image.jpg"/>
          <p:cNvPicPr>
            <a:picLocks noChangeAspect="1"/>
          </p:cNvPicPr>
          <p:nvPr/>
        </p:nvPicPr>
        <p:blipFill>
          <a:blip r:embed="rId2"/>
          <a:stretch>
            <a:fillRect/>
          </a:stretch>
        </p:blipFill>
        <p:spPr>
          <a:xfrm>
            <a:off x="0" y="0"/>
            <a:ext cx="12192000" cy="6858000"/>
          </a:xfrm>
          <a:prstGeom prst="rect">
            <a:avLst/>
          </a:prstGeom>
        </p:spPr>
      </p:pic>
      <p:sp>
        <p:nvSpPr>
          <p:cNvPr id="3" name="Text: AURA HEALTH"/>
          <p:cNvSpPr txBox="1"/>
          <p:nvPr/>
        </p:nvSpPr>
        <p:spPr>
          <a:xfrm>
            <a:off x="977900" y="384175"/>
            <a:ext cx="1531421" cy="222250"/>
          </a:xfrm>
          <a:prstGeom prst="rect">
            <a:avLst/>
          </a:prstGeom>
          <a:noFill/>
        </p:spPr>
        <p:txBody>
          <a:bodyPr wrap="square" anchor="t" lIns="0" rIns="0" tIns="0" bIns="0"/>
          <a:lstStyle/>
          <a:p>
            <a:pPr algn="l">
              <a:lnSpc>
                <a:spcPts val="1560"/>
              </a:lnSpc>
            </a:pPr>
            <a:r>
              <a:rPr sz="1300" b="1" spc="182">
                <a:solidFill>
                  <a:srgbClr val="2A2320"/>
                </a:solidFill>
                <a:latin typeface="Nunito"/>
              </a:rPr>
              <a:t>AURA HEALTH</a:t>
            </a:r>
          </a:p>
        </p:txBody>
      </p:sp>
      <p:sp>
        <p:nvSpPr>
          <p:cNvPr id="4" name="Text: HOW WE BUILT IT"/>
          <p:cNvSpPr txBox="1"/>
          <p:nvPr/>
        </p:nvSpPr>
        <p:spPr>
          <a:xfrm>
            <a:off x="609600" y="952500"/>
            <a:ext cx="5969000" cy="203200"/>
          </a:xfrm>
          <a:prstGeom prst="rect">
            <a:avLst/>
          </a:prstGeom>
          <a:noFill/>
        </p:spPr>
        <p:txBody>
          <a:bodyPr wrap="square" anchor="t" lIns="0" rIns="0" tIns="0" bIns="0"/>
          <a:lstStyle/>
          <a:p>
            <a:pPr algn="l">
              <a:lnSpc>
                <a:spcPts val="1439"/>
              </a:lnSpc>
            </a:pPr>
            <a:r>
              <a:rPr sz="1200" b="1" spc="168">
                <a:solidFill>
                  <a:srgbClr val="9C5700"/>
                </a:solidFill>
                <a:latin typeface="Nunito"/>
              </a:rPr>
              <a:t>HOW WE BUILT IT</a:t>
            </a:r>
          </a:p>
        </p:txBody>
      </p:sp>
      <p:sp>
        <p:nvSpPr>
          <p:cNvPr id="5" name="Text: Core first, then the agent, then the exp"/>
          <p:cNvSpPr txBox="1"/>
          <p:nvPr/>
        </p:nvSpPr>
        <p:spPr>
          <a:xfrm>
            <a:off x="609600" y="1384300"/>
            <a:ext cx="5969000" cy="810220"/>
          </a:xfrm>
          <a:prstGeom prst="rect">
            <a:avLst/>
          </a:prstGeom>
          <a:noFill/>
        </p:spPr>
        <p:txBody>
          <a:bodyPr wrap="square" anchor="t" lIns="0" rIns="0" tIns="0" bIns="0"/>
          <a:lstStyle/>
          <a:p>
            <a:pPr algn="l">
              <a:lnSpc>
                <a:spcPts val="3190"/>
              </a:lnSpc>
            </a:pPr>
            <a:r>
              <a:rPr sz="2900" b="1" spc="-44">
                <a:solidFill>
                  <a:srgbClr val="2A2320"/>
                </a:solidFill>
                <a:latin typeface="Nunito"/>
              </a:rPr>
              <a:t>Core first, then the agent, then the experience</a:t>
            </a:r>
          </a:p>
        </p:txBody>
      </p:sp>
      <p:sp>
        <p:nvSpPr>
          <p:cNvPr id="6" name="Text: Safety and personal-baseline engines fir"/>
          <p:cNvSpPr txBox="1"/>
          <p:nvPr/>
        </p:nvSpPr>
        <p:spPr>
          <a:xfrm>
            <a:off x="876300" y="2512020"/>
            <a:ext cx="5691632" cy="568920"/>
          </a:xfrm>
          <a:prstGeom prst="rect">
            <a:avLst/>
          </a:prstGeom>
          <a:noFill/>
        </p:spPr>
        <p:txBody>
          <a:bodyPr wrap="square" anchor="t" lIns="0" rIns="0" tIns="0" bIns="0"/>
          <a:lstStyle/>
          <a:p>
            <a:pPr algn="l">
              <a:lnSpc>
                <a:spcPts val="2240"/>
              </a:lnSpc>
            </a:pPr>
            <a:r>
              <a:rPr sz="1600" b="0">
                <a:solidFill>
                  <a:srgbClr val="2A2320"/>
                </a:solidFill>
                <a:latin typeface="Nunito"/>
              </a:rPr>
              <a:t>Safety and personal-baseline engines first, then the read-only agent, then the patient experience</a:t>
            </a:r>
          </a:p>
        </p:txBody>
      </p:sp>
      <p:sp>
        <p:nvSpPr>
          <p:cNvPr id="7" name="Text: AI development tools, including Tencent "/>
          <p:cNvSpPr txBox="1"/>
          <p:nvPr/>
        </p:nvSpPr>
        <p:spPr>
          <a:xfrm>
            <a:off x="876300" y="3246040"/>
            <a:ext cx="5691632" cy="568920"/>
          </a:xfrm>
          <a:prstGeom prst="rect">
            <a:avLst/>
          </a:prstGeom>
          <a:noFill/>
        </p:spPr>
        <p:txBody>
          <a:bodyPr wrap="square" anchor="t" lIns="0" rIns="0" tIns="0" bIns="0"/>
          <a:lstStyle/>
          <a:p>
            <a:pPr algn="l">
              <a:lnSpc>
                <a:spcPts val="2240"/>
              </a:lnSpc>
            </a:pPr>
            <a:r>
              <a:rPr sz="1600" b="0">
                <a:solidFill>
                  <a:srgbClr val="2A2320"/>
                </a:solidFill>
                <a:latin typeface="Nunito"/>
              </a:rPr>
              <a:t>AI development tools, including Tencent CodeBuddy and Miora, working from written specs</a:t>
            </a:r>
          </a:p>
        </p:txBody>
      </p:sp>
      <p:sp>
        <p:nvSpPr>
          <p:cNvPr id="8" name="Text: Every change reviewed and tested before "/>
          <p:cNvSpPr txBox="1"/>
          <p:nvPr/>
        </p:nvSpPr>
        <p:spPr>
          <a:xfrm>
            <a:off x="876300" y="3980060"/>
            <a:ext cx="4668012" cy="284480"/>
          </a:xfrm>
          <a:prstGeom prst="rect">
            <a:avLst/>
          </a:prstGeom>
          <a:noFill/>
        </p:spPr>
        <p:txBody>
          <a:bodyPr wrap="square" anchor="t" lIns="0" rIns="0" tIns="0" bIns="0"/>
          <a:lstStyle/>
          <a:p>
            <a:pPr algn="l">
              <a:lnSpc>
                <a:spcPts val="2240"/>
              </a:lnSpc>
            </a:pPr>
            <a:r>
              <a:rPr sz="1600" b="0">
                <a:solidFill>
                  <a:srgbClr val="2A2320"/>
                </a:solidFill>
                <a:latin typeface="Nunito"/>
              </a:rPr>
              <a:t>Every change reviewed and tested before release</a:t>
            </a:r>
          </a:p>
        </p:txBody>
      </p:sp>
      <p:sp>
        <p:nvSpPr>
          <p:cNvPr id="9" name="Text: Our tip: write down what must never chan"/>
          <p:cNvSpPr txBox="1"/>
          <p:nvPr/>
        </p:nvSpPr>
        <p:spPr>
          <a:xfrm>
            <a:off x="609600" y="4531221"/>
            <a:ext cx="5969000" cy="497681"/>
          </a:xfrm>
          <a:prstGeom prst="rect">
            <a:avLst/>
          </a:prstGeom>
          <a:noFill/>
        </p:spPr>
        <p:txBody>
          <a:bodyPr wrap="square" anchor="t" lIns="0" rIns="0" tIns="0" bIns="0"/>
          <a:lstStyle/>
          <a:p>
            <a:pPr algn="l">
              <a:lnSpc>
                <a:spcPts val="1960"/>
              </a:lnSpc>
            </a:pPr>
            <a:r>
              <a:rPr sz="1400" b="1">
                <a:solidFill>
                  <a:srgbClr val="2A2320"/>
                </a:solidFill>
                <a:latin typeface="Nunito"/>
              </a:rPr>
              <a:t>Our tip:</a:t>
            </a:r>
            <a:r>
              <a:rPr sz="1400" b="0">
                <a:solidFill>
                  <a:srgbClr val="4A413B"/>
                </a:solidFill>
                <a:latin typeface="Nunito"/>
              </a:rPr>
              <a:t> write down what must never change before asking an AI to build anything.</a:t>
            </a:r>
          </a:p>
        </p:txBody>
      </p:sp>
      <p:sp>
        <p:nvSpPr>
          <p:cNvPr id="10" name="Text: Healthcare track · Challenge Statement 2"/>
          <p:cNvSpPr txBox="1"/>
          <p:nvPr/>
        </p:nvSpPr>
        <p:spPr>
          <a:xfrm>
            <a:off x="609600" y="6388100"/>
            <a:ext cx="3591560" cy="190500"/>
          </a:xfrm>
          <a:prstGeom prst="rect">
            <a:avLst/>
          </a:prstGeom>
          <a:noFill/>
        </p:spPr>
        <p:txBody>
          <a:bodyPr wrap="square" anchor="t" lIns="0" rIns="0" tIns="0" bIns="0"/>
          <a:lstStyle/>
          <a:p>
            <a:pPr algn="l">
              <a:lnSpc>
                <a:spcPts val="1320"/>
              </a:lnSpc>
            </a:pPr>
            <a:r>
              <a:rPr sz="1100" b="0">
                <a:solidFill>
                  <a:srgbClr val="7A7066"/>
                </a:solidFill>
                <a:latin typeface="Nunito"/>
              </a:rPr>
              <a:t>Healthcare track · Challenge Statement 2 · Scenario 1</a:t>
            </a:r>
          </a:p>
        </p:txBody>
      </p:sp>
      <p:sp>
        <p:nvSpPr>
          <p:cNvPr id="11" name="Text: Synthetic demo data · aura-health.makode"/>
          <p:cNvSpPr txBox="1"/>
          <p:nvPr/>
        </p:nvSpPr>
        <p:spPr>
          <a:xfrm>
            <a:off x="8350250" y="6388100"/>
            <a:ext cx="3386836" cy="190500"/>
          </a:xfrm>
          <a:prstGeom prst="rect">
            <a:avLst/>
          </a:prstGeom>
          <a:noFill/>
        </p:spPr>
        <p:txBody>
          <a:bodyPr wrap="square" anchor="t" lIns="0" rIns="0" tIns="0" bIns="0"/>
          <a:lstStyle/>
          <a:p>
            <a:pPr algn="l">
              <a:lnSpc>
                <a:spcPts val="1320"/>
              </a:lnSpc>
            </a:pPr>
            <a:r>
              <a:rPr sz="1100" b="0">
                <a:solidFill>
                  <a:srgbClr val="7A7066"/>
                </a:solidFill>
                <a:latin typeface="Nunito"/>
              </a:rPr>
              <a:t>Synthetic demo data · aura-health.makodev58.com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art, cards, screenshots)" descr="image.jpg"/>
          <p:cNvPicPr>
            <a:picLocks noChangeAspect="1"/>
          </p:cNvPicPr>
          <p:nvPr/>
        </p:nvPicPr>
        <p:blipFill>
          <a:blip r:embed="rId2"/>
          <a:stretch>
            <a:fillRect/>
          </a:stretch>
        </p:blipFill>
        <p:spPr>
          <a:xfrm>
            <a:off x="0" y="0"/>
            <a:ext cx="12192000" cy="6858000"/>
          </a:xfrm>
          <a:prstGeom prst="rect">
            <a:avLst/>
          </a:prstGeom>
        </p:spPr>
      </p:pic>
      <p:sp>
        <p:nvSpPr>
          <p:cNvPr id="3" name="Text: AURA HEALTH"/>
          <p:cNvSpPr txBox="1"/>
          <p:nvPr/>
        </p:nvSpPr>
        <p:spPr>
          <a:xfrm>
            <a:off x="977900" y="384175"/>
            <a:ext cx="1531421" cy="222250"/>
          </a:xfrm>
          <a:prstGeom prst="rect">
            <a:avLst/>
          </a:prstGeom>
          <a:noFill/>
        </p:spPr>
        <p:txBody>
          <a:bodyPr wrap="square" anchor="t" lIns="0" rIns="0" tIns="0" bIns="0"/>
          <a:lstStyle/>
          <a:p>
            <a:pPr algn="l">
              <a:lnSpc>
                <a:spcPts val="1560"/>
              </a:lnSpc>
            </a:pPr>
            <a:r>
              <a:rPr sz="1300" b="1" spc="182">
                <a:solidFill>
                  <a:srgbClr val="2A2320"/>
                </a:solidFill>
                <a:latin typeface="Nunito"/>
              </a:rPr>
              <a:t>AURA HEALTH</a:t>
            </a:r>
          </a:p>
        </p:txBody>
      </p:sp>
      <p:sp>
        <p:nvSpPr>
          <p:cNvPr id="4" name="Text: IMPACT WE WOULD MEASURE IN A PILOT"/>
          <p:cNvSpPr txBox="1"/>
          <p:nvPr/>
        </p:nvSpPr>
        <p:spPr>
          <a:xfrm>
            <a:off x="609600" y="952500"/>
            <a:ext cx="5506720" cy="203200"/>
          </a:xfrm>
          <a:prstGeom prst="rect">
            <a:avLst/>
          </a:prstGeom>
          <a:noFill/>
        </p:spPr>
        <p:txBody>
          <a:bodyPr wrap="square" anchor="t" lIns="0" rIns="0" tIns="0" bIns="0"/>
          <a:lstStyle/>
          <a:p>
            <a:pPr algn="l">
              <a:lnSpc>
                <a:spcPts val="1439"/>
              </a:lnSpc>
            </a:pPr>
            <a:r>
              <a:rPr sz="1200" b="1" spc="168">
                <a:solidFill>
                  <a:srgbClr val="9C5700"/>
                </a:solidFill>
                <a:latin typeface="Nunito"/>
              </a:rPr>
              <a:t>IMPACT WE WOULD MEASURE IN A PILOT</a:t>
            </a:r>
          </a:p>
        </p:txBody>
      </p:sp>
      <p:sp>
        <p:nvSpPr>
          <p:cNvPr id="5" name="Text: Targets to measure, not results"/>
          <p:cNvSpPr txBox="1"/>
          <p:nvPr/>
        </p:nvSpPr>
        <p:spPr>
          <a:xfrm>
            <a:off x="774700" y="1460500"/>
            <a:ext cx="2508504" cy="222250"/>
          </a:xfrm>
          <a:prstGeom prst="rect">
            <a:avLst/>
          </a:prstGeom>
          <a:noFill/>
        </p:spPr>
        <p:txBody>
          <a:bodyPr wrap="square" anchor="t" lIns="0" rIns="0" tIns="0" bIns="0"/>
          <a:lstStyle/>
          <a:p>
            <a:pPr algn="l">
              <a:lnSpc>
                <a:spcPts val="1560"/>
              </a:lnSpc>
            </a:pPr>
            <a:r>
              <a:rPr sz="1300" b="1">
                <a:solidFill>
                  <a:srgbClr val="8A5A00"/>
                </a:solidFill>
                <a:latin typeface="Nunito"/>
              </a:rPr>
              <a:t>Targets to measure, not results</a:t>
            </a:r>
          </a:p>
        </p:txBody>
      </p:sp>
      <p:sp>
        <p:nvSpPr>
          <p:cNvPr id="6" name="Text: Missed doses with a recorded reason"/>
          <p:cNvSpPr txBox="1"/>
          <p:nvPr/>
        </p:nvSpPr>
        <p:spPr>
          <a:xfrm>
            <a:off x="876300" y="1962150"/>
            <a:ext cx="3505708" cy="284480"/>
          </a:xfrm>
          <a:prstGeom prst="rect">
            <a:avLst/>
          </a:prstGeom>
          <a:noFill/>
        </p:spPr>
        <p:txBody>
          <a:bodyPr wrap="square" anchor="t" lIns="0" rIns="0" tIns="0" bIns="0"/>
          <a:lstStyle/>
          <a:p>
            <a:pPr algn="l">
              <a:lnSpc>
                <a:spcPts val="2240"/>
              </a:lnSpc>
            </a:pPr>
            <a:r>
              <a:rPr sz="1600" b="0">
                <a:solidFill>
                  <a:srgbClr val="2A2320"/>
                </a:solidFill>
                <a:latin typeface="Nunito"/>
              </a:rPr>
              <a:t>Missed doses with a recorded reason</a:t>
            </a:r>
          </a:p>
        </p:txBody>
      </p:sp>
      <p:sp>
        <p:nvSpPr>
          <p:cNvPr id="7" name="Text: Preparation time before visits"/>
          <p:cNvSpPr txBox="1"/>
          <p:nvPr/>
        </p:nvSpPr>
        <p:spPr>
          <a:xfrm>
            <a:off x="876300" y="2411710"/>
            <a:ext cx="2772664" cy="284480"/>
          </a:xfrm>
          <a:prstGeom prst="rect">
            <a:avLst/>
          </a:prstGeom>
          <a:noFill/>
        </p:spPr>
        <p:txBody>
          <a:bodyPr wrap="square" anchor="t" lIns="0" rIns="0" tIns="0" bIns="0"/>
          <a:lstStyle/>
          <a:p>
            <a:pPr algn="l">
              <a:lnSpc>
                <a:spcPts val="2240"/>
              </a:lnSpc>
            </a:pPr>
            <a:r>
              <a:rPr sz="1600" b="0">
                <a:solidFill>
                  <a:srgbClr val="2A2320"/>
                </a:solidFill>
                <a:latin typeface="Nunito"/>
              </a:rPr>
              <a:t>Preparation time before visits</a:t>
            </a:r>
          </a:p>
        </p:txBody>
      </p:sp>
      <p:sp>
        <p:nvSpPr>
          <p:cNvPr id="8" name="Text: How many appointments start with a prepa"/>
          <p:cNvSpPr txBox="1"/>
          <p:nvPr/>
        </p:nvSpPr>
        <p:spPr>
          <a:xfrm>
            <a:off x="876300" y="2861270"/>
            <a:ext cx="4912360" cy="284480"/>
          </a:xfrm>
          <a:prstGeom prst="rect">
            <a:avLst/>
          </a:prstGeom>
          <a:noFill/>
        </p:spPr>
        <p:txBody>
          <a:bodyPr wrap="square" anchor="t" lIns="0" rIns="0" tIns="0" bIns="0"/>
          <a:lstStyle/>
          <a:p>
            <a:pPr algn="l">
              <a:lnSpc>
                <a:spcPts val="2240"/>
              </a:lnSpc>
            </a:pPr>
            <a:r>
              <a:rPr sz="1600" b="0">
                <a:solidFill>
                  <a:srgbClr val="2A2320"/>
                </a:solidFill>
                <a:latin typeface="Nunito"/>
              </a:rPr>
              <a:t>How many appointments start with a prepared note</a:t>
            </a:r>
          </a:p>
        </p:txBody>
      </p:sp>
      <p:sp>
        <p:nvSpPr>
          <p:cNvPr id="9" name="Text: NEXT"/>
          <p:cNvSpPr txBox="1"/>
          <p:nvPr/>
        </p:nvSpPr>
        <p:spPr>
          <a:xfrm>
            <a:off x="6261100" y="952500"/>
            <a:ext cx="5176520" cy="203200"/>
          </a:xfrm>
          <a:prstGeom prst="rect">
            <a:avLst/>
          </a:prstGeom>
          <a:noFill/>
        </p:spPr>
        <p:txBody>
          <a:bodyPr wrap="square" anchor="t" lIns="0" rIns="0" tIns="0" bIns="0"/>
          <a:lstStyle/>
          <a:p>
            <a:pPr algn="l">
              <a:lnSpc>
                <a:spcPts val="1439"/>
              </a:lnSpc>
            </a:pPr>
            <a:r>
              <a:rPr sz="1200" b="1" spc="168">
                <a:solidFill>
                  <a:srgbClr val="9C5700"/>
                </a:solidFill>
                <a:latin typeface="Nunito"/>
              </a:rPr>
              <a:t>NEXT</a:t>
            </a:r>
          </a:p>
        </p:txBody>
      </p:sp>
      <p:sp>
        <p:nvSpPr>
          <p:cNvPr id="10" name="Text: Push reminders, screenings and pharmacis"/>
          <p:cNvSpPr txBox="1"/>
          <p:nvPr/>
        </p:nvSpPr>
        <p:spPr>
          <a:xfrm>
            <a:off x="6261100" y="1384300"/>
            <a:ext cx="5176520" cy="497681"/>
          </a:xfrm>
          <a:prstGeom prst="rect">
            <a:avLst/>
          </a:prstGeom>
          <a:noFill/>
        </p:spPr>
        <p:txBody>
          <a:bodyPr wrap="square" anchor="t" lIns="0" rIns="0" tIns="0" bIns="0"/>
          <a:lstStyle/>
          <a:p>
            <a:pPr algn="l">
              <a:lnSpc>
                <a:spcPts val="1960"/>
              </a:lnSpc>
            </a:pPr>
            <a:r>
              <a:rPr sz="1400" b="0">
                <a:solidFill>
                  <a:srgbClr val="4A413B"/>
                </a:solidFill>
                <a:latin typeface="Nunito"/>
              </a:rPr>
              <a:t>Push reminders, screenings and pharmacist-reviewed content; consented real wearables; private hosting.</a:t>
            </a:r>
          </a:p>
        </p:txBody>
      </p:sp>
      <p:sp>
        <p:nvSpPr>
          <p:cNvPr id="11" name="Text: LIMITS"/>
          <p:cNvSpPr txBox="1"/>
          <p:nvPr/>
        </p:nvSpPr>
        <p:spPr>
          <a:xfrm>
            <a:off x="6261100" y="2212181"/>
            <a:ext cx="5176520" cy="203200"/>
          </a:xfrm>
          <a:prstGeom prst="rect">
            <a:avLst/>
          </a:prstGeom>
          <a:noFill/>
        </p:spPr>
        <p:txBody>
          <a:bodyPr wrap="square" anchor="t" lIns="0" rIns="0" tIns="0" bIns="0"/>
          <a:lstStyle/>
          <a:p>
            <a:pPr algn="l">
              <a:lnSpc>
                <a:spcPts val="1439"/>
              </a:lnSpc>
            </a:pPr>
            <a:r>
              <a:rPr sz="1200" b="1" spc="168">
                <a:solidFill>
                  <a:srgbClr val="9C5700"/>
                </a:solidFill>
                <a:latin typeface="Nunito"/>
              </a:rPr>
              <a:t>LIMITS</a:t>
            </a:r>
          </a:p>
        </p:txBody>
      </p:sp>
      <p:sp>
        <p:nvSpPr>
          <p:cNvPr id="12" name="Text: No diagnosis, relapse prediction or medi"/>
          <p:cNvSpPr txBox="1"/>
          <p:nvPr/>
        </p:nvSpPr>
        <p:spPr>
          <a:xfrm>
            <a:off x="6261100" y="2643981"/>
            <a:ext cx="5176520" cy="497681"/>
          </a:xfrm>
          <a:prstGeom prst="rect">
            <a:avLst/>
          </a:prstGeom>
          <a:noFill/>
        </p:spPr>
        <p:txBody>
          <a:bodyPr wrap="square" anchor="t" lIns="0" rIns="0" tIns="0" bIns="0"/>
          <a:lstStyle/>
          <a:p>
            <a:pPr algn="l">
              <a:lnSpc>
                <a:spcPts val="1960"/>
              </a:lnSpc>
            </a:pPr>
            <a:r>
              <a:rPr sz="1400" b="0">
                <a:solidFill>
                  <a:srgbClr val="4A413B"/>
                </a:solidFill>
                <a:latin typeface="Nunito"/>
              </a:rPr>
              <a:t>No diagnosis, relapse prediction or medication advice. Synthetic data only. Not clinically validated.</a:t>
            </a:r>
          </a:p>
        </p:txBody>
      </p:sp>
      <p:sp>
        <p:nvSpPr>
          <p:cNvPr id="13" name="Text: Healthcare track · Challenge Statement 2"/>
          <p:cNvSpPr txBox="1"/>
          <p:nvPr/>
        </p:nvSpPr>
        <p:spPr>
          <a:xfrm>
            <a:off x="609600" y="6388100"/>
            <a:ext cx="3591560" cy="190500"/>
          </a:xfrm>
          <a:prstGeom prst="rect">
            <a:avLst/>
          </a:prstGeom>
          <a:noFill/>
        </p:spPr>
        <p:txBody>
          <a:bodyPr wrap="square" anchor="t" lIns="0" rIns="0" tIns="0" bIns="0"/>
          <a:lstStyle/>
          <a:p>
            <a:pPr algn="l">
              <a:lnSpc>
                <a:spcPts val="1320"/>
              </a:lnSpc>
            </a:pPr>
            <a:r>
              <a:rPr sz="1100" b="0">
                <a:solidFill>
                  <a:srgbClr val="7A7066"/>
                </a:solidFill>
                <a:latin typeface="Nunito"/>
              </a:rPr>
              <a:t>Healthcare track · Challenge Statement 2 · Scenario 1</a:t>
            </a:r>
          </a:p>
        </p:txBody>
      </p:sp>
      <p:sp>
        <p:nvSpPr>
          <p:cNvPr id="14" name="Text: Synthetic demo data · aura-health.makode"/>
          <p:cNvSpPr txBox="1"/>
          <p:nvPr/>
        </p:nvSpPr>
        <p:spPr>
          <a:xfrm>
            <a:off x="8350250" y="6388100"/>
            <a:ext cx="3386836" cy="190500"/>
          </a:xfrm>
          <a:prstGeom prst="rect">
            <a:avLst/>
          </a:prstGeom>
          <a:noFill/>
        </p:spPr>
        <p:txBody>
          <a:bodyPr wrap="square" anchor="t" lIns="0" rIns="0" tIns="0" bIns="0"/>
          <a:lstStyle/>
          <a:p>
            <a:pPr algn="l">
              <a:lnSpc>
                <a:spcPts val="1320"/>
              </a:lnSpc>
            </a:pPr>
            <a:r>
              <a:rPr sz="1100" b="0">
                <a:solidFill>
                  <a:srgbClr val="7A7066"/>
                </a:solidFill>
                <a:latin typeface="Nunito"/>
              </a:rPr>
              <a:t>Synthetic demo data · aura-health.makodev58.com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art, cards, screenshots)" descr="image.jpg"/>
          <p:cNvPicPr>
            <a:picLocks noChangeAspect="1"/>
          </p:cNvPicPr>
          <p:nvPr/>
        </p:nvPicPr>
        <p:blipFill>
          <a:blip r:embed="rId2"/>
          <a:stretch>
            <a:fillRect/>
          </a:stretch>
        </p:blipFill>
        <p:spPr>
          <a:xfrm>
            <a:off x="0" y="0"/>
            <a:ext cx="12192000" cy="6858000"/>
          </a:xfrm>
          <a:prstGeom prst="rect">
            <a:avLst/>
          </a:prstGeom>
        </p:spPr>
      </p:pic>
      <p:sp>
        <p:nvSpPr>
          <p:cNvPr id="3" name="Text: AURA Health"/>
          <p:cNvSpPr txBox="1"/>
          <p:nvPr/>
        </p:nvSpPr>
        <p:spPr>
          <a:xfrm>
            <a:off x="-256540" y="3810000"/>
            <a:ext cx="12705080" cy="658368"/>
          </a:xfrm>
          <a:prstGeom prst="rect">
            <a:avLst/>
          </a:prstGeom>
          <a:noFill/>
        </p:spPr>
        <p:txBody>
          <a:bodyPr wrap="square" anchor="t" lIns="0" rIns="0" tIns="0" bIns="0"/>
          <a:lstStyle/>
          <a:p>
            <a:pPr algn="ctr">
              <a:lnSpc>
                <a:spcPts val="5184"/>
              </a:lnSpc>
            </a:pPr>
            <a:r>
              <a:rPr sz="4800" b="1" spc="-96">
                <a:solidFill>
                  <a:srgbClr val="2A2320"/>
                </a:solidFill>
                <a:latin typeface="Nunito"/>
              </a:rPr>
              <a:t>AURA Health</a:t>
            </a:r>
          </a:p>
        </p:txBody>
      </p:sp>
      <p:sp>
        <p:nvSpPr>
          <p:cNvPr id="4" name="Text: A calm companion between doctor visits, "/>
          <p:cNvSpPr txBox="1"/>
          <p:nvPr/>
        </p:nvSpPr>
        <p:spPr>
          <a:xfrm>
            <a:off x="1790700" y="4608016"/>
            <a:ext cx="8610600" cy="736600"/>
          </a:xfrm>
          <a:prstGeom prst="rect">
            <a:avLst/>
          </a:prstGeom>
          <a:noFill/>
        </p:spPr>
        <p:txBody>
          <a:bodyPr wrap="square" anchor="t" lIns="0" rIns="0" tIns="0" bIns="0"/>
          <a:lstStyle/>
          <a:p>
            <a:pPr algn="ctr">
              <a:lnSpc>
                <a:spcPts val="2900"/>
              </a:lnSpc>
            </a:pPr>
            <a:r>
              <a:rPr sz="2000" b="0">
                <a:solidFill>
                  <a:srgbClr val="2A2320"/>
                </a:solidFill>
                <a:latin typeface="Nunito"/>
              </a:rPr>
              <a:t>A calm companion between doctor visits, so both sides start the conversation on the same page.</a:t>
            </a:r>
          </a:p>
        </p:txBody>
      </p:sp>
      <p:sp>
        <p:nvSpPr>
          <p:cNvPr id="5" name="Text: aura-health.makodev58.com · github.com/e"/>
          <p:cNvSpPr txBox="1"/>
          <p:nvPr/>
        </p:nvSpPr>
        <p:spPr>
          <a:xfrm>
            <a:off x="-256540" y="5535116"/>
            <a:ext cx="12705080" cy="248920"/>
          </a:xfrm>
          <a:prstGeom prst="rect">
            <a:avLst/>
          </a:prstGeom>
          <a:noFill/>
        </p:spPr>
        <p:txBody>
          <a:bodyPr wrap="square" anchor="t" lIns="0" rIns="0" tIns="0" bIns="0"/>
          <a:lstStyle/>
          <a:p>
            <a:pPr algn="ctr">
              <a:lnSpc>
                <a:spcPts val="1960"/>
              </a:lnSpc>
            </a:pPr>
            <a:r>
              <a:rPr sz="1400" b="0">
                <a:solidFill>
                  <a:srgbClr val="4A413B"/>
                </a:solidFill>
                <a:latin typeface="Nunito"/>
              </a:rPr>
              <a:t>aura-health.makodev58.com · github.com/e8aura-makodev58/aura-health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